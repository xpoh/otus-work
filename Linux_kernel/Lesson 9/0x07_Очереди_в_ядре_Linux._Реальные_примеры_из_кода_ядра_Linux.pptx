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y="5143500" cx="9144000"/>
  <p:notesSz cx="6858000" cy="9144000"/>
  <p:embeddedFontLst>
    <p:embeddedFont>
      <p:font typeface="Roboto"/>
      <p:regular r:id="rId58"/>
      <p:bold r:id="rId59"/>
      <p:italic r:id="rId60"/>
      <p:boldItalic r:id="rId61"/>
    </p:embeddedFont>
    <p:embeddedFont>
      <p:font typeface="Roboto Medium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0">
          <p15:clr>
            <a:srgbClr val="747775"/>
          </p15:clr>
        </p15:guide>
        <p15:guide id="2" pos="5526">
          <p15:clr>
            <a:srgbClr val="747775"/>
          </p15:clr>
        </p15:guide>
        <p15:guide id="3" pos="4622">
          <p15:clr>
            <a:srgbClr val="747775"/>
          </p15:clr>
        </p15:guide>
        <p15:guide id="4" orient="horz" pos="3025">
          <p15:clr>
            <a:srgbClr val="747775"/>
          </p15:clr>
        </p15:guide>
        <p15:guide id="5" orient="horz" pos="1963">
          <p15:clr>
            <a:srgbClr val="747775"/>
          </p15:clr>
        </p15:guide>
        <p15:guide id="6" orient="horz" pos="3240">
          <p15:clr>
            <a:srgbClr val="747775"/>
          </p15:clr>
        </p15:guide>
        <p15:guide id="7" orient="horz" pos="2494">
          <p15:clr>
            <a:srgbClr val="747775"/>
          </p15:clr>
        </p15:guide>
        <p15:guide id="8" orient="horz" pos="773">
          <p15:clr>
            <a:srgbClr val="747775"/>
          </p15:clr>
        </p15:guide>
        <p15:guide id="9" orient="horz" pos="1382">
          <p15:clr>
            <a:srgbClr val="747775"/>
          </p15:clr>
        </p15:guide>
        <p15:guide id="10" pos="429">
          <p15:clr>
            <a:srgbClr val="747775"/>
          </p15:clr>
        </p15:guide>
      </p15:sldGuideLst>
    </p:ext>
    <p:ext uri="GoogleSlidesCustomDataVersion2">
      <go:slidesCustomData xmlns:go="http://customooxmlschemas.google.com/" r:id="rId66" roundtripDataSignature="AMtx7mgCxxwyB+MBgXRzfw/tYLTX9Nxy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2B22A8-2830-4212-B90E-E74F21163793}">
  <a:tblStyle styleId="{482B22A8-2830-4212-B90E-E74F2116379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/>
        <p:guide pos="5526"/>
        <p:guide pos="4622"/>
        <p:guide pos="3025" orient="horz"/>
        <p:guide pos="1963" orient="horz"/>
        <p:guide pos="3240" orient="horz"/>
        <p:guide pos="2494" orient="horz"/>
        <p:guide pos="773" orient="horz"/>
        <p:guide pos="1382" orient="horz"/>
        <p:guide pos="42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RobotoMedium-regular.fntdata"/><Relationship Id="rId61" Type="http://schemas.openxmlformats.org/officeDocument/2006/relationships/font" Target="fonts/Roboto-boldItalic.fntdata"/><Relationship Id="rId20" Type="http://schemas.openxmlformats.org/officeDocument/2006/relationships/slide" Target="slides/slide13.xml"/><Relationship Id="rId64" Type="http://schemas.openxmlformats.org/officeDocument/2006/relationships/font" Target="fonts/RobotoMedium-italic.fntdata"/><Relationship Id="rId63" Type="http://schemas.openxmlformats.org/officeDocument/2006/relationships/font" Target="fonts/RobotoMedium-bold.fntdata"/><Relationship Id="rId22" Type="http://schemas.openxmlformats.org/officeDocument/2006/relationships/slide" Target="slides/slide15.xml"/><Relationship Id="rId66" Type="http://customschemas.google.com/relationships/presentationmetadata" Target="metadata"/><Relationship Id="rId21" Type="http://schemas.openxmlformats.org/officeDocument/2006/relationships/slide" Target="slides/slide14.xml"/><Relationship Id="rId65" Type="http://schemas.openxmlformats.org/officeDocument/2006/relationships/font" Target="fonts/RobotoMedium-bold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Roboto-italic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font" Target="fonts/Roboto-bold.fntdata"/><Relationship Id="rId14" Type="http://schemas.openxmlformats.org/officeDocument/2006/relationships/slide" Target="slides/slide7.xml"/><Relationship Id="rId58" Type="http://schemas.openxmlformats.org/officeDocument/2006/relationships/font" Target="fonts/Roboto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eea780204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5eea7802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eea780204_0_1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5eea78020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eea780204_0_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eea78020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eea780204_0_14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5eea78020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4a7420fadb_0_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4a7420fad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2d929fe7e_0_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52d929fe7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2d929fe7e_0_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52d929fe7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2d929fe7e_0_1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52d929fe7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2d929fe7e_0_2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52d929fe7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2d929fe7e_0_2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52d929fe7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2d929fe7e_0_3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52d929fe7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52d929fe7e_0_4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52d929fe7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52d929fe7e_0_5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52d929fe7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2d929fe7e_0_5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52d929fe7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2d929fe7e_0_7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52d929fe7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52d929fe7e_0_7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52d929fe7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52d929fe7e_0_8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52d929fe7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52d929fe7e_0_9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52d929fe7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52d929fe7e_0_10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52d929fe7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4b67fcee58_0_1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4b67fcee5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52d929fe7e_0_1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52d929fe7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52d929fe7e_0_1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52d929fe7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52d929fe7e_0_13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52d929fe7e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52d929fe7e_0_13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52d929fe7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52d929fe7e_0_15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52d929fe7e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52d929fe7e_0_15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52d929fe7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52d929fe7e_0_16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52d929fe7e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2d929fe7e_0_17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52d929fe7e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52d929fe7e_0_18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352d929fe7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52d929fe7e_0_18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52d929fe7e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52d929fe7e_0_19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g352d929fe7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52d929fe7e_0_20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52d929fe7e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2d929fe7e_0_20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52d929fe7e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52d929fe7e_0_2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52d929fe7e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52d929fe7e_0_23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52d929fe7e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52d929fe7e_0_24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52d929fe7e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52d929fe7e_0_24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52d929fe7e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52d929fe7e_0_25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52d929fe7e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52d929fe7e_0_26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352d929fe7e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52d929fe7e_0_27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52d929fe7e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52d929fe7e_0_27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352d929fe7e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52d929fe7e_0_28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g352d929fe7e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52d929fe7e_0_29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352d929fe7e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5eea780204_0_3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5eea780204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9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5eea780204_0_27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5eea780204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Показать таблицу из лекции.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, важный тезис ">
  <p:cSld name="CUSTOM_16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7"/>
          <p:cNvSpPr/>
          <p:nvPr/>
        </p:nvSpPr>
        <p:spPr>
          <a:xfrm>
            <a:off x="1135550" y="1470863"/>
            <a:ext cx="6711600" cy="14274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17"/>
          <p:cNvSpPr txBox="1"/>
          <p:nvPr>
            <p:ph type="title"/>
          </p:nvPr>
        </p:nvSpPr>
        <p:spPr>
          <a:xfrm>
            <a:off x="1472550" y="1705988"/>
            <a:ext cx="58242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" name="Google Shape;14;p117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2725" y="2084337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на градиенте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8"/>
          <p:cNvSpPr txBox="1"/>
          <p:nvPr>
            <p:ph type="title"/>
          </p:nvPr>
        </p:nvSpPr>
        <p:spPr>
          <a:xfrm>
            <a:off x="718575" y="14902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этапа процесса">
  <p:cSld name="CUSTOM_15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9"/>
          <p:cNvSpPr txBox="1"/>
          <p:nvPr>
            <p:ph type="title"/>
          </p:nvPr>
        </p:nvSpPr>
        <p:spPr>
          <a:xfrm>
            <a:off x="1012663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" name="Google Shape;19;p1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2613" y="10780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pic>
        <p:nvPicPr>
          <p:cNvPr id="20" name="Google Shape;20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8051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pic>
        <p:nvPicPr>
          <p:cNvPr id="21" name="Google Shape;21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378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pic>
        <p:nvPicPr>
          <p:cNvPr id="22" name="Google Shape;22;p1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6764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sp>
        <p:nvSpPr>
          <p:cNvPr id="23" name="Google Shape;23;p119"/>
          <p:cNvSpPr txBox="1"/>
          <p:nvPr>
            <p:ph idx="2" type="title"/>
          </p:nvPr>
        </p:nvSpPr>
        <p:spPr>
          <a:xfrm>
            <a:off x="2821988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19"/>
          <p:cNvSpPr txBox="1"/>
          <p:nvPr>
            <p:ph idx="3" type="title"/>
          </p:nvPr>
        </p:nvSpPr>
        <p:spPr>
          <a:xfrm>
            <a:off x="4631313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119"/>
          <p:cNvSpPr txBox="1"/>
          <p:nvPr>
            <p:ph idx="4" type="title"/>
          </p:nvPr>
        </p:nvSpPr>
        <p:spPr>
          <a:xfrm>
            <a:off x="6488288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 колонки с плашками">
  <p:cSld name="CUSTOM_14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0"/>
          <p:cNvSpPr/>
          <p:nvPr/>
        </p:nvSpPr>
        <p:spPr>
          <a:xfrm>
            <a:off x="80247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Google Shape;28;p120"/>
          <p:cNvSpPr txBox="1"/>
          <p:nvPr>
            <p:ph type="title"/>
          </p:nvPr>
        </p:nvSpPr>
        <p:spPr>
          <a:xfrm>
            <a:off x="932675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20"/>
          <p:cNvSpPr/>
          <p:nvPr/>
        </p:nvSpPr>
        <p:spPr>
          <a:xfrm>
            <a:off x="3313550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120"/>
          <p:cNvSpPr txBox="1"/>
          <p:nvPr>
            <p:ph idx="2" type="title"/>
          </p:nvPr>
        </p:nvSpPr>
        <p:spPr>
          <a:xfrm>
            <a:off x="3443750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120"/>
          <p:cNvSpPr/>
          <p:nvPr/>
        </p:nvSpPr>
        <p:spPr>
          <a:xfrm>
            <a:off x="582462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120"/>
          <p:cNvSpPr txBox="1"/>
          <p:nvPr>
            <p:ph idx="3" type="title"/>
          </p:nvPr>
        </p:nvSpPr>
        <p:spPr>
          <a:xfrm>
            <a:off x="5954825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плашки с текстом">
  <p:cSld name="CUSTOM_13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1"/>
          <p:cNvSpPr/>
          <p:nvPr/>
        </p:nvSpPr>
        <p:spPr>
          <a:xfrm>
            <a:off x="1681650" y="87410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35;p121"/>
          <p:cNvSpPr/>
          <p:nvPr/>
        </p:nvSpPr>
        <p:spPr>
          <a:xfrm>
            <a:off x="1681650" y="2007625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121"/>
          <p:cNvSpPr/>
          <p:nvPr/>
        </p:nvSpPr>
        <p:spPr>
          <a:xfrm>
            <a:off x="1681650" y="314115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" name="Google Shape;37;p121"/>
          <p:cNvSpPr txBox="1"/>
          <p:nvPr>
            <p:ph type="title"/>
          </p:nvPr>
        </p:nvSpPr>
        <p:spPr>
          <a:xfrm>
            <a:off x="1952250" y="1024450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121"/>
          <p:cNvSpPr txBox="1"/>
          <p:nvPr>
            <p:ph idx="2" type="title"/>
          </p:nvPr>
        </p:nvSpPr>
        <p:spPr>
          <a:xfrm>
            <a:off x="1952250" y="3319300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121"/>
          <p:cNvSpPr txBox="1"/>
          <p:nvPr>
            <p:ph idx="3" type="title"/>
          </p:nvPr>
        </p:nvSpPr>
        <p:spPr>
          <a:xfrm>
            <a:off x="1952250" y="2171875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блок для доп. информации">
  <p:cSld name="CUSTOM_1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2"/>
          <p:cNvSpPr txBox="1"/>
          <p:nvPr>
            <p:ph type="title"/>
          </p:nvPr>
        </p:nvSpPr>
        <p:spPr>
          <a:xfrm>
            <a:off x="351925" y="1026725"/>
            <a:ext cx="5259300" cy="27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122"/>
          <p:cNvSpPr/>
          <p:nvPr/>
        </p:nvSpPr>
        <p:spPr>
          <a:xfrm>
            <a:off x="5885250" y="1078700"/>
            <a:ext cx="2623800" cy="3105900"/>
          </a:xfrm>
          <a:prstGeom prst="roundRect">
            <a:avLst>
              <a:gd fmla="val 9050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122"/>
          <p:cNvSpPr txBox="1"/>
          <p:nvPr>
            <p:ph idx="2" type="title"/>
          </p:nvPr>
        </p:nvSpPr>
        <p:spPr>
          <a:xfrm>
            <a:off x="6054125" y="1658700"/>
            <a:ext cx="23220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edium"/>
              <a:buNone/>
              <a:defRPr b="0" sz="1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" name="Google Shape;44;p122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23475" y="3387512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>
  <p:cSld name="CUSTOM_9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3"/>
          <p:cNvSpPr txBox="1"/>
          <p:nvPr>
            <p:ph type="title"/>
          </p:nvPr>
        </p:nvSpPr>
        <p:spPr>
          <a:xfrm>
            <a:off x="500000" y="4656875"/>
            <a:ext cx="6012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B7E4"/>
              </a:buClr>
              <a:buSzPts val="1200"/>
              <a:buNone/>
              <a:defRPr sz="1200">
                <a:solidFill>
                  <a:srgbClr val="2AB7E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" name="Google Shape;47;p1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0350" y="4702350"/>
            <a:ext cx="259650" cy="2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дтема">
  <p:cSld name="CUSTOM_3_5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4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0" name="Google Shape;50;p124"/>
          <p:cNvSpPr txBox="1"/>
          <p:nvPr>
            <p:ph type="title"/>
          </p:nvPr>
        </p:nvSpPr>
        <p:spPr>
          <a:xfrm>
            <a:off x="689250" y="670100"/>
            <a:ext cx="5654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1" name="Google Shape;51;p124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9025" y="1050537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6">
  <p:cSld name="CUSTOM_3_3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5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" name="Google Shape;54;p1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25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25"/>
          <p:cNvSpPr/>
          <p:nvPr/>
        </p:nvSpPr>
        <p:spPr>
          <a:xfrm>
            <a:off x="2220875" y="17171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25"/>
          <p:cNvSpPr/>
          <p:nvPr/>
        </p:nvSpPr>
        <p:spPr>
          <a:xfrm>
            <a:off x="4699150" y="16486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25"/>
          <p:cNvSpPr/>
          <p:nvPr/>
        </p:nvSpPr>
        <p:spPr>
          <a:xfrm>
            <a:off x="5613250" y="2846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25"/>
          <p:cNvSpPr/>
          <p:nvPr/>
        </p:nvSpPr>
        <p:spPr>
          <a:xfrm>
            <a:off x="5200800" y="408757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25"/>
          <p:cNvSpPr/>
          <p:nvPr/>
        </p:nvSpPr>
        <p:spPr>
          <a:xfrm>
            <a:off x="2374950" y="41817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25"/>
          <p:cNvSpPr txBox="1"/>
          <p:nvPr>
            <p:ph idx="2" type="title"/>
          </p:nvPr>
        </p:nvSpPr>
        <p:spPr>
          <a:xfrm>
            <a:off x="2263475" y="16778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2" name="Google Shape;62;p125"/>
          <p:cNvSpPr txBox="1"/>
          <p:nvPr>
            <p:ph idx="3" type="title"/>
          </p:nvPr>
        </p:nvSpPr>
        <p:spPr>
          <a:xfrm>
            <a:off x="4741750" y="16093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3" name="Google Shape;63;p125"/>
          <p:cNvSpPr txBox="1"/>
          <p:nvPr>
            <p:ph idx="4" type="title"/>
          </p:nvPr>
        </p:nvSpPr>
        <p:spPr>
          <a:xfrm>
            <a:off x="5655850" y="280915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4" name="Google Shape;64;p125"/>
          <p:cNvSpPr txBox="1"/>
          <p:nvPr>
            <p:ph idx="5" type="title"/>
          </p:nvPr>
        </p:nvSpPr>
        <p:spPr>
          <a:xfrm>
            <a:off x="5243400" y="40482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5" name="Google Shape;65;p125"/>
          <p:cNvSpPr txBox="1"/>
          <p:nvPr>
            <p:ph idx="6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6" name="Google Shape;66;p125"/>
          <p:cNvSpPr txBox="1"/>
          <p:nvPr>
            <p:ph idx="7" type="title"/>
          </p:nvPr>
        </p:nvSpPr>
        <p:spPr>
          <a:xfrm>
            <a:off x="2417550" y="41424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5">
  <p:cSld name="CUSTOM_3_3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6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" name="Google Shape;69;p1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26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26"/>
          <p:cNvSpPr/>
          <p:nvPr/>
        </p:nvSpPr>
        <p:spPr>
          <a:xfrm>
            <a:off x="2511850" y="17873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26"/>
          <p:cNvSpPr/>
          <p:nvPr/>
        </p:nvSpPr>
        <p:spPr>
          <a:xfrm>
            <a:off x="5400925" y="18711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26"/>
          <p:cNvSpPr/>
          <p:nvPr/>
        </p:nvSpPr>
        <p:spPr>
          <a:xfrm>
            <a:off x="5868350" y="34959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26"/>
          <p:cNvSpPr/>
          <p:nvPr/>
        </p:nvSpPr>
        <p:spPr>
          <a:xfrm>
            <a:off x="3162300" y="42210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26"/>
          <p:cNvSpPr txBox="1"/>
          <p:nvPr>
            <p:ph idx="2" type="title"/>
          </p:nvPr>
        </p:nvSpPr>
        <p:spPr>
          <a:xfrm>
            <a:off x="2619150" y="1748013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6" name="Google Shape;76;p126"/>
          <p:cNvSpPr txBox="1"/>
          <p:nvPr>
            <p:ph idx="3" type="title"/>
          </p:nvPr>
        </p:nvSpPr>
        <p:spPr>
          <a:xfrm>
            <a:off x="5443525" y="18318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7" name="Google Shape;77;p126"/>
          <p:cNvSpPr txBox="1"/>
          <p:nvPr>
            <p:ph idx="4" type="title"/>
          </p:nvPr>
        </p:nvSpPr>
        <p:spPr>
          <a:xfrm>
            <a:off x="5910950" y="34566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8" name="Google Shape;78;p126"/>
          <p:cNvSpPr txBox="1"/>
          <p:nvPr>
            <p:ph idx="5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9" name="Google Shape;79;p126"/>
          <p:cNvSpPr txBox="1"/>
          <p:nvPr>
            <p:ph idx="6" type="title"/>
          </p:nvPr>
        </p:nvSpPr>
        <p:spPr>
          <a:xfrm>
            <a:off x="3247500" y="41817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4">
  <p:cSld name="CUSTOM_3_3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7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2" name="Google Shape;82;p1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7"/>
          <p:cNvSpPr/>
          <p:nvPr/>
        </p:nvSpPr>
        <p:spPr>
          <a:xfrm>
            <a:off x="996750" y="3010900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27"/>
          <p:cNvSpPr txBox="1"/>
          <p:nvPr>
            <p:ph idx="2" type="title"/>
          </p:nvPr>
        </p:nvSpPr>
        <p:spPr>
          <a:xfrm>
            <a:off x="1202250" y="303145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5" name="Google Shape;85;p127"/>
          <p:cNvSpPr/>
          <p:nvPr/>
        </p:nvSpPr>
        <p:spPr>
          <a:xfrm>
            <a:off x="3057625" y="17597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27"/>
          <p:cNvSpPr txBox="1"/>
          <p:nvPr>
            <p:ph idx="3" type="title"/>
          </p:nvPr>
        </p:nvSpPr>
        <p:spPr>
          <a:xfrm>
            <a:off x="3263125" y="17802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7" name="Google Shape;87;p127"/>
          <p:cNvSpPr/>
          <p:nvPr/>
        </p:nvSpPr>
        <p:spPr>
          <a:xfrm>
            <a:off x="3301475" y="409447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27"/>
          <p:cNvSpPr txBox="1"/>
          <p:nvPr>
            <p:ph idx="4" type="title"/>
          </p:nvPr>
        </p:nvSpPr>
        <p:spPr>
          <a:xfrm>
            <a:off x="3506975" y="41150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9" name="Google Shape;89;p127"/>
          <p:cNvSpPr/>
          <p:nvPr/>
        </p:nvSpPr>
        <p:spPr>
          <a:xfrm>
            <a:off x="5044175" y="28433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27"/>
          <p:cNvSpPr txBox="1"/>
          <p:nvPr>
            <p:ph idx="5" type="title"/>
          </p:nvPr>
        </p:nvSpPr>
        <p:spPr>
          <a:xfrm>
            <a:off x="5249675" y="28638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3">
  <p:cSld name="CUSTOM_3_3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8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" name="Google Shape;93;p1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28"/>
          <p:cNvSpPr/>
          <p:nvPr/>
        </p:nvSpPr>
        <p:spPr>
          <a:xfrm>
            <a:off x="3673825" y="1785375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28"/>
          <p:cNvSpPr txBox="1"/>
          <p:nvPr>
            <p:ph idx="2" type="title"/>
          </p:nvPr>
        </p:nvSpPr>
        <p:spPr>
          <a:xfrm>
            <a:off x="3810875" y="1805925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6" name="Google Shape;96;p128"/>
          <p:cNvSpPr/>
          <p:nvPr/>
        </p:nvSpPr>
        <p:spPr>
          <a:xfrm>
            <a:off x="1219175" y="30134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28"/>
          <p:cNvSpPr txBox="1"/>
          <p:nvPr>
            <p:ph idx="3" type="title"/>
          </p:nvPr>
        </p:nvSpPr>
        <p:spPr>
          <a:xfrm>
            <a:off x="1356225" y="3033950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8" name="Google Shape;98;p128"/>
          <p:cNvSpPr/>
          <p:nvPr/>
        </p:nvSpPr>
        <p:spPr>
          <a:xfrm>
            <a:off x="4295300" y="38275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28"/>
          <p:cNvSpPr txBox="1"/>
          <p:nvPr>
            <p:ph idx="4" type="title"/>
          </p:nvPr>
        </p:nvSpPr>
        <p:spPr>
          <a:xfrm>
            <a:off x="4432350" y="3848050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1">
  <p:cSld name="CUSTOM_3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9"/>
          <p:cNvSpPr txBox="1"/>
          <p:nvPr>
            <p:ph type="title"/>
          </p:nvPr>
        </p:nvSpPr>
        <p:spPr>
          <a:xfrm>
            <a:off x="312300" y="1678050"/>
            <a:ext cx="3907800" cy="1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9"/>
          <p:cNvSpPr txBox="1"/>
          <p:nvPr>
            <p:ph idx="2" type="title"/>
          </p:nvPr>
        </p:nvSpPr>
        <p:spPr>
          <a:xfrm>
            <a:off x="5014425" y="448875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29"/>
          <p:cNvSpPr txBox="1"/>
          <p:nvPr>
            <p:ph idx="3" type="title"/>
          </p:nvPr>
        </p:nvSpPr>
        <p:spPr>
          <a:xfrm>
            <a:off x="5014425" y="2071800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29"/>
          <p:cNvSpPr txBox="1"/>
          <p:nvPr>
            <p:ph idx="4" type="title"/>
          </p:nvPr>
        </p:nvSpPr>
        <p:spPr>
          <a:xfrm>
            <a:off x="5014425" y="3583525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129"/>
          <p:cNvSpPr txBox="1"/>
          <p:nvPr/>
        </p:nvSpPr>
        <p:spPr>
          <a:xfrm>
            <a:off x="4341150" y="49817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29"/>
          <p:cNvSpPr txBox="1"/>
          <p:nvPr/>
        </p:nvSpPr>
        <p:spPr>
          <a:xfrm>
            <a:off x="4341150" y="20821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29"/>
          <p:cNvSpPr txBox="1"/>
          <p:nvPr/>
        </p:nvSpPr>
        <p:spPr>
          <a:xfrm>
            <a:off x="4341150" y="35407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1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место для иллюстрации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0"/>
          <p:cNvSpPr txBox="1"/>
          <p:nvPr>
            <p:ph type="title"/>
          </p:nvPr>
        </p:nvSpPr>
        <p:spPr>
          <a:xfrm>
            <a:off x="397825" y="1289250"/>
            <a:ext cx="45927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30"/>
          <p:cNvSpPr/>
          <p:nvPr/>
        </p:nvSpPr>
        <p:spPr>
          <a:xfrm>
            <a:off x="6180050" y="1284150"/>
            <a:ext cx="2259300" cy="2575200"/>
          </a:xfrm>
          <a:prstGeom prst="roundRect">
            <a:avLst>
              <a:gd fmla="val 7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7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блока ">
  <p:cSld name="CUSTOM_17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1"/>
          <p:cNvSpPr txBox="1"/>
          <p:nvPr>
            <p:ph type="title"/>
          </p:nvPr>
        </p:nvSpPr>
        <p:spPr>
          <a:xfrm>
            <a:off x="262213" y="1682949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" name="Google Shape;113;p131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eea780204_0_14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g35eea780204_0_140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23850" lvl="0" marL="4572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117" name="Google Shape;117;g35eea780204_0_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eea780204_0_2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9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6" name="Google Shape;126;p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_6"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3"/>
          <p:cNvSpPr txBox="1"/>
          <p:nvPr/>
        </p:nvSpPr>
        <p:spPr>
          <a:xfrm>
            <a:off x="556300" y="1539975"/>
            <a:ext cx="73797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блока 1</a:t>
            </a:r>
            <a:endParaRPr b="1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" name="Google Shape;131;p153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80">
          <p15:clr>
            <a:srgbClr val="E46962"/>
          </p15:clr>
        </p15:guide>
        <p15:guide id="4" pos="283">
          <p15:clr>
            <a:srgbClr val="E46962"/>
          </p15:clr>
        </p15:guide>
        <p15:guide id="5" orient="horz" pos="1191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4"/>
          <p:cNvSpPr txBox="1"/>
          <p:nvPr>
            <p:ph idx="1" type="subTitle"/>
          </p:nvPr>
        </p:nvSpPr>
        <p:spPr>
          <a:xfrm>
            <a:off x="2866800" y="4377125"/>
            <a:ext cx="60687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4" name="Google Shape;134;p154"/>
          <p:cNvSpPr txBox="1"/>
          <p:nvPr>
            <p:ph type="title"/>
          </p:nvPr>
        </p:nvSpPr>
        <p:spPr>
          <a:xfrm>
            <a:off x="882150" y="1110675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156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140" name="Google Shape;140;p1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7"/>
          <p:cNvSpPr txBox="1"/>
          <p:nvPr/>
        </p:nvSpPr>
        <p:spPr>
          <a:xfrm>
            <a:off x="556300" y="1539975"/>
            <a:ext cx="73797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блока 1</a:t>
            </a:r>
            <a:endParaRPr b="1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157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8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59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9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60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3" name="Google Shape;153;p160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54" name="Google Shape;154;p16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155" name="Google Shape;155;p1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16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61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" name="Google Shape;162;p16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езентация">
  <p:cSld name="CUSTOM_7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163"/>
          <p:cNvSpPr/>
          <p:nvPr/>
        </p:nvSpPr>
        <p:spPr>
          <a:xfrm>
            <a:off x="1122250" y="18628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163"/>
          <p:cNvSpPr/>
          <p:nvPr/>
        </p:nvSpPr>
        <p:spPr>
          <a:xfrm>
            <a:off x="3330250" y="18628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163"/>
          <p:cNvSpPr/>
          <p:nvPr/>
        </p:nvSpPr>
        <p:spPr>
          <a:xfrm>
            <a:off x="5538250" y="20152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16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6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6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-синий">
  <p:cSld name="MAIN_POINT_2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76" name="Google Shape;176;p1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5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98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i="0" sz="3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2" name="Google Shape;122;p108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3" name="Google Shape;123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1"/>
          <p:cNvSpPr txBox="1"/>
          <p:nvPr>
            <p:ph type="title"/>
          </p:nvPr>
        </p:nvSpPr>
        <p:spPr>
          <a:xfrm>
            <a:off x="500550" y="1419386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lt1"/>
                </a:solidFill>
              </a:rPr>
              <a:t>0x02 </a:t>
            </a:r>
            <a:r>
              <a:rPr lang="ru" sz="4000">
                <a:solidFill>
                  <a:schemeClr val="lt1"/>
                </a:solidFill>
              </a:rPr>
              <a:t>Очереди в ядре Linux.</a:t>
            </a:r>
            <a:endParaRPr sz="4000">
              <a:solidFill>
                <a:schemeClr val="lt1"/>
              </a:solidFill>
            </a:endParaRPr>
          </a:p>
        </p:txBody>
      </p:sp>
      <p:pic>
        <p:nvPicPr>
          <p:cNvPr id="184" name="Google Shape;1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8500" y="273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"/>
          <p:cNvSpPr txBox="1"/>
          <p:nvPr/>
        </p:nvSpPr>
        <p:spPr>
          <a:xfrm>
            <a:off x="886050" y="4127375"/>
            <a:ext cx="2407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6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Разработка ядра Linux</a:t>
            </a:r>
            <a:endParaRPr b="0" i="0" sz="1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86" name="Google Shape;186;p1"/>
          <p:cNvPicPr preferRelativeResize="0"/>
          <p:nvPr/>
        </p:nvPicPr>
        <p:blipFill rotWithShape="1">
          <a:blip r:embed="rId4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"/>
          <p:cNvSpPr txBox="1"/>
          <p:nvPr>
            <p:ph type="title"/>
          </p:nvPr>
        </p:nvSpPr>
        <p:spPr>
          <a:xfrm>
            <a:off x="1604550" y="953124"/>
            <a:ext cx="8520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ru" sz="2100"/>
              <a:t>И</a:t>
            </a:r>
            <a:r>
              <a:rPr lang="ru" sz="2100">
                <a:solidFill>
                  <a:schemeClr val="dk1"/>
                </a:solidFill>
              </a:rPr>
              <a:t>дет ли запись ?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92" name="Google Shape;192;p2"/>
          <p:cNvSpPr txBox="1"/>
          <p:nvPr>
            <p:ph type="title"/>
          </p:nvPr>
        </p:nvSpPr>
        <p:spPr>
          <a:xfrm>
            <a:off x="716325" y="1805199"/>
            <a:ext cx="7935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93" name="Google Shape;1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587" y="3915075"/>
            <a:ext cx="545712" cy="5457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"/>
          <p:cNvGrpSpPr/>
          <p:nvPr/>
        </p:nvGrpSpPr>
        <p:grpSpPr>
          <a:xfrm>
            <a:off x="825575" y="1022425"/>
            <a:ext cx="778985" cy="369300"/>
            <a:chOff x="825575" y="1022425"/>
            <a:chExt cx="778985" cy="369300"/>
          </a:xfrm>
        </p:grpSpPr>
        <p:sp>
          <p:nvSpPr>
            <p:cNvPr id="195" name="Google Shape;195;p2"/>
            <p:cNvSpPr/>
            <p:nvPr/>
          </p:nvSpPr>
          <p:spPr>
            <a:xfrm>
              <a:off x="825575" y="1037550"/>
              <a:ext cx="714900" cy="317700"/>
            </a:xfrm>
            <a:prstGeom prst="roundRect">
              <a:avLst>
                <a:gd fmla="val 16667" name="adj"/>
              </a:avLst>
            </a:prstGeom>
            <a:solidFill>
              <a:srgbClr val="3F29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" name="Google Shape;196;p2"/>
            <p:cNvSpPr txBox="1"/>
            <p:nvPr/>
          </p:nvSpPr>
          <p:spPr>
            <a:xfrm>
              <a:off x="987760" y="1022425"/>
              <a:ext cx="616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ru" sz="12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REC</a:t>
              </a:r>
              <a:endParaRPr b="0" i="0" sz="12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934700" y="1168375"/>
              <a:ext cx="85800" cy="77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eea780204_0_0"/>
          <p:cNvSpPr txBox="1"/>
          <p:nvPr>
            <p:ph type="title"/>
          </p:nvPr>
        </p:nvSpPr>
        <p:spPr>
          <a:xfrm>
            <a:off x="511400" y="429149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1" lang="ru" sz="3200"/>
              <a:t>Правила вебинара</a:t>
            </a:r>
            <a:endParaRPr b="1" sz="3200"/>
          </a:p>
        </p:txBody>
      </p:sp>
      <p:sp>
        <p:nvSpPr>
          <p:cNvPr id="203" name="Google Shape;203;g35eea780204_0_0"/>
          <p:cNvSpPr txBox="1"/>
          <p:nvPr/>
        </p:nvSpPr>
        <p:spPr>
          <a:xfrm>
            <a:off x="1654525" y="1758138"/>
            <a:ext cx="2475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g35eea780204_0_0"/>
          <p:cNvSpPr txBox="1"/>
          <p:nvPr/>
        </p:nvSpPr>
        <p:spPr>
          <a:xfrm>
            <a:off x="1654525" y="2488344"/>
            <a:ext cx="323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g35eea780204_0_0"/>
          <p:cNvSpPr txBox="1"/>
          <p:nvPr/>
        </p:nvSpPr>
        <p:spPr>
          <a:xfrm>
            <a:off x="1654525" y="3275209"/>
            <a:ext cx="323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6" name="Google Shape;206;g35eea78020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767" y="2639222"/>
            <a:ext cx="394992" cy="395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5eea78020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767" y="1884638"/>
            <a:ext cx="394992" cy="394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5eea780204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7650" y="3366390"/>
            <a:ext cx="433225" cy="43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eea780204_0_1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Правила вебинара</a:t>
            </a:r>
            <a:endParaRPr/>
          </a:p>
        </p:txBody>
      </p:sp>
      <p:sp>
        <p:nvSpPr>
          <p:cNvPr id="214" name="Google Shape;214;g35eea780204_0_10"/>
          <p:cNvSpPr txBox="1"/>
          <p:nvPr/>
        </p:nvSpPr>
        <p:spPr>
          <a:xfrm>
            <a:off x="1933863" y="827500"/>
            <a:ext cx="28953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23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b="1" i="0" sz="23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23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закрытом чате в Telegram !</a:t>
            </a:r>
            <a:endParaRPr b="1" i="0" sz="23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ru" u="sng"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b="1" i="0" lang="ru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b="1" lang="ru" u="sng">
                <a:latin typeface="Roboto"/>
                <a:ea typeface="Roboto"/>
                <a:cs typeface="Roboto"/>
                <a:sym typeface="Roboto"/>
              </a:rPr>
              <a:t>также обсудить </a:t>
            </a:r>
            <a:r>
              <a:rPr b="1" lang="ru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Off-topic будет возможность в конце занятия после отключения записи</a:t>
            </a:r>
            <a:r>
              <a:rPr b="1" i="0" lang="ru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b="1" i="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Кто еще не присоединился, сканируйте QR код :)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5" name="Google Shape;215;g35eea780204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700" y="2288375"/>
            <a:ext cx="1095900" cy="10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5eea780204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0425" y="1130286"/>
            <a:ext cx="3412077" cy="341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eea780204_0_17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Отзывы</a:t>
            </a:r>
            <a:endParaRPr/>
          </a:p>
        </p:txBody>
      </p:sp>
      <p:sp>
        <p:nvSpPr>
          <p:cNvPr id="222" name="Google Shape;222;g35eea780204_0_17"/>
          <p:cNvSpPr txBox="1"/>
          <p:nvPr/>
        </p:nvSpPr>
        <p:spPr>
          <a:xfrm>
            <a:off x="1463450" y="3308450"/>
            <a:ext cx="523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Пожалуйста, заполняйте опросы после занятий и ДЗ, мы читаем все ваши сообщения :)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g35eea780204_0_17"/>
          <p:cNvSpPr txBox="1"/>
          <p:nvPr>
            <p:ph idx="1" type="body"/>
          </p:nvPr>
        </p:nvSpPr>
        <p:spPr>
          <a:xfrm>
            <a:off x="500550" y="1305000"/>
            <a:ext cx="7568700" cy="15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/>
              <a:t>Вебинары во многом адаптивны.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/>
              <a:t>Мы наблюдаем за вашим обсуждением в Telegram,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/>
              <a:t>берем в работу идеи из ваших отзывов на занятия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/>
              <a:t>и домашние задания и становимся лучше!</a:t>
            </a:r>
            <a:endParaRPr sz="1700"/>
          </a:p>
        </p:txBody>
      </p:sp>
      <p:pic>
        <p:nvPicPr>
          <p:cNvPr id="224" name="Google Shape;224;g35eea780204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999" y="3470891"/>
            <a:ext cx="367830" cy="36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eea780204_0_144"/>
          <p:cNvSpPr txBox="1"/>
          <p:nvPr>
            <p:ph idx="4294967295" type="title"/>
          </p:nvPr>
        </p:nvSpPr>
        <p:spPr>
          <a:xfrm>
            <a:off x="900000" y="404574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30" name="Google Shape;230;g35eea780204_0_144"/>
          <p:cNvSpPr/>
          <p:nvPr/>
        </p:nvSpPr>
        <p:spPr>
          <a:xfrm>
            <a:off x="1138125" y="1271600"/>
            <a:ext cx="50295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такое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очередь ?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g35eea780204_0_144"/>
          <p:cNvSpPr/>
          <p:nvPr/>
        </p:nvSpPr>
        <p:spPr>
          <a:xfrm>
            <a:off x="1138125" y="1989199"/>
            <a:ext cx="50295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Примеры очередей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g35eea780204_0_144"/>
          <p:cNvSpPr/>
          <p:nvPr/>
        </p:nvSpPr>
        <p:spPr>
          <a:xfrm>
            <a:off x="1138125" y="2706790"/>
            <a:ext cx="50295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API для работы с kfifo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g35eea780204_0_144"/>
          <p:cNvSpPr/>
          <p:nvPr/>
        </p:nvSpPr>
        <p:spPr>
          <a:xfrm>
            <a:off x="1175125" y="3442148"/>
            <a:ext cx="50295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Ответы на вопросы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g35eea780204_0_144"/>
          <p:cNvSpPr/>
          <p:nvPr/>
        </p:nvSpPr>
        <p:spPr>
          <a:xfrm>
            <a:off x="1138125" y="4177500"/>
            <a:ext cx="50295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Off-topic *(После отключения записи)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5" name="Google Shape;235;g35eea780204_0_144"/>
          <p:cNvCxnSpPr>
            <a:stCxn id="230" idx="1"/>
            <a:endCxn id="231" idx="1"/>
          </p:cNvCxnSpPr>
          <p:nvPr/>
        </p:nvCxnSpPr>
        <p:spPr>
          <a:xfrm>
            <a:off x="1138125" y="1504250"/>
            <a:ext cx="600" cy="717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6" name="Google Shape;236;g35eea780204_0_144"/>
          <p:cNvCxnSpPr>
            <a:stCxn id="231" idx="1"/>
            <a:endCxn id="232" idx="1"/>
          </p:cNvCxnSpPr>
          <p:nvPr/>
        </p:nvCxnSpPr>
        <p:spPr>
          <a:xfrm>
            <a:off x="1138125" y="2221849"/>
            <a:ext cx="600" cy="717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7" name="Google Shape;237;g35eea780204_0_144"/>
          <p:cNvCxnSpPr>
            <a:stCxn id="232" idx="1"/>
            <a:endCxn id="233" idx="1"/>
          </p:cNvCxnSpPr>
          <p:nvPr/>
        </p:nvCxnSpPr>
        <p:spPr>
          <a:xfrm>
            <a:off x="1138125" y="2939440"/>
            <a:ext cx="36900" cy="735300"/>
          </a:xfrm>
          <a:prstGeom prst="bentConnector3">
            <a:avLst>
              <a:gd fmla="val -645325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8" name="Google Shape;238;g35eea780204_0_144"/>
          <p:cNvCxnSpPr>
            <a:stCxn id="233" idx="1"/>
            <a:endCxn id="234" idx="1"/>
          </p:cNvCxnSpPr>
          <p:nvPr/>
        </p:nvCxnSpPr>
        <p:spPr>
          <a:xfrm flipH="1">
            <a:off x="1138225" y="3674798"/>
            <a:ext cx="36900" cy="735300"/>
          </a:xfrm>
          <a:prstGeom prst="bentConnector3">
            <a:avLst>
              <a:gd fmla="val 745596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" name="Google Shape;243;p10"/>
          <p:cNvGraphicFramePr/>
          <p:nvPr/>
        </p:nvGraphicFramePr>
        <p:xfrm>
          <a:off x="620463" y="42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{482B22A8-2830-4212-B90E-E74F21163793}</a:tableStyleId>
              </a:tblPr>
              <a:tblGrid>
                <a:gridCol w="3828200"/>
                <a:gridCol w="4203125"/>
              </a:tblGrid>
              <a:tr h="106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b="1" lang="ru" sz="31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Цели вебинара</a:t>
                      </a:r>
                      <a:endParaRPr b="1" sz="3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6402B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t/>
                      </a:r>
                      <a:endParaRPr b="1" sz="3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6402B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4" name="Google Shape;244;p10"/>
          <p:cNvSpPr/>
          <p:nvPr/>
        </p:nvSpPr>
        <p:spPr>
          <a:xfrm>
            <a:off x="553325" y="2082575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Изучить что такое очереди</a:t>
            </a:r>
            <a:r>
              <a:rPr b="0" i="0" lang="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53300" y="2825888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Узнать API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создания собственных очередей</a:t>
            </a:r>
            <a:r>
              <a:rPr b="0" i="0" lang="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53300" y="3569225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Посмотреть примеры использования 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очередей</a:t>
            </a:r>
            <a:r>
              <a:rPr b="0" i="0" lang="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620475" y="912475"/>
            <a:ext cx="378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4448675" y="912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"/>
          <p:cNvSpPr txBox="1"/>
          <p:nvPr>
            <p:ph type="title"/>
          </p:nvPr>
        </p:nvSpPr>
        <p:spPr>
          <a:xfrm>
            <a:off x="521925" y="1710174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Что такое о</a:t>
            </a:r>
            <a:r>
              <a:rPr lang="ru" sz="4500">
                <a:solidFill>
                  <a:schemeClr val="lt1"/>
                </a:solidFill>
              </a:rPr>
              <a:t>чередь</a:t>
            </a:r>
            <a:r>
              <a:rPr lang="ru" sz="4500">
                <a:solidFill>
                  <a:schemeClr val="lt1"/>
                </a:solidFill>
              </a:rPr>
              <a:t>?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4" name="Google Shape;254;p14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4a7420fadb_0_47"/>
          <p:cNvSpPr txBox="1"/>
          <p:nvPr/>
        </p:nvSpPr>
        <p:spPr>
          <a:xfrm>
            <a:off x="721493" y="595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Введение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60" name="Google Shape;260;g34a7420fadb_0_47"/>
          <p:cNvSpPr txBox="1"/>
          <p:nvPr/>
        </p:nvSpPr>
        <p:spPr>
          <a:xfrm>
            <a:off x="721500" y="1437875"/>
            <a:ext cx="74034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Сегодня мы поговорим о чем-то, что окружает нас повсюду, но часто остается незамеченным — о 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очередях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Вы когда-нибудь задумывались, почему в магазине мы стоим в очереди, чтобы расплатиться? Или почему на автобусной остановке мы ждем своей очереди, чтобы сесть в автобус? Очереди — это не просто скучные моменты ожидания, это важная часть нашей жизни, которая помогает организовать процессы и сделать их более эффективными.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программировании очереди играют такую же важную роль. Они помогают управлять данными и задачами, обеспечивая порядок и последовательность. Например, когда мы отправляем сообщения между процессами или обрабатываем запросы на сервере, очереди позволяют нам делать это организованно и без путаницы.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52d929fe7e_0_3"/>
          <p:cNvSpPr txBox="1"/>
          <p:nvPr/>
        </p:nvSpPr>
        <p:spPr>
          <a:xfrm>
            <a:off x="721493" y="595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Введение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66" name="Google Shape;266;g352d929fe7e_0_3"/>
          <p:cNvSpPr txBox="1"/>
          <p:nvPr/>
        </p:nvSpPr>
        <p:spPr>
          <a:xfrm>
            <a:off x="721500" y="1433050"/>
            <a:ext cx="7403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Сегодня мы не только разберем, что такое очереди в программировании, но и посмотрим, как они реализованы в ядре Linux. Мы увидим, как очереди помогают операционной системе управлять задачами и ресурсами, и даже напишем небольшой код на C, чтобы лучше понять, как это работает.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Так что давайте погрузимся в мир очередей и узнаем, как они делают нашу жизнь и программирование более упорядоченными и эффективными!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2d929fe7e_0_9"/>
          <p:cNvSpPr txBox="1"/>
          <p:nvPr/>
        </p:nvSpPr>
        <p:spPr>
          <a:xfrm>
            <a:off x="721493" y="595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Что такое очередь?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72" name="Google Shape;272;g352d929fe7e_0_9"/>
          <p:cNvSpPr txBox="1"/>
          <p:nvPr/>
        </p:nvSpPr>
        <p:spPr>
          <a:xfrm>
            <a:off x="721500" y="1433050"/>
            <a:ext cx="74034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О́чередь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абстрактный тип данных с дисциплиной доступа к элементам «первый пришёл — первый вышел» (FIFO, англ. first in, first out). Добавление элемента (принято обозначать словом enqueue — поставить в очередь) возможно лишь в конец очереди, выборка — только из начала очереди (что принято называть словом dequeue — убрать из очереди), при этом выбранный элемент из очереди удаляется.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2d929fe7e_0_15"/>
          <p:cNvSpPr txBox="1"/>
          <p:nvPr/>
        </p:nvSpPr>
        <p:spPr>
          <a:xfrm>
            <a:off x="721493" y="595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Что такое очередь?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78" name="Google Shape;278;g352d929fe7e_0_15" title="kfifo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73221"/>
            <a:ext cx="8839197" cy="1373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2d929fe7e_0_27"/>
          <p:cNvSpPr txBox="1"/>
          <p:nvPr/>
        </p:nvSpPr>
        <p:spPr>
          <a:xfrm>
            <a:off x="823806" y="1676800"/>
            <a:ext cx="6164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Чем очередь отличается от массива ?</a:t>
            </a:r>
            <a:endParaRPr b="1" i="0" sz="35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4" name="Google Shape;284;g352d929fe7e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9225" y="2980325"/>
            <a:ext cx="1226876" cy="187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52d929fe7e_0_21"/>
          <p:cNvSpPr txBox="1"/>
          <p:nvPr/>
        </p:nvSpPr>
        <p:spPr>
          <a:xfrm>
            <a:off x="721493" y="595946"/>
            <a:ext cx="7701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8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Сравнение очередей и массивов.</a:t>
            </a:r>
            <a:endParaRPr b="0" i="0" sz="38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90" name="Google Shape;290;g352d929fe7e_0_21"/>
          <p:cNvSpPr txBox="1"/>
          <p:nvPr/>
        </p:nvSpPr>
        <p:spPr>
          <a:xfrm>
            <a:off x="721500" y="2247025"/>
            <a:ext cx="740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g352d929fe7e_0_21"/>
          <p:cNvSpPr txBox="1"/>
          <p:nvPr/>
        </p:nvSpPr>
        <p:spPr>
          <a:xfrm>
            <a:off x="721500" y="1616400"/>
            <a:ext cx="77010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FIFO: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Преимущества: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Поддерживает порядок обработки.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Удобна для управления потоками данных.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Недостатки: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Может требовать больше памяти для управления указателями (в случае связного списка).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Более сложная реализация по сравнению с массивом.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2d929fe7e_0_35"/>
          <p:cNvSpPr txBox="1"/>
          <p:nvPr/>
        </p:nvSpPr>
        <p:spPr>
          <a:xfrm>
            <a:off x="721493" y="595946"/>
            <a:ext cx="7701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38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Сравнение очередей и массивов.</a:t>
            </a:r>
            <a:endParaRPr b="0" i="0" sz="38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97" name="Google Shape;297;g352d929fe7e_0_35"/>
          <p:cNvSpPr txBox="1"/>
          <p:nvPr/>
        </p:nvSpPr>
        <p:spPr>
          <a:xfrm>
            <a:off x="721500" y="2247025"/>
            <a:ext cx="740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g352d929fe7e_0_35"/>
          <p:cNvSpPr txBox="1"/>
          <p:nvPr/>
        </p:nvSpPr>
        <p:spPr>
          <a:xfrm>
            <a:off x="721500" y="1621225"/>
            <a:ext cx="77010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Массив: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Преимущества: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Быстрый доступ к элементам по индексу.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Простота реализации.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Недостатки: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Фиксированный размер (если не использовать динамические массивы).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Сложность при добавлении и удалении элементов (требует сдвига).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52d929fe7e_0_42"/>
          <p:cNvSpPr txBox="1"/>
          <p:nvPr/>
        </p:nvSpPr>
        <p:spPr>
          <a:xfrm>
            <a:off x="721493" y="595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Заключение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04" name="Google Shape;304;g352d929fe7e_0_42"/>
          <p:cNvSpPr txBox="1"/>
          <p:nvPr/>
        </p:nvSpPr>
        <p:spPr>
          <a:xfrm>
            <a:off x="721500" y="2247025"/>
            <a:ext cx="740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g352d929fe7e_0_42"/>
          <p:cNvSpPr txBox="1"/>
          <p:nvPr/>
        </p:nvSpPr>
        <p:spPr>
          <a:xfrm>
            <a:off x="721500" y="1616400"/>
            <a:ext cx="7701000" cy="16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заключение, выбор между очередью FIFO и массивом зависит от конкретных требований задачи.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Если важен 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порядок обработки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элементов и требуется динамическое управление, то лучше использовать </a:t>
            </a:r>
            <a:r>
              <a:rPr i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очередь 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Если же необходим 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быстрый доступ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к элементам по индексу и фиксированный размер, то </a:t>
            </a:r>
            <a:r>
              <a:rPr i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массив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будет более подходящим выбором.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2d929fe7e_0_51"/>
          <p:cNvSpPr txBox="1"/>
          <p:nvPr>
            <p:ph type="title"/>
          </p:nvPr>
        </p:nvSpPr>
        <p:spPr>
          <a:xfrm>
            <a:off x="521925" y="1710174"/>
            <a:ext cx="85206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Реализация очереди на C в US.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g352d929fe7e_0_51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52d929fe7e_0_58"/>
          <p:cNvSpPr txBox="1"/>
          <p:nvPr/>
        </p:nvSpPr>
        <p:spPr>
          <a:xfrm>
            <a:off x="681043" y="167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Разберем как работает код 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17" name="Google Shape;317;g352d929fe7e_0_58"/>
          <p:cNvSpPr txBox="1"/>
          <p:nvPr/>
        </p:nvSpPr>
        <p:spPr>
          <a:xfrm>
            <a:off x="681050" y="922425"/>
            <a:ext cx="77010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Начальное состояние очереди</a:t>
            </a:r>
            <a:endParaRPr b="1" sz="15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После создания очереди с помощью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create_fifo()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FIFO Queue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-------+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-----&gt; NULL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-----&gt; NULL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-------+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Добавление первого элемента (10)</a:t>
            </a:r>
            <a:endParaRPr b="1" sz="15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После вызова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fifo_in(q, 10)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FIFO Queue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-------+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-----&gt; [10] -&gt; NULL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-----&gt; [10] -&gt; NULL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-------+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52d929fe7e_0_73"/>
          <p:cNvSpPr txBox="1"/>
          <p:nvPr/>
        </p:nvSpPr>
        <p:spPr>
          <a:xfrm>
            <a:off x="681043" y="167946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Разберем как работает код 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23" name="Google Shape;323;g352d929fe7e_0_73"/>
          <p:cNvSpPr txBox="1"/>
          <p:nvPr/>
        </p:nvSpPr>
        <p:spPr>
          <a:xfrm>
            <a:off x="681050" y="922425"/>
            <a:ext cx="7701000" cy="3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Добавление второго элемента (20)</a:t>
            </a:r>
            <a:endParaRPr b="1" sz="15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После вызова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fifo_in(q, 20)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FIFO Queue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-------+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-----&gt; [10] -&gt; [20] -&gt; NULL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-----&gt; [20] -&gt; NULL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-------+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Добавление третьего элемента (30)</a:t>
            </a:r>
            <a:endParaRPr b="1" sz="15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После вызова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fifo_in(q, 30)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FIFO Queue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+-------+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 start |-----&gt; [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 -&gt; [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 -&gt; [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 -&gt; NULL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| end   |-----&gt; [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 -&gt; NULL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+-------+</a:t>
            </a:r>
            <a:endParaRPr b="1" sz="1500">
              <a:solidFill>
                <a:srgbClr val="404040"/>
              </a:solidFill>
              <a:highlight>
                <a:srgbClr val="FCFCFC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52d929fe7e_0_79"/>
          <p:cNvSpPr txBox="1"/>
          <p:nvPr/>
        </p:nvSpPr>
        <p:spPr>
          <a:xfrm>
            <a:off x="681050" y="540400"/>
            <a:ext cx="7701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7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Какой самый главный недостаток у такой реализации FIFO?</a:t>
            </a:r>
            <a:endParaRPr b="1" sz="37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g352d929fe7e_0_79"/>
          <p:cNvSpPr txBox="1"/>
          <p:nvPr/>
        </p:nvSpPr>
        <p:spPr>
          <a:xfrm>
            <a:off x="681050" y="2349550"/>
            <a:ext cx="75168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текущей реализации очередь работает только с целыми числами. Если потребуется использовать другие типы данных, придется переписывать код. В ядре применяется магия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typeof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в макросах, которая позволяет использовать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для любых типов данных.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2d929fe7e_0_86"/>
          <p:cNvSpPr txBox="1"/>
          <p:nvPr>
            <p:ph type="title"/>
          </p:nvPr>
        </p:nvSpPr>
        <p:spPr>
          <a:xfrm>
            <a:off x="521925" y="1710174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Очереди в ядре Linux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5" name="Google Shape;335;g352d929fe7e_0_86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2d929fe7e_0_93"/>
          <p:cNvSpPr txBox="1"/>
          <p:nvPr/>
        </p:nvSpPr>
        <p:spPr>
          <a:xfrm>
            <a:off x="681050" y="535575"/>
            <a:ext cx="770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Объяснение, что такое kfifo и его назначение.</a:t>
            </a:r>
            <a:endParaRPr b="1" sz="41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g352d929fe7e_0_93"/>
          <p:cNvSpPr txBox="1"/>
          <p:nvPr/>
        </p:nvSpPr>
        <p:spPr>
          <a:xfrm>
            <a:off x="721500" y="2048100"/>
            <a:ext cx="7701000" cy="14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kfifo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(kernel FIFO) — это обобщенная реализация очереди с фиксированным размером в ядре Linux, предназначенная для эффективного обмена данными между компонентами системы. Она обеспечивает простую и высокопроизводительную реализацию FIFO (first-in, first-out) очереди, подходящую для многопоточных приложений.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Так как kfifo это обобщенная реализация FIFO, то используется очень много макросов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52d929fe7e_0_103"/>
          <p:cNvSpPr txBox="1"/>
          <p:nvPr>
            <p:ph type="title"/>
          </p:nvPr>
        </p:nvSpPr>
        <p:spPr>
          <a:xfrm>
            <a:off x="521925" y="1710174"/>
            <a:ext cx="85206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Основные API для работы с kfifo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7" name="Google Shape;347;g352d929fe7e_0_103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4b67fcee58_0_11"/>
          <p:cNvSpPr txBox="1"/>
          <p:nvPr/>
        </p:nvSpPr>
        <p:spPr>
          <a:xfrm>
            <a:off x="721493" y="219971"/>
            <a:ext cx="770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Инициализация с помощью DECLARE_KFIFO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53" name="Google Shape;353;g34b67fcee58_0_11"/>
          <p:cNvSpPr txBox="1"/>
          <p:nvPr/>
        </p:nvSpPr>
        <p:spPr>
          <a:xfrm>
            <a:off x="721500" y="1569325"/>
            <a:ext cx="77010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__STRUCT_KFIFO_COMMON(datatype, recsize, ptrtype)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union {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struct __kfifo  kfifo;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    datatype    *type;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const datatype  *const_type;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    char        (*rectype)[recsize];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    ptrtype     *ptr;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    ptrtype const   *ptr_const;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__STRUCT_KFIFO(type, size, recsize, ptrtype)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{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__STRUCT_KFIFO_COMMON(type, recsize, ptrtype);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type        buf[((size &lt; 2) || (size &amp; (size - 1))) ? -1 : size];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STRUCT_KFIFO(type, size)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struct __STRUCT_KFIFO(type, size, 0, type)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DECLARE_KFIFO(fifo, type, size) STRUCT_KFIFO(type, size) fifo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52d929fe7e_0_113"/>
          <p:cNvSpPr txBox="1"/>
          <p:nvPr/>
        </p:nvSpPr>
        <p:spPr>
          <a:xfrm>
            <a:off x="721493" y="219971"/>
            <a:ext cx="770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Инициализация с помощью DECLARE_KFIFO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59" name="Google Shape;359;g352d929fe7e_0_113"/>
          <p:cNvSpPr txBox="1"/>
          <p:nvPr/>
        </p:nvSpPr>
        <p:spPr>
          <a:xfrm>
            <a:off x="721500" y="1679125"/>
            <a:ext cx="7701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Чтобы развернуть макрос 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DECLARE_KFIFO(my_fifo, int, 16)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мы будем последовательно подставлять значения в макросы, начиная с самого внешнего.</a:t>
            </a:r>
            <a:endParaRPr sz="900">
              <a:solidFill>
                <a:srgbClr val="005CC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52d929fe7e_0_119"/>
          <p:cNvSpPr txBox="1"/>
          <p:nvPr/>
        </p:nvSpPr>
        <p:spPr>
          <a:xfrm>
            <a:off x="721493" y="219971"/>
            <a:ext cx="770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Инициализация с помощью DECLARE_KFIFO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5" name="Google Shape;365;g352d929fe7e_0_119"/>
          <p:cNvSpPr txBox="1"/>
          <p:nvPr/>
        </p:nvSpPr>
        <p:spPr>
          <a:xfrm>
            <a:off x="721500" y="1611575"/>
            <a:ext cx="77010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Подстановка в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`DECLARE_KFIFO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DECLARE_KFIFO(fifo, type, size) STRUCT_KFIFO(type, size) fifo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Подставляем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fifo = my_fifo, type = int, size = 16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STRUCT_KFIFO(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 my_fifo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Подстановка в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STRUCT_KFIFO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STRUCT_KFIFO(type, size) struct __STRUCT_KFIFO(type, size, 0, type)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Подставляем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 = int, size = 16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114300" marR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STRUCT_KFIFO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16, 0,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my_fifo</a:t>
            </a:r>
            <a:endParaRPr sz="900">
              <a:solidFill>
                <a:srgbClr val="6F42C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52d929fe7e_0_130"/>
          <p:cNvSpPr txBox="1"/>
          <p:nvPr/>
        </p:nvSpPr>
        <p:spPr>
          <a:xfrm>
            <a:off x="721500" y="1442700"/>
            <a:ext cx="77010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Подстановка в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__STRUCT_KFIFO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__STRUCT_KFIFO(type, size, recsize, ptrtype)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{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__STRUCT_KFIFO_COMMON(type, recsize, ptrtype);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type        buf[((size &lt; 2) || (size &amp; (size - 1))) ? -1 : size];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Подставляем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 = int, size = 16, recsize = 0, ptrtype = int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{ \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__STRUCT_KFIFO_COMMON(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 \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buf[((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 || (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&amp; (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))) ?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]; \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} my_fifo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52d929fe7e_0_136"/>
          <p:cNvSpPr txBox="1"/>
          <p:nvPr/>
        </p:nvSpPr>
        <p:spPr>
          <a:xfrm>
            <a:off x="721500" y="522900"/>
            <a:ext cx="7701000" cy="3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Подстановка в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__STRUCT_KFIFO_COMMON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__STRUCT_KFIFO_COMMON(datatype, recsize, ptrtype)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union {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struct __kfifo  kfifo;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datatype    *type;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const datatype  *const_type;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char        (*rectype)[recsize];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ptrtype     *ptr;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ptrtype const   *ptr_const;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Подставляем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datatype = int, recsize = 0, ptrtype = int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union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 \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kfifo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kfifo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\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*type; \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*const_type; \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(*rectype)[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]; \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*ptr; \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*ptr_const; \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52d929fe7e_0_151"/>
          <p:cNvSpPr txBox="1"/>
          <p:nvPr/>
        </p:nvSpPr>
        <p:spPr>
          <a:xfrm>
            <a:off x="721500" y="545223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Итог.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1" name="Google Shape;381;g352d929fe7e_0_151"/>
          <p:cNvSpPr txBox="1"/>
          <p:nvPr/>
        </p:nvSpPr>
        <p:spPr>
          <a:xfrm>
            <a:off x="721500" y="1433050"/>
            <a:ext cx="7701000" cy="29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Теперь мы можем собрать всё вместе. Полное развернутое выражение будет выглядеть так: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union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kfifo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kfifo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*type;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*const_type;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(*rectype)[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*ptr;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*ptr_const;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};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buf[((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 || (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&amp; (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))) ?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 my_fifo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Получили развернутое представление макроса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DECLARE_KFIFO(my_fifo, int, 16)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п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осле обработки препроцессором, это анонимная структура как мы видим.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52d929fe7e_0_157"/>
          <p:cNvSpPr txBox="1"/>
          <p:nvPr/>
        </p:nvSpPr>
        <p:spPr>
          <a:xfrm>
            <a:off x="721500" y="540398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используется?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7" name="Google Shape;387;g352d929fe7e_0_157"/>
          <p:cNvSpPr txBox="1"/>
          <p:nvPr/>
        </p:nvSpPr>
        <p:spPr>
          <a:xfrm>
            <a:off x="721500" y="1433050"/>
            <a:ext cx="7337400" cy="21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Используется при объявлении kfifo в структурах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примере ниже будет объевлена очередь kfifo, элементы которой будут struct ir_raw_event, размер очереди MAR_IR_EVENT_SIZE.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ir_raw_event_ctrl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     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/* to keep track of raw clients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task_struct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*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/* fifo for the pulse/space durations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DECLARE_KFIFO(kfifo,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ir_raw_event, MAX_IR_EVENT_SIZE);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52d929fe7e_0_166"/>
          <p:cNvSpPr txBox="1"/>
          <p:nvPr/>
        </p:nvSpPr>
        <p:spPr>
          <a:xfrm>
            <a:off x="721500" y="545224"/>
            <a:ext cx="770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Инициализация с помощью DEFINE_KFIFO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93" name="Google Shape;393;g352d929fe7e_0_166"/>
          <p:cNvSpPr txBox="1"/>
          <p:nvPr/>
        </p:nvSpPr>
        <p:spPr>
          <a:xfrm>
            <a:off x="721500" y="2069950"/>
            <a:ext cx="77010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#define DEFINE_KFIFO(fifo, type, size)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DECLARE_KFIFO(fifo, type, size) =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(typeof(fifo)) {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	{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		{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		.in	= 0,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		.out	= 0,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		.mask	= __is_kfifo_ptr(&amp;(fifo)) ?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			  0 :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			  ARRAY_SIZE((fifo).buf) - 1,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		.esize	= sizeof(*(fifo).buf),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		.data	= __is_kfifo_ptr(&amp;(fifo)) ?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			NULL :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			(fifo).buf,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		}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	}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52d929fe7e_0_174"/>
          <p:cNvSpPr txBox="1"/>
          <p:nvPr/>
        </p:nvSpPr>
        <p:spPr>
          <a:xfrm>
            <a:off x="721500" y="1846375"/>
            <a:ext cx="770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9" name="Google Shape;399;g352d929fe7e_0_174"/>
          <p:cNvSpPr txBox="1"/>
          <p:nvPr/>
        </p:nvSpPr>
        <p:spPr>
          <a:xfrm>
            <a:off x="721500" y="357050"/>
            <a:ext cx="7701000" cy="4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Подставим наш результат в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DEFINE_KFIFO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union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kfifo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kfifo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*type;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*const_type;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(*rectype)[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*ptr;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*ptr_const;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};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buf[((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 || (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&amp; (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))) ?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 my_fifo = 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(typeof(my_fifo)) { 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{ 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{ 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.in    =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.out   =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.mask  = __is_kfifo_ptr(&amp;(my_fifo)) ? 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ARRAY_SIZE((my_fifo).buf) -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.esize =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(*(my_fifo).buf), 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.data  = __is_kfifo_ptr(&amp;(my_fifo)) ? 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(my_fifo).buf, 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} 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} 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Таким образом мы получили определение анонимной структуру my_fifo.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52d929fe7e_0_182"/>
          <p:cNvSpPr txBox="1"/>
          <p:nvPr/>
        </p:nvSpPr>
        <p:spPr>
          <a:xfrm>
            <a:off x="721500" y="540398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используется?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5" name="Google Shape;405;g352d929fe7e_0_182"/>
          <p:cNvSpPr txBox="1"/>
          <p:nvPr/>
        </p:nvSpPr>
        <p:spPr>
          <a:xfrm>
            <a:off x="721500" y="1351025"/>
            <a:ext cx="7337400" cy="3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Используется для определения статической переменной kfifo.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Буфер для kfifo указывается в макросе, так же как и тип элементов.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SPDX-License-Identifier: GPL-2.0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/* Copyright (c) 2010, 2014, 2022 The Linux Foundation. All rights reserved. 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&lt;linux/console.h&gt;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&lt;linux/cpu.h&gt;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&lt;linux/cpumask.h&gt;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&lt;linux/init.h&gt;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&lt;linux/kfifo.h&gt;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&lt;linux/serial.h&gt;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DEFINE_KFIFO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(inbuf,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DCC_INBUF_SIZE);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DEFINE_KFIFO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(outbuf,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DCC_OUTBUF_SIZE);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52d929fe7e_0_188"/>
          <p:cNvSpPr txBox="1"/>
          <p:nvPr/>
        </p:nvSpPr>
        <p:spPr>
          <a:xfrm>
            <a:off x="721500" y="545224"/>
            <a:ext cx="770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Инициализация с помощью DECLARE_KFIFO_PTR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11" name="Google Shape;411;g352d929fe7e_0_188"/>
          <p:cNvSpPr txBox="1"/>
          <p:nvPr/>
        </p:nvSpPr>
        <p:spPr>
          <a:xfrm>
            <a:off x="721500" y="2065125"/>
            <a:ext cx="77010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 факту это тоже самое, что просто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DECLARE_KFIFO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только размер буфера под элементы в очереди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 0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полезно, когда вы хотите создать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динамической памяти или когда вы не можете инициализировать его сразу. Как правило используется в связке с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kfifo_alloc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900">
              <a:solidFill>
                <a:srgbClr val="005CC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52d929fe7e_0_195"/>
          <p:cNvSpPr txBox="1"/>
          <p:nvPr/>
        </p:nvSpPr>
        <p:spPr>
          <a:xfrm>
            <a:off x="721500" y="540398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используется?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17" name="Google Shape;417;g352d929fe7e_0_195"/>
          <p:cNvSpPr txBox="1"/>
          <p:nvPr/>
        </p:nvSpPr>
        <p:spPr>
          <a:xfrm>
            <a:off x="721500" y="1347800"/>
            <a:ext cx="7337400" cy="3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Используется для объявления в структурах.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counter_device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*name;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device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counter_ops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ops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DECLARE_KFIFO_PTR(events,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counter_event);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counter_chrdev_add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counter_device *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counter)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cdev_init(&amp;counter-&gt;chrdev, &amp;counter_fops);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/* Allocate Counter events queue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kfifo_alloc(&amp;counter-&gt;events,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64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 GFP_KERNEL);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52d929fe7e_0_201"/>
          <p:cNvSpPr txBox="1"/>
          <p:nvPr/>
        </p:nvSpPr>
        <p:spPr>
          <a:xfrm>
            <a:off x="721500" y="540398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Вставка в очередь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23" name="Google Shape;423;g352d929fe7e_0_201"/>
          <p:cNvSpPr txBox="1"/>
          <p:nvPr/>
        </p:nvSpPr>
        <p:spPr>
          <a:xfrm>
            <a:off x="721500" y="1433050"/>
            <a:ext cx="73374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Вставка в очередь.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Давайте разберем, как работает функция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kfifo_in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Функция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kfifo_in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добавляет данные в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Она принимает три параметра: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адрес очереди, в которую мы хотим добавить данные.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buf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данные, которые мы хотим добавить.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количество элементов, которые мы хотим добавить.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52d929fe7e_0_208"/>
          <p:cNvSpPr txBox="1"/>
          <p:nvPr/>
        </p:nvSpPr>
        <p:spPr>
          <a:xfrm>
            <a:off x="721500" y="540398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Вставка в очередь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29" name="Google Shape;429;g352d929fe7e_0_208"/>
          <p:cNvSpPr txBox="1"/>
          <p:nvPr/>
        </p:nvSpPr>
        <p:spPr>
          <a:xfrm>
            <a:off x="721500" y="1428225"/>
            <a:ext cx="6761400" cy="22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Теперь давайте разберем код функции: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kfifo_in(fifo, buf, n)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({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typeof((fifo) + 1) __tmp = (fifo);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typeof(__tmp-&gt;ptr_const) __buf = (buf);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unsigned long __n = (n);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const size_t __recsize = sizeof(*__tmp-&gt;rectype);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struct __kfifo *__kfifo = &amp;__tmp-&gt;kfifo;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(__recsize) ?\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__kfifo_in_r(__kfifo, __buf, __n, __recsize) :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__kfifo_in(__kfifo, __buf, __n);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52d929fe7e_0_224"/>
          <p:cNvSpPr txBox="1"/>
          <p:nvPr/>
        </p:nvSpPr>
        <p:spPr>
          <a:xfrm>
            <a:off x="721500" y="545223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Пошаговое объяснение.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35" name="Google Shape;435;g352d929fe7e_0_224"/>
          <p:cNvSpPr txBox="1"/>
          <p:nvPr/>
        </p:nvSpPr>
        <p:spPr>
          <a:xfrm>
            <a:off x="721500" y="1437875"/>
            <a:ext cx="77010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Объявление макроса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 kfifo_in(fifo, buf, n)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это определение макроса, который будет заменен на код, когда мы его используем.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Блок кода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({ ... })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это блок кода, который позволяет нам использовать несколько строк кода и возвращать значение.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52d929fe7e_0_236"/>
          <p:cNvSpPr txBox="1"/>
          <p:nvPr/>
        </p:nvSpPr>
        <p:spPr>
          <a:xfrm>
            <a:off x="721500" y="535573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Пошаговое объяснение.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41" name="Google Shape;441;g352d929fe7e_0_236"/>
          <p:cNvSpPr txBox="1"/>
          <p:nvPr/>
        </p:nvSpPr>
        <p:spPr>
          <a:xfrm>
            <a:off x="721500" y="1437875"/>
            <a:ext cx="77010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Типы данных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typeof((fifo) + 1) __tmp = (fifo);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здесь мы создаем временную переменную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__tmp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которая будет иметь тот же тип, что 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 Это нужно для того, чтобы работать с очередью.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typeof(__tmp-&gt;ptr_const) __buf = (buf);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создаем переменную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__buf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которая будет иметь тот же тип, что и данные, которые мы хотим добавить.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Количество элементов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unsigned long __n = (n);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сохраняем количество элементов, которые мы хотим добавить.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52d929fe7e_0_242"/>
          <p:cNvSpPr txBox="1"/>
          <p:nvPr/>
        </p:nvSpPr>
        <p:spPr>
          <a:xfrm>
            <a:off x="721500" y="540398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Пошаговое объяснение.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47" name="Google Shape;447;g352d929fe7e_0_242"/>
          <p:cNvSpPr txBox="1"/>
          <p:nvPr/>
        </p:nvSpPr>
        <p:spPr>
          <a:xfrm>
            <a:off x="721500" y="1437875"/>
            <a:ext cx="77010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Размер записи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 size_t __recsize = sizeof(*__tmp-&gt;rectype);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определяем размер одного элемента, который мы собираемся добавлять в очередь.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Указатель на структуру 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 __kfifo *__kfifo = &amp;__tmp-&gt;kfifo;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получаем указатель на структуру FIFO, чтобы работать с ней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52d929fe7e_0_248"/>
          <p:cNvSpPr txBox="1"/>
          <p:nvPr/>
        </p:nvSpPr>
        <p:spPr>
          <a:xfrm>
            <a:off x="721500" y="545223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Пошаговое объяснение.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53" name="Google Shape;453;g352d929fe7e_0_248"/>
          <p:cNvSpPr txBox="1"/>
          <p:nvPr/>
        </p:nvSpPr>
        <p:spPr>
          <a:xfrm>
            <a:off x="721500" y="1433050"/>
            <a:ext cx="7701000" cy="21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Добавление данных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(__recsize) ? ... : ...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это условный оператор (аналог "если"). Если размер записи больше нуля, мы вызываем функцию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__kfifo_in_r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которая добавляет данные с учетом размера записи. Если размер записи равен нулю, мы вызываем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__kfifo_in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которая добавляет данные без учета размера.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Функция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kfifo_in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позволяет добавлять данные в FIFO, используя различные подходы в зависимости от размера данных. Она делает это эффективно и безопасно, что особенно важно, когда несколько потоков могут одновременно добавлять и извлекать данные из очереди.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52d929fe7e_0_254"/>
          <p:cNvSpPr txBox="1"/>
          <p:nvPr/>
        </p:nvSpPr>
        <p:spPr>
          <a:xfrm>
            <a:off x="721500" y="540398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Извлечение из очереди</a:t>
            </a: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59" name="Google Shape;459;g352d929fe7e_0_254"/>
          <p:cNvSpPr txBox="1"/>
          <p:nvPr/>
        </p:nvSpPr>
        <p:spPr>
          <a:xfrm>
            <a:off x="721500" y="1437875"/>
            <a:ext cx="7701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Давайте разберем, как работает функция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kfifo_out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которая извлекает данные из KFIFO.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Функция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kfifo_out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извлекает данные из FIFO. Она принимает три параметра: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адрес очереди, из которой мы хотим извлечь данные.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buf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буфер, куда мы будем помещать извлеченные данные.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количество элементов, которые мы хотим извлечь.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52d929fe7e_0_263"/>
          <p:cNvSpPr txBox="1"/>
          <p:nvPr/>
        </p:nvSpPr>
        <p:spPr>
          <a:xfrm>
            <a:off x="721500" y="540398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Извлечение из очереди.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5" name="Google Shape;465;g352d929fe7e_0_263"/>
          <p:cNvSpPr txBox="1"/>
          <p:nvPr/>
        </p:nvSpPr>
        <p:spPr>
          <a:xfrm>
            <a:off x="721500" y="1433050"/>
            <a:ext cx="4156500" cy="25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Теперь давайте разберем код функции: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kfifo_out(fifo, buf, n)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__kfifo_uint_must_check_helper(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({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typeof((fifo) + 1) __tmp = (fifo);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typeof(__tmp-&gt;ptr) __buf = (buf);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unsigned long __n = (n);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const size_t __recsize = sizeof(*__tmp-&gt;rectype);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struct __kfifo *__kfifo = &amp;__tmp-&gt;kfifo;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(__recsize) ?\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__kfifo_out_r(__kfifo, __buf, __n, __recsize) :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__kfifo_out(__kfifo, __buf, __n);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})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52d929fe7e_0_272"/>
          <p:cNvSpPr txBox="1"/>
          <p:nvPr/>
        </p:nvSpPr>
        <p:spPr>
          <a:xfrm>
            <a:off x="721500" y="540398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Пошаговое объяснение.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71" name="Google Shape;471;g352d929fe7e_0_272"/>
          <p:cNvSpPr txBox="1"/>
          <p:nvPr/>
        </p:nvSpPr>
        <p:spPr>
          <a:xfrm>
            <a:off x="721500" y="1437875"/>
            <a:ext cx="77010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Объявление макроса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 kfifo_out(fifo, buf, n)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это определение макроса, который будет заменен на код, когда мы его используем.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Проверка результата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__kfifo_uint_must_check_helper(...)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это специальная функция или макрос, который проверяет, что результат операции корректен. Это может быть полезно для обработки ошибок.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52d929fe7e_0_279"/>
          <p:cNvSpPr txBox="1"/>
          <p:nvPr/>
        </p:nvSpPr>
        <p:spPr>
          <a:xfrm>
            <a:off x="721500" y="535573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Пошаговое объяснение.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77" name="Google Shape;477;g352d929fe7e_0_279"/>
          <p:cNvSpPr txBox="1"/>
          <p:nvPr/>
        </p:nvSpPr>
        <p:spPr>
          <a:xfrm>
            <a:off x="721500" y="1437875"/>
            <a:ext cx="7701000" cy="29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Блок кода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({ ... })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это блок кода, который позволяет нам использовать несколько строк кода и возвращать значение.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Типы данных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typeof((fifo) + 1) __tmp = (fifo);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здесь мы создаем временную переменную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__tmp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которая будет иметь тот же тип, что и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 Это нужно для того, чтобы работать с очередью.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typeof(__tmp-&gt;ptr) __buf = (buf);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создаем переменную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__buf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,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которая будет иметь тот же тип, что и буфер, куда мы будем помещать извлеченные данные.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52d929fe7e_0_285"/>
          <p:cNvSpPr txBox="1"/>
          <p:nvPr/>
        </p:nvSpPr>
        <p:spPr>
          <a:xfrm>
            <a:off x="721500" y="540398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Пошаговое объяснение.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83" name="Google Shape;483;g352d929fe7e_0_285"/>
          <p:cNvSpPr txBox="1"/>
          <p:nvPr/>
        </p:nvSpPr>
        <p:spPr>
          <a:xfrm>
            <a:off x="721500" y="1437875"/>
            <a:ext cx="7701000" cy="26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Количество элементов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unsigned long __n = (n);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сохраняем количество элементов, которые мы хотим извлечь.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Размер записи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 size_t __recsize = sizeof(*__tmp-&gt;rectype);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определяем размер одного элемента, который мы собираемся извлекать из очереди.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Указатель на структуру FIFO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 __kfifo *__kfifo = &amp;__tmp-&gt;kfifo;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получаем указатель на структуру FIFO, чтобы работать с ней.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52d929fe7e_0_291"/>
          <p:cNvSpPr txBox="1"/>
          <p:nvPr/>
        </p:nvSpPr>
        <p:spPr>
          <a:xfrm>
            <a:off x="721500" y="535573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Пошаговое объяснение.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89" name="Google Shape;489;g352d929fe7e_0_291"/>
          <p:cNvSpPr txBox="1"/>
          <p:nvPr/>
        </p:nvSpPr>
        <p:spPr>
          <a:xfrm>
            <a:off x="721500" y="1442700"/>
            <a:ext cx="7701000" cy="21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Извлечение данных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(__recsize) ? ... : ...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это условный оператор (аналог "если"). Если размер записи больше нуля, мы вызываем функцию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__kfifo_out_r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которая извлекает данные с учетом размера записи. Если размер записи равен нулю, мы вызываем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__kfifo_out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которая извлекает данные без учета размера.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Функция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kfifo_out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позволяет извлекать данные из FIFO, используя различные подходы в зависимости от размера данных. Она делает это эффективно и безопасно, что особенно важно, когда несколько потоков могут одновременно добавлять и извлекать данные из очереди.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5eea780204_0_338"/>
          <p:cNvSpPr txBox="1"/>
          <p:nvPr>
            <p:ph type="title"/>
          </p:nvPr>
        </p:nvSpPr>
        <p:spPr>
          <a:xfrm>
            <a:off x="421350" y="1753674"/>
            <a:ext cx="8520600" cy="13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Вопросы (по лекции)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95" name="Google Shape;495;g35eea780204_0_338"/>
          <p:cNvGrpSpPr/>
          <p:nvPr/>
        </p:nvGrpSpPr>
        <p:grpSpPr>
          <a:xfrm>
            <a:off x="710075" y="3061974"/>
            <a:ext cx="6370821" cy="415500"/>
            <a:chOff x="841300" y="3930749"/>
            <a:chExt cx="6370821" cy="415500"/>
          </a:xfrm>
        </p:grpSpPr>
        <p:sp>
          <p:nvSpPr>
            <p:cNvPr id="496" name="Google Shape;496;g35eea780204_0_338"/>
            <p:cNvSpPr txBox="1"/>
            <p:nvPr/>
          </p:nvSpPr>
          <p:spPr>
            <a:xfrm>
              <a:off x="1345921" y="3930749"/>
              <a:ext cx="19275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если есть вопросы</a:t>
              </a:r>
              <a:endPara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7" name="Google Shape;497;g35eea780204_0_338"/>
            <p:cNvSpPr txBox="1"/>
            <p:nvPr/>
          </p:nvSpPr>
          <p:spPr>
            <a:xfrm>
              <a:off x="5066221" y="3930749"/>
              <a:ext cx="21459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если вопросов нет</a:t>
              </a:r>
              <a:endPara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98" name="Google Shape;498;g35eea780204_0_338"/>
            <p:cNvPicPr preferRelativeResize="0"/>
            <p:nvPr/>
          </p:nvPicPr>
          <p:blipFill rotWithShape="1">
            <a:blip r:embed="rId3">
              <a:alphaModFix/>
            </a:blip>
            <a:srcRect b="33888" l="0" r="0" t="0"/>
            <a:stretch/>
          </p:blipFill>
          <p:spPr>
            <a:xfrm>
              <a:off x="841300" y="3971694"/>
              <a:ext cx="504637" cy="33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9" name="Google Shape;499;g35eea780204_0_338"/>
            <p:cNvPicPr preferRelativeResize="0"/>
            <p:nvPr/>
          </p:nvPicPr>
          <p:blipFill rotWithShape="1">
            <a:blip r:embed="rId3">
              <a:alphaModFix/>
            </a:blip>
            <a:srcRect b="15479" l="0" r="0" t="60251"/>
            <a:stretch/>
          </p:blipFill>
          <p:spPr>
            <a:xfrm>
              <a:off x="4561600" y="4077275"/>
              <a:ext cx="504625" cy="122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0" name="Google Shape;500;g35eea780204_0_338"/>
          <p:cNvPicPr preferRelativeResize="0"/>
          <p:nvPr/>
        </p:nvPicPr>
        <p:blipFill rotWithShape="1">
          <a:blip r:embed="rId4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90"/>
          <p:cNvSpPr txBox="1"/>
          <p:nvPr>
            <p:ph type="title"/>
          </p:nvPr>
        </p:nvSpPr>
        <p:spPr>
          <a:xfrm>
            <a:off x="556300" y="1539975"/>
            <a:ext cx="73797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Заполните опрос о занятии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6" name="Google Shape;506;p90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90"/>
          <p:cNvSpPr txBox="1"/>
          <p:nvPr/>
        </p:nvSpPr>
        <p:spPr>
          <a:xfrm>
            <a:off x="556300" y="3802175"/>
            <a:ext cx="5387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ru" sz="2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 читаем все ваши сообщения </a:t>
            </a:r>
            <a:endParaRPr b="0" i="0" sz="23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ru" sz="2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берем их в работу </a:t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508" name="Google Shape;508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1529" y="4321879"/>
            <a:ext cx="240425" cy="24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eea780204_0_274"/>
          <p:cNvSpPr txBox="1"/>
          <p:nvPr>
            <p:ph type="title"/>
          </p:nvPr>
        </p:nvSpPr>
        <p:spPr>
          <a:xfrm>
            <a:off x="521925" y="1710174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обсуждаем Off-topic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4" name="Google Shape;514;g35eea780204_0_274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g35eea780204_0_274"/>
          <p:cNvSpPr txBox="1"/>
          <p:nvPr>
            <p:ph type="title"/>
          </p:nvPr>
        </p:nvSpPr>
        <p:spPr>
          <a:xfrm>
            <a:off x="251925" y="4016199"/>
            <a:ext cx="8520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ru" sz="2900">
                <a:solidFill>
                  <a:schemeClr val="lt1"/>
                </a:solidFill>
              </a:rPr>
              <a:t>*Время отключить запись</a:t>
            </a:r>
            <a:endParaRPr sz="12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2AB7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
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y="5143500" cx="9144000"/>
  <p:notesSz cx="6858000" cy="9144000"/>
  <p:embeddedFontLst>
    <p:embeddedFont>
      <p:font typeface="Roboto"/>
      <p:regular r:id="rId111"/>
      <p:bold r:id="rId112"/>
      <p:italic r:id="rId113"/>
      <p:boldItalic r:id="rId114"/>
    </p:embeddedFont>
    <p:embeddedFont>
      <p:font typeface="Roboto Medium"/>
      <p:regular r:id="rId115"/>
      <p:bold r:id="rId116"/>
      <p:italic r:id="rId117"/>
      <p:boldItalic r:id="rId1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pos="5526">
          <p15:clr>
            <a:srgbClr val="747775"/>
          </p15:clr>
        </p15:guide>
        <p15:guide id="3" pos="4622">
          <p15:clr>
            <a:srgbClr val="747775"/>
          </p15:clr>
        </p15:guide>
        <p15:guide id="4" orient="horz" pos="3025">
          <p15:clr>
            <a:srgbClr val="747775"/>
          </p15:clr>
        </p15:guide>
        <p15:guide id="5" orient="horz" pos="1963">
          <p15:clr>
            <a:srgbClr val="747775"/>
          </p15:clr>
        </p15:guide>
        <p15:guide id="6" orient="horz" pos="3240">
          <p15:clr>
            <a:srgbClr val="747775"/>
          </p15:clr>
        </p15:guide>
        <p15:guide id="7" orient="horz" pos="2494">
          <p15:clr>
            <a:srgbClr val="747775"/>
          </p15:clr>
        </p15:guide>
        <p15:guide id="8" orient="horz" pos="773">
          <p15:clr>
            <a:srgbClr val="747775"/>
          </p15:clr>
        </p15:guide>
        <p15:guide id="9" orient="horz" pos="1382">
          <p15:clr>
            <a:srgbClr val="747775"/>
          </p15:clr>
        </p15:guide>
        <p15:guide id="10" pos="429">
          <p15:clr>
            <a:srgbClr val="747775"/>
          </p15:clr>
        </p15:guide>
      </p15:sldGuideLst>
    </p:ext>
    <p:ext uri="GoogleSlidesCustomDataVersion2">
      <go:slidesCustomData xmlns:go="http://customooxmlschemas.google.com/" r:id="rId119" roundtripDataSignature="AMtx7mg4KKywVfXPY4zH12lV2zDw2K75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889EBC-36E6-4BCF-9BEF-B603AB1AB716}">
  <a:tblStyle styleId="{E4889EBC-36E6-4BCF-9BEF-B603AB1AB7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5526"/>
        <p:guide pos="4622"/>
        <p:guide pos="3025" orient="horz"/>
        <p:guide pos="1963" orient="horz"/>
        <p:guide pos="3240" orient="horz"/>
        <p:guide pos="2494" orient="horz"/>
        <p:guide pos="773" orient="horz"/>
        <p:guide pos="1382" orient="horz"/>
        <p:guide pos="4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font" Target="fonts/RobotoMedium-boldItalic.fntdata"/><Relationship Id="rId117" Type="http://schemas.openxmlformats.org/officeDocument/2006/relationships/font" Target="fonts/RobotoMedium-italic.fntdata"/><Relationship Id="rId116" Type="http://schemas.openxmlformats.org/officeDocument/2006/relationships/font" Target="fonts/RobotoMedium-bold.fntdata"/><Relationship Id="rId115" Type="http://schemas.openxmlformats.org/officeDocument/2006/relationships/font" Target="fonts/RobotoMedium-regular.fntdata"/><Relationship Id="rId119" Type="http://customschemas.google.com/relationships/presentationmetadata" Target="metadata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font" Target="fonts/Roboto-boldItalic.fntdata"/><Relationship Id="rId18" Type="http://schemas.openxmlformats.org/officeDocument/2006/relationships/slide" Target="slides/slide11.xml"/><Relationship Id="rId113" Type="http://schemas.openxmlformats.org/officeDocument/2006/relationships/font" Target="fonts/Roboto-italic.fntdata"/><Relationship Id="rId112" Type="http://schemas.openxmlformats.org/officeDocument/2006/relationships/font" Target="fonts/Roboto-bold.fntdata"/><Relationship Id="rId111" Type="http://schemas.openxmlformats.org/officeDocument/2006/relationships/font" Target="fonts/Roboto-regular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da92cf647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5da92cf6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da92cf647_0_2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5da92cf64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da92cf647_0_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da92cf6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da92cf647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5da92cf6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a7420fadb_0_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4a7420fad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b67fcee58_0_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4b67fcee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1bffd3346_0_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51bffd33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1bffd3346_0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51bffd33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1bffd3346_0_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51bffd334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1bffd3346_0_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51bffd33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b67fcee58_0_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4b67fcee5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1bffd3346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51bffd334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1bffd3346_0_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51bffd334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1bffd3346_0_6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51bffd334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1bffd3346_0_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51bffd334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1bffd3346_0_8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51bffd334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1bffd3346_0_9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51bffd334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1bffd3346_0_1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51bffd334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1bffd3346_0_1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51bffd334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1bffd3346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51bffd334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1bffd3346_0_1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51bffd334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1bffd3346_0_15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51bffd334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1bffd3346_0_2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51bffd3346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1bffd3346_0_2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51bffd334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1bffd3346_0_2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51bffd334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1bffd3346_0_2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51bffd334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51bffd3346_0_2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51bffd334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4b67fcee58_0_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4b67fcee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1bffd3346_0_2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51bffd3346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1bffd3346_0_2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51bffd334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1bffd3346_0_27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51bffd334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51bffd3346_0_28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51bffd334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1bffd3346_0_2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51bffd334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51bffd3346_0_29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51bffd334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1bffd3346_0_30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51bffd334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1bffd3346_0_3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51bffd3346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51bffd3346_0_3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51bffd334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51bffd3346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51bffd334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51bffd3346_0_3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51bffd334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51bffd3346_0_3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51bffd334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51bffd3346_0_3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51bffd334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1bffd3346_0_3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51bffd334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51bffd3346_0_3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51bffd3346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51bffd3346_0_3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51bffd3346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1bffd3346_0_36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51bffd3346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1bffd3346_0_3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51bffd334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1bffd3346_0_3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51bffd334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a7420fadb_0_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4a7420fad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1bffd3346_0_17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51bffd334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51bffd3346_0_1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51bffd334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1bffd3346_0_19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51bffd334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51bffd3346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51bffd3346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4b67fcee58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4b67fcee5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b67fcee58_0_7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4b67fcee5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51eea13cfa_0_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51eea13c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51eea13cfa_0_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51eea13cf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51eea13cfa_0_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51eea13cf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1eea13cfa_0_3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51eea13cf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51eea13cfa_0_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51eea13cf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51eea13cfa_0_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51eea13cf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1eea13cfa_0_6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51eea13cf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51eea13cfa_0_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51eea13cf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51eea13cfa_0_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51eea13cf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51eea13cfa_0_9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51eea13cf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1eea13cfa_0_9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51eea13cf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51eea13cfa_0_10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51eea13cf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51eea13cfa_0_1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51eea13cf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51eea13cfa_0_1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51eea13cf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51eea13cfa_0_1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g351eea13cf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51eea13cfa_0_1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51eea13cf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1eea13cfa_0_1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351eea13cf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51eea13cfa_0_1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51eea13cf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51eea13cfa_0_16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51eea13cf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51eea13cfa_0_1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51eea13cf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1eea13cfa_0_18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351eea13cf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51eea13cfa_0_19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51eea13cf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51eea13cfa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51eea13cf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1eea13cfa_0_2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g351eea13cfa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1eea13cfa_0_2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51eea13cf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51eea13cfa_0_23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51eea13cf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51eea13cfa_0_2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351eea13cf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51eea13cfa_0_25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351eea13cf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51eea13cfa_0_26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351eea13cf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51eea13cfa_0_2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51eea13cf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51eea13cfa_0_2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51eea13cf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51eea13cfa_0_2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51eea13cf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51eea13cfa_0_29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51eea13cf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5dd5776d50_0_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5dd5776d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4b67fcee58_0_46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4b67fcee58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51eea13cfa_0_3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g351eea13cf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51eea13cfa_0_3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351eea13cf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51eea13cfa_0_32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351eea13cf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51eea13cfa_0_3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g351eea13cfa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51eea13cfa_0_3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51eea13cfa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5da92cf647_0_9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5da92cf64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5da92cf647_0_15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35da92cf64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Показать таблицу из лекции.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, важный тезис ">
  <p:cSld name="CUSTOM_16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7"/>
          <p:cNvSpPr/>
          <p:nvPr/>
        </p:nvSpPr>
        <p:spPr>
          <a:xfrm>
            <a:off x="1135550" y="1470863"/>
            <a:ext cx="6711600" cy="14274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17"/>
          <p:cNvSpPr txBox="1"/>
          <p:nvPr>
            <p:ph type="title"/>
          </p:nvPr>
        </p:nvSpPr>
        <p:spPr>
          <a:xfrm>
            <a:off x="1472550" y="1705988"/>
            <a:ext cx="58242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" name="Google Shape;14;p117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2725" y="20843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на градиенте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8"/>
          <p:cNvSpPr txBox="1"/>
          <p:nvPr>
            <p:ph type="title"/>
          </p:nvPr>
        </p:nvSpPr>
        <p:spPr>
          <a:xfrm>
            <a:off x="718575" y="14902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этапа процесса">
  <p:cSld name="CUSTOM_1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9"/>
          <p:cNvSpPr txBox="1"/>
          <p:nvPr>
            <p:ph type="title"/>
          </p:nvPr>
        </p:nvSpPr>
        <p:spPr>
          <a:xfrm>
            <a:off x="101266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" name="Google Shape;19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613" y="10780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0" name="Google Shape;2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051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1" name="Google Shape;21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378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pic>
        <p:nvPicPr>
          <p:cNvPr id="22" name="Google Shape;22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6764" y="10780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0000"/>
              </a:srgbClr>
            </a:outerShdw>
          </a:effectLst>
        </p:spPr>
      </p:pic>
      <p:sp>
        <p:nvSpPr>
          <p:cNvPr id="23" name="Google Shape;23;p119"/>
          <p:cNvSpPr txBox="1"/>
          <p:nvPr>
            <p:ph idx="2" type="title"/>
          </p:nvPr>
        </p:nvSpPr>
        <p:spPr>
          <a:xfrm>
            <a:off x="28219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9"/>
          <p:cNvSpPr txBox="1"/>
          <p:nvPr>
            <p:ph idx="3" type="title"/>
          </p:nvPr>
        </p:nvSpPr>
        <p:spPr>
          <a:xfrm>
            <a:off x="4631313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19"/>
          <p:cNvSpPr txBox="1"/>
          <p:nvPr>
            <p:ph idx="4" type="title"/>
          </p:nvPr>
        </p:nvSpPr>
        <p:spPr>
          <a:xfrm>
            <a:off x="6488288" y="2093563"/>
            <a:ext cx="1643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 колонки с плашками">
  <p:cSld name="CUSTOM_1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0"/>
          <p:cNvSpPr/>
          <p:nvPr/>
        </p:nvSpPr>
        <p:spPr>
          <a:xfrm>
            <a:off x="80247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20"/>
          <p:cNvSpPr txBox="1"/>
          <p:nvPr>
            <p:ph type="title"/>
          </p:nvPr>
        </p:nvSpPr>
        <p:spPr>
          <a:xfrm>
            <a:off x="93267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0"/>
          <p:cNvSpPr/>
          <p:nvPr/>
        </p:nvSpPr>
        <p:spPr>
          <a:xfrm>
            <a:off x="3313550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20"/>
          <p:cNvSpPr txBox="1"/>
          <p:nvPr>
            <p:ph idx="2" type="title"/>
          </p:nvPr>
        </p:nvSpPr>
        <p:spPr>
          <a:xfrm>
            <a:off x="3443750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20"/>
          <p:cNvSpPr/>
          <p:nvPr/>
        </p:nvSpPr>
        <p:spPr>
          <a:xfrm>
            <a:off x="5824625" y="834034"/>
            <a:ext cx="2338500" cy="3215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20"/>
          <p:cNvSpPr txBox="1"/>
          <p:nvPr>
            <p:ph idx="3" type="title"/>
          </p:nvPr>
        </p:nvSpPr>
        <p:spPr>
          <a:xfrm>
            <a:off x="5954825" y="1093825"/>
            <a:ext cx="2078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плашки с текстом">
  <p:cSld name="CUSTOM_1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1"/>
          <p:cNvSpPr/>
          <p:nvPr/>
        </p:nvSpPr>
        <p:spPr>
          <a:xfrm>
            <a:off x="1681650" y="87410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21"/>
          <p:cNvSpPr/>
          <p:nvPr/>
        </p:nvSpPr>
        <p:spPr>
          <a:xfrm>
            <a:off x="1681650" y="2007625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21"/>
          <p:cNvSpPr/>
          <p:nvPr/>
        </p:nvSpPr>
        <p:spPr>
          <a:xfrm>
            <a:off x="1681650" y="3141150"/>
            <a:ext cx="5443800" cy="95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21"/>
          <p:cNvSpPr txBox="1"/>
          <p:nvPr>
            <p:ph type="title"/>
          </p:nvPr>
        </p:nvSpPr>
        <p:spPr>
          <a:xfrm>
            <a:off x="1952250" y="102445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21"/>
          <p:cNvSpPr txBox="1"/>
          <p:nvPr>
            <p:ph idx="2" type="title"/>
          </p:nvPr>
        </p:nvSpPr>
        <p:spPr>
          <a:xfrm>
            <a:off x="1952250" y="3319300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21"/>
          <p:cNvSpPr txBox="1"/>
          <p:nvPr>
            <p:ph idx="3" type="title"/>
          </p:nvPr>
        </p:nvSpPr>
        <p:spPr>
          <a:xfrm>
            <a:off x="1952250" y="2171875"/>
            <a:ext cx="4902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блок для доп. информации">
  <p:cSld name="CUSTOM_1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351925" y="1026725"/>
            <a:ext cx="525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22"/>
          <p:cNvSpPr/>
          <p:nvPr/>
        </p:nvSpPr>
        <p:spPr>
          <a:xfrm>
            <a:off x="5885250" y="1078700"/>
            <a:ext cx="2623800" cy="3105900"/>
          </a:xfrm>
          <a:prstGeom prst="roundRect">
            <a:avLst>
              <a:gd fmla="val 9050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22"/>
          <p:cNvSpPr txBox="1"/>
          <p:nvPr>
            <p:ph idx="2" type="title"/>
          </p:nvPr>
        </p:nvSpPr>
        <p:spPr>
          <a:xfrm>
            <a:off x="6054125" y="1658700"/>
            <a:ext cx="23220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edium"/>
              <a:buNone/>
              <a:defRPr b="0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22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3475" y="3387512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>
  <p:cSld name="CUSTOM_9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3"/>
          <p:cNvSpPr txBox="1"/>
          <p:nvPr>
            <p:ph type="title"/>
          </p:nvPr>
        </p:nvSpPr>
        <p:spPr>
          <a:xfrm>
            <a:off x="500000" y="4656875"/>
            <a:ext cx="6012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B7E4"/>
              </a:buClr>
              <a:buSzPts val="1200"/>
              <a:buNone/>
              <a:defRPr sz="1200">
                <a:solidFill>
                  <a:srgbClr val="2AB7E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" name="Google Shape;4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0350" y="4702350"/>
            <a:ext cx="259650" cy="2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дтема">
  <p:cSld name="CUSTOM_3_5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4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" name="Google Shape;50;p124"/>
          <p:cNvSpPr txBox="1"/>
          <p:nvPr>
            <p:ph type="title"/>
          </p:nvPr>
        </p:nvSpPr>
        <p:spPr>
          <a:xfrm>
            <a:off x="689250" y="670100"/>
            <a:ext cx="5654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" name="Google Shape;51;p124" title="chromed-chromed-curso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9025" y="1050537"/>
            <a:ext cx="844425" cy="97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6">
  <p:cSld name="CUSTOM_3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5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25"/>
          <p:cNvSpPr/>
          <p:nvPr/>
        </p:nvSpPr>
        <p:spPr>
          <a:xfrm>
            <a:off x="2220875" y="17171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25"/>
          <p:cNvSpPr/>
          <p:nvPr/>
        </p:nvSpPr>
        <p:spPr>
          <a:xfrm>
            <a:off x="4699150" y="16486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25"/>
          <p:cNvSpPr/>
          <p:nvPr/>
        </p:nvSpPr>
        <p:spPr>
          <a:xfrm>
            <a:off x="5613250" y="2846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25"/>
          <p:cNvSpPr/>
          <p:nvPr/>
        </p:nvSpPr>
        <p:spPr>
          <a:xfrm>
            <a:off x="5200800" y="40875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25"/>
          <p:cNvSpPr/>
          <p:nvPr/>
        </p:nvSpPr>
        <p:spPr>
          <a:xfrm>
            <a:off x="2374950" y="41817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5"/>
          <p:cNvSpPr txBox="1"/>
          <p:nvPr>
            <p:ph idx="2" type="title"/>
          </p:nvPr>
        </p:nvSpPr>
        <p:spPr>
          <a:xfrm>
            <a:off x="2263475" y="16778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2" name="Google Shape;62;p125"/>
          <p:cNvSpPr txBox="1"/>
          <p:nvPr>
            <p:ph idx="3" type="title"/>
          </p:nvPr>
        </p:nvSpPr>
        <p:spPr>
          <a:xfrm>
            <a:off x="4741750" y="16093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3" name="Google Shape;63;p125"/>
          <p:cNvSpPr txBox="1"/>
          <p:nvPr>
            <p:ph idx="4" type="title"/>
          </p:nvPr>
        </p:nvSpPr>
        <p:spPr>
          <a:xfrm>
            <a:off x="5655850" y="28091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4" name="Google Shape;64;p125"/>
          <p:cNvSpPr txBox="1"/>
          <p:nvPr>
            <p:ph idx="5" type="title"/>
          </p:nvPr>
        </p:nvSpPr>
        <p:spPr>
          <a:xfrm>
            <a:off x="5243400" y="4048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25"/>
          <p:cNvSpPr txBox="1"/>
          <p:nvPr>
            <p:ph idx="6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6" name="Google Shape;66;p125"/>
          <p:cNvSpPr txBox="1"/>
          <p:nvPr>
            <p:ph idx="7" type="title"/>
          </p:nvPr>
        </p:nvSpPr>
        <p:spPr>
          <a:xfrm>
            <a:off x="2417550" y="41424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5">
  <p:cSld name="CUSTOM_3_3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6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6"/>
          <p:cNvSpPr/>
          <p:nvPr/>
        </p:nvSpPr>
        <p:spPr>
          <a:xfrm>
            <a:off x="996750" y="3010888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26"/>
          <p:cNvSpPr/>
          <p:nvPr/>
        </p:nvSpPr>
        <p:spPr>
          <a:xfrm>
            <a:off x="2511850" y="17873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26"/>
          <p:cNvSpPr/>
          <p:nvPr/>
        </p:nvSpPr>
        <p:spPr>
          <a:xfrm>
            <a:off x="5400925" y="187111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26"/>
          <p:cNvSpPr/>
          <p:nvPr/>
        </p:nvSpPr>
        <p:spPr>
          <a:xfrm>
            <a:off x="5868350" y="34959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26"/>
          <p:cNvSpPr/>
          <p:nvPr/>
        </p:nvSpPr>
        <p:spPr>
          <a:xfrm>
            <a:off x="3162300" y="42210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26"/>
          <p:cNvSpPr txBox="1"/>
          <p:nvPr>
            <p:ph idx="2" type="title"/>
          </p:nvPr>
        </p:nvSpPr>
        <p:spPr>
          <a:xfrm>
            <a:off x="2619150" y="1748013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6" name="Google Shape;76;p126"/>
          <p:cNvSpPr txBox="1"/>
          <p:nvPr>
            <p:ph idx="3" type="title"/>
          </p:nvPr>
        </p:nvSpPr>
        <p:spPr>
          <a:xfrm>
            <a:off x="5443525" y="18318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7" name="Google Shape;77;p126"/>
          <p:cNvSpPr txBox="1"/>
          <p:nvPr>
            <p:ph idx="4" type="title"/>
          </p:nvPr>
        </p:nvSpPr>
        <p:spPr>
          <a:xfrm>
            <a:off x="5910950" y="34566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8" name="Google Shape;78;p126"/>
          <p:cNvSpPr txBox="1"/>
          <p:nvPr>
            <p:ph idx="5" type="title"/>
          </p:nvPr>
        </p:nvSpPr>
        <p:spPr>
          <a:xfrm>
            <a:off x="1039350" y="297160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9" name="Google Shape;79;p126"/>
          <p:cNvSpPr txBox="1"/>
          <p:nvPr>
            <p:ph idx="6" type="title"/>
          </p:nvPr>
        </p:nvSpPr>
        <p:spPr>
          <a:xfrm>
            <a:off x="3247500" y="41817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4">
  <p:cSld name="CUSTOM_3_3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7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" name="Google Shape;82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7"/>
          <p:cNvSpPr/>
          <p:nvPr/>
        </p:nvSpPr>
        <p:spPr>
          <a:xfrm>
            <a:off x="996750" y="3010900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27"/>
          <p:cNvSpPr txBox="1"/>
          <p:nvPr>
            <p:ph idx="2" type="title"/>
          </p:nvPr>
        </p:nvSpPr>
        <p:spPr>
          <a:xfrm>
            <a:off x="1202250" y="3031450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5" name="Google Shape;85;p127"/>
          <p:cNvSpPr/>
          <p:nvPr/>
        </p:nvSpPr>
        <p:spPr>
          <a:xfrm>
            <a:off x="3057625" y="17597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27"/>
          <p:cNvSpPr txBox="1"/>
          <p:nvPr>
            <p:ph idx="3" type="title"/>
          </p:nvPr>
        </p:nvSpPr>
        <p:spPr>
          <a:xfrm>
            <a:off x="3263125" y="17802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7" name="Google Shape;87;p127"/>
          <p:cNvSpPr/>
          <p:nvPr/>
        </p:nvSpPr>
        <p:spPr>
          <a:xfrm>
            <a:off x="3301475" y="409447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27"/>
          <p:cNvSpPr txBox="1"/>
          <p:nvPr>
            <p:ph idx="4" type="title"/>
          </p:nvPr>
        </p:nvSpPr>
        <p:spPr>
          <a:xfrm>
            <a:off x="3506975" y="411502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89" name="Google Shape;89;p127"/>
          <p:cNvSpPr/>
          <p:nvPr/>
        </p:nvSpPr>
        <p:spPr>
          <a:xfrm>
            <a:off x="5044175" y="2843325"/>
            <a:ext cx="19482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27"/>
          <p:cNvSpPr txBox="1"/>
          <p:nvPr>
            <p:ph idx="5" type="title"/>
          </p:nvPr>
        </p:nvSpPr>
        <p:spPr>
          <a:xfrm>
            <a:off x="5249675" y="2863875"/>
            <a:ext cx="15372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теллект-карта 3">
  <p:cSld name="CUSTOM_3_3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8"/>
          <p:cNvSpPr txBox="1"/>
          <p:nvPr>
            <p:ph type="title"/>
          </p:nvPr>
        </p:nvSpPr>
        <p:spPr>
          <a:xfrm>
            <a:off x="705950" y="362125"/>
            <a:ext cx="75708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9351" y="820713"/>
            <a:ext cx="6472105" cy="47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8"/>
          <p:cNvSpPr/>
          <p:nvPr/>
        </p:nvSpPr>
        <p:spPr>
          <a:xfrm>
            <a:off x="3673825" y="1785375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28"/>
          <p:cNvSpPr txBox="1"/>
          <p:nvPr>
            <p:ph idx="2" type="title"/>
          </p:nvPr>
        </p:nvSpPr>
        <p:spPr>
          <a:xfrm>
            <a:off x="3810875" y="1805925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6" name="Google Shape;96;p128"/>
          <p:cNvSpPr/>
          <p:nvPr/>
        </p:nvSpPr>
        <p:spPr>
          <a:xfrm>
            <a:off x="1219175" y="30134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28"/>
          <p:cNvSpPr txBox="1"/>
          <p:nvPr>
            <p:ph idx="3" type="title"/>
          </p:nvPr>
        </p:nvSpPr>
        <p:spPr>
          <a:xfrm>
            <a:off x="1356225" y="30339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128"/>
          <p:cNvSpPr/>
          <p:nvPr/>
        </p:nvSpPr>
        <p:spPr>
          <a:xfrm>
            <a:off x="4295300" y="3827500"/>
            <a:ext cx="2591700" cy="7662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28"/>
          <p:cNvSpPr txBox="1"/>
          <p:nvPr>
            <p:ph idx="4" type="title"/>
          </p:nvPr>
        </p:nvSpPr>
        <p:spPr>
          <a:xfrm>
            <a:off x="4432350" y="3848050"/>
            <a:ext cx="2249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>
  <p:cSld name="CUSTOM_3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9"/>
          <p:cNvSpPr txBox="1"/>
          <p:nvPr>
            <p:ph type="title"/>
          </p:nvPr>
        </p:nvSpPr>
        <p:spPr>
          <a:xfrm>
            <a:off x="312300" y="1678050"/>
            <a:ext cx="390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9"/>
          <p:cNvSpPr txBox="1"/>
          <p:nvPr>
            <p:ph idx="2" type="title"/>
          </p:nvPr>
        </p:nvSpPr>
        <p:spPr>
          <a:xfrm>
            <a:off x="5014425" y="44887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29"/>
          <p:cNvSpPr txBox="1"/>
          <p:nvPr>
            <p:ph idx="3" type="title"/>
          </p:nvPr>
        </p:nvSpPr>
        <p:spPr>
          <a:xfrm>
            <a:off x="5014425" y="2071800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29"/>
          <p:cNvSpPr txBox="1"/>
          <p:nvPr>
            <p:ph idx="4" type="title"/>
          </p:nvPr>
        </p:nvSpPr>
        <p:spPr>
          <a:xfrm>
            <a:off x="5014425" y="3583525"/>
            <a:ext cx="39951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29"/>
          <p:cNvSpPr txBox="1"/>
          <p:nvPr/>
        </p:nvSpPr>
        <p:spPr>
          <a:xfrm>
            <a:off x="4341150" y="49817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9"/>
          <p:cNvSpPr txBox="1"/>
          <p:nvPr/>
        </p:nvSpPr>
        <p:spPr>
          <a:xfrm>
            <a:off x="4341150" y="20821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9"/>
          <p:cNvSpPr txBox="1"/>
          <p:nvPr/>
        </p:nvSpPr>
        <p:spPr>
          <a:xfrm>
            <a:off x="4341150" y="3540725"/>
            <a:ext cx="752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 + место для иллюстрации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0"/>
          <p:cNvSpPr txBox="1"/>
          <p:nvPr>
            <p:ph type="title"/>
          </p:nvPr>
        </p:nvSpPr>
        <p:spPr>
          <a:xfrm>
            <a:off x="397825" y="1289250"/>
            <a:ext cx="45927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30"/>
          <p:cNvSpPr/>
          <p:nvPr/>
        </p:nvSpPr>
        <p:spPr>
          <a:xfrm>
            <a:off x="6180050" y="1284150"/>
            <a:ext cx="2259300" cy="2575200"/>
          </a:xfrm>
          <a:prstGeom prst="roundRect">
            <a:avLst>
              <a:gd fmla="val 7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блока ">
  <p:cSld name="CUSTOM_17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1"/>
          <p:cNvSpPr txBox="1"/>
          <p:nvPr>
            <p:ph type="title"/>
          </p:nvPr>
        </p:nvSpPr>
        <p:spPr>
          <a:xfrm>
            <a:off x="262213" y="16829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" name="Google Shape;113;p131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da92cf647_0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da92cf647_0_9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g35da92cf647_0_94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23850" lvl="0" marL="457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19" name="Google Shape;119;g35da92cf647_0_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9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_6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3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153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80">
          <p15:clr>
            <a:srgbClr val="E46962"/>
          </p15:clr>
        </p15:guide>
        <p15:guide id="4" pos="283">
          <p15:clr>
            <a:srgbClr val="E46962"/>
          </p15:clr>
        </p15:guide>
        <p15:guide id="5" orient="horz" pos="1191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4"/>
          <p:cNvSpPr txBox="1"/>
          <p:nvPr>
            <p:ph idx="1" type="subTitle"/>
          </p:nvPr>
        </p:nvSpPr>
        <p:spPr>
          <a:xfrm>
            <a:off x="2866800" y="4377125"/>
            <a:ext cx="60687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154"/>
          <p:cNvSpPr txBox="1"/>
          <p:nvPr>
            <p:ph type="title"/>
          </p:nvPr>
        </p:nvSpPr>
        <p:spPr>
          <a:xfrm>
            <a:off x="882150" y="1110675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156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40" name="Google Shape;140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7"/>
          <p:cNvSpPr txBox="1"/>
          <p:nvPr/>
        </p:nvSpPr>
        <p:spPr>
          <a:xfrm>
            <a:off x="556300" y="1539975"/>
            <a:ext cx="73797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4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блока 1</a:t>
            </a:r>
            <a:endParaRPr b="1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157"/>
          <p:cNvPicPr preferRelativeResize="0"/>
          <p:nvPr/>
        </p:nvPicPr>
        <p:blipFill rotWithShape="1">
          <a:blip r:embed="rId2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59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9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0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3" name="Google Shape;153;p160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54" name="Google Shape;154;p1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155" name="Google Shape;155;p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6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1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16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езентация">
  <p:cSld name="CUSTOM_7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163"/>
          <p:cNvSpPr/>
          <p:nvPr/>
        </p:nvSpPr>
        <p:spPr>
          <a:xfrm>
            <a:off x="1122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163"/>
          <p:cNvSpPr/>
          <p:nvPr/>
        </p:nvSpPr>
        <p:spPr>
          <a:xfrm>
            <a:off x="3330250" y="18628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163"/>
          <p:cNvSpPr/>
          <p:nvPr/>
        </p:nvSpPr>
        <p:spPr>
          <a:xfrm>
            <a:off x="5538250" y="2015225"/>
            <a:ext cx="1913100" cy="26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6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6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-синий">
  <p:cSld name="MAIN_POINT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6" name="Google Shape;176;p1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5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" name="Google Shape;122;p108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7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"/>
          <p:cNvSpPr txBox="1"/>
          <p:nvPr>
            <p:ph type="title"/>
          </p:nvPr>
        </p:nvSpPr>
        <p:spPr>
          <a:xfrm>
            <a:off x="500550" y="1419386"/>
            <a:ext cx="8520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lt1"/>
                </a:solidFill>
              </a:rPr>
              <a:t>0x01 Связанные списки в ядре Linux. Реальные примеры из кода ядра Linux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0" y="273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"/>
          <p:cNvSpPr txBox="1"/>
          <p:nvPr/>
        </p:nvSpPr>
        <p:spPr>
          <a:xfrm>
            <a:off x="886050" y="4127375"/>
            <a:ext cx="240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Разработка ядра Linux</a:t>
            </a:r>
            <a:endParaRPr b="0" i="0" sz="1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6" name="Google Shape;186;p1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"/>
          <p:cNvSpPr txBox="1"/>
          <p:nvPr>
            <p:ph type="title"/>
          </p:nvPr>
        </p:nvSpPr>
        <p:spPr>
          <a:xfrm>
            <a:off x="1604550" y="953124"/>
            <a:ext cx="852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100"/>
              <a:t>идет ли запись ?</a:t>
            </a:r>
            <a:endParaRPr sz="2100"/>
          </a:p>
        </p:txBody>
      </p:sp>
      <p:sp>
        <p:nvSpPr>
          <p:cNvPr id="192" name="Google Shape;192;p2"/>
          <p:cNvSpPr txBox="1"/>
          <p:nvPr>
            <p:ph type="title"/>
          </p:nvPr>
        </p:nvSpPr>
        <p:spPr>
          <a:xfrm>
            <a:off x="716325" y="1805199"/>
            <a:ext cx="7935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93" name="Google Shape;1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87" y="3878075"/>
            <a:ext cx="545712" cy="5457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"/>
          <p:cNvGrpSpPr/>
          <p:nvPr/>
        </p:nvGrpSpPr>
        <p:grpSpPr>
          <a:xfrm>
            <a:off x="825575" y="1022425"/>
            <a:ext cx="778985" cy="369300"/>
            <a:chOff x="825575" y="1022425"/>
            <a:chExt cx="778985" cy="369300"/>
          </a:xfrm>
        </p:grpSpPr>
        <p:sp>
          <p:nvSpPr>
            <p:cNvPr id="195" name="Google Shape;195;p2"/>
            <p:cNvSpPr/>
            <p:nvPr/>
          </p:nvSpPr>
          <p:spPr>
            <a:xfrm>
              <a:off x="825575" y="1037550"/>
              <a:ext cx="714900" cy="317700"/>
            </a:xfrm>
            <a:prstGeom prst="roundRect">
              <a:avLst>
                <a:gd fmla="val 16667" name="adj"/>
              </a:avLst>
            </a:prstGeom>
            <a:solidFill>
              <a:srgbClr val="3F2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987760" y="1022425"/>
              <a:ext cx="616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ru" sz="12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REC</a:t>
              </a:r>
              <a:endParaRPr b="0" i="0" sz="12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934700" y="1168375"/>
              <a:ext cx="85800" cy="77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da92cf647_0_13"/>
          <p:cNvSpPr txBox="1"/>
          <p:nvPr>
            <p:ph type="title"/>
          </p:nvPr>
        </p:nvSpPr>
        <p:spPr>
          <a:xfrm>
            <a:off x="511400" y="429149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ru" sz="3200"/>
              <a:t>Правила вебинара</a:t>
            </a:r>
            <a:endParaRPr b="1" sz="3200"/>
          </a:p>
        </p:txBody>
      </p:sp>
      <p:sp>
        <p:nvSpPr>
          <p:cNvPr id="203" name="Google Shape;203;g35da92cf647_0_13"/>
          <p:cNvSpPr txBox="1"/>
          <p:nvPr/>
        </p:nvSpPr>
        <p:spPr>
          <a:xfrm>
            <a:off x="1654525" y="1758138"/>
            <a:ext cx="2475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5da92cf647_0_13"/>
          <p:cNvSpPr txBox="1"/>
          <p:nvPr/>
        </p:nvSpPr>
        <p:spPr>
          <a:xfrm>
            <a:off x="1654525" y="2488344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g35da92cf647_0_13"/>
          <p:cNvSpPr txBox="1"/>
          <p:nvPr/>
        </p:nvSpPr>
        <p:spPr>
          <a:xfrm>
            <a:off x="1654525" y="3275209"/>
            <a:ext cx="323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g35da92cf64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767" y="2639222"/>
            <a:ext cx="394992" cy="39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5da92cf647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67" y="1884638"/>
            <a:ext cx="394992" cy="394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5da92cf647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7650" y="3366390"/>
            <a:ext cx="433225" cy="4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da92cf647_0_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Правила вебинара</a:t>
            </a:r>
            <a:endParaRPr/>
          </a:p>
        </p:txBody>
      </p:sp>
      <p:sp>
        <p:nvSpPr>
          <p:cNvPr id="214" name="Google Shape;214;g35da92cf647_0_23"/>
          <p:cNvSpPr txBox="1"/>
          <p:nvPr/>
        </p:nvSpPr>
        <p:spPr>
          <a:xfrm>
            <a:off x="1933863" y="827500"/>
            <a:ext cx="2895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23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b="1" i="0" sz="23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23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закрытом чате в Telegram !</a:t>
            </a:r>
            <a:endParaRPr b="1" i="0" sz="23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u="sng"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b="1" i="0" lang="ru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ru" u="sng">
                <a:latin typeface="Roboto"/>
                <a:ea typeface="Roboto"/>
                <a:cs typeface="Roboto"/>
                <a:sym typeface="Roboto"/>
              </a:rPr>
              <a:t>также обсудить </a:t>
            </a:r>
            <a:r>
              <a:rPr b="1" lang="ru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Off-topic будет возможность в конце занятия после отключения записи</a:t>
            </a:r>
            <a:r>
              <a:rPr b="1" i="0" lang="ru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1" i="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Кто еще не присоединился, сканируйте QR код :)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g35da92cf647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00" y="2288375"/>
            <a:ext cx="1095900" cy="10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5da92cf647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425" y="1130286"/>
            <a:ext cx="3412077" cy="341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da92cf647_0_3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sp>
        <p:nvSpPr>
          <p:cNvPr id="222" name="Google Shape;222;g35da92cf647_0_30"/>
          <p:cNvSpPr txBox="1"/>
          <p:nvPr/>
        </p:nvSpPr>
        <p:spPr>
          <a:xfrm>
            <a:off x="1463450" y="3308450"/>
            <a:ext cx="523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Пожалуйста, заполняйте опросы после занятий и ДЗ, мы читаем все ваши сообщения :)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5da92cf647_0_30"/>
          <p:cNvSpPr txBox="1"/>
          <p:nvPr>
            <p:ph idx="1" type="body"/>
          </p:nvPr>
        </p:nvSpPr>
        <p:spPr>
          <a:xfrm>
            <a:off x="500550" y="1305000"/>
            <a:ext cx="7568700" cy="15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Вебинары во многом адаптивны.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Мы наблюдаем за вашим обсуждением в Telegram,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берем в работу идеи из ваших отзывов на занятия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/>
              <a:t>и домашние задания и становимся лучше!</a:t>
            </a:r>
            <a:endParaRPr sz="1700"/>
          </a:p>
        </p:txBody>
      </p:sp>
      <p:pic>
        <p:nvPicPr>
          <p:cNvPr id="224" name="Google Shape;224;g35da92cf647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99" y="3470891"/>
            <a:ext cx="367830" cy="36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5da92cf647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472" y="3437800"/>
            <a:ext cx="434002" cy="4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da92cf647_0_0"/>
          <p:cNvSpPr txBox="1"/>
          <p:nvPr>
            <p:ph idx="4294967295" type="title"/>
          </p:nvPr>
        </p:nvSpPr>
        <p:spPr>
          <a:xfrm>
            <a:off x="900000" y="404574"/>
            <a:ext cx="85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31" name="Google Shape;231;g35da92cf647_0_0"/>
          <p:cNvSpPr/>
          <p:nvPr/>
        </p:nvSpPr>
        <p:spPr>
          <a:xfrm>
            <a:off x="1138125" y="127160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Связный список - что это и каким бывает 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5da92cf647_0_0"/>
          <p:cNvSpPr/>
          <p:nvPr/>
        </p:nvSpPr>
        <p:spPr>
          <a:xfrm>
            <a:off x="1138125" y="1989199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 и где используются.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5da92cf647_0_0"/>
          <p:cNvSpPr/>
          <p:nvPr/>
        </p:nvSpPr>
        <p:spPr>
          <a:xfrm>
            <a:off x="1138125" y="270679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Связные списки и их API  в ядре Linux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5da92cf647_0_0"/>
          <p:cNvSpPr/>
          <p:nvPr/>
        </p:nvSpPr>
        <p:spPr>
          <a:xfrm>
            <a:off x="1138125" y="3442148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Ответы на вопросы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35da92cf647_0_0"/>
          <p:cNvSpPr/>
          <p:nvPr/>
        </p:nvSpPr>
        <p:spPr>
          <a:xfrm>
            <a:off x="1138125" y="4177500"/>
            <a:ext cx="50295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Off-topic *(После отключения записи)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" name="Google Shape;236;g35da92cf647_0_0"/>
          <p:cNvCxnSpPr>
            <a:stCxn id="231" idx="1"/>
            <a:endCxn id="232" idx="1"/>
          </p:cNvCxnSpPr>
          <p:nvPr/>
        </p:nvCxnSpPr>
        <p:spPr>
          <a:xfrm>
            <a:off x="1138125" y="1504250"/>
            <a:ext cx="600" cy="717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7" name="Google Shape;237;g35da92cf647_0_0"/>
          <p:cNvCxnSpPr>
            <a:stCxn id="232" idx="1"/>
            <a:endCxn id="233" idx="1"/>
          </p:cNvCxnSpPr>
          <p:nvPr/>
        </p:nvCxnSpPr>
        <p:spPr>
          <a:xfrm>
            <a:off x="1138125" y="2221849"/>
            <a:ext cx="600" cy="717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8" name="Google Shape;238;g35da92cf647_0_0"/>
          <p:cNvCxnSpPr>
            <a:stCxn id="233" idx="1"/>
            <a:endCxn id="234" idx="1"/>
          </p:cNvCxnSpPr>
          <p:nvPr/>
        </p:nvCxnSpPr>
        <p:spPr>
          <a:xfrm>
            <a:off x="1138125" y="2939440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9" name="Google Shape;239;g35da92cf647_0_0"/>
          <p:cNvCxnSpPr>
            <a:stCxn id="234" idx="1"/>
            <a:endCxn id="235" idx="1"/>
          </p:cNvCxnSpPr>
          <p:nvPr/>
        </p:nvCxnSpPr>
        <p:spPr>
          <a:xfrm>
            <a:off x="1138125" y="3674798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9857F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10"/>
          <p:cNvGraphicFramePr/>
          <p:nvPr/>
        </p:nvGraphicFramePr>
        <p:xfrm>
          <a:off x="620463" y="42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{E4889EBC-36E6-4BCF-9BEF-B603AB1AB716}</a:tableStyleId>
              </a:tblPr>
              <a:tblGrid>
                <a:gridCol w="3828200"/>
                <a:gridCol w="4203125"/>
              </a:tblGrid>
              <a:tr h="106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b="1" lang="ru" sz="31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Цели вебинара</a:t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t/>
                      </a:r>
                      <a:endParaRPr b="1" sz="3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6402B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10"/>
          <p:cNvSpPr/>
          <p:nvPr/>
        </p:nvSpPr>
        <p:spPr>
          <a:xfrm>
            <a:off x="553325" y="208257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Изучить связные списки и какие списки бывают.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53300" y="2825888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Узнать API связных списков в ядре Linux.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53300" y="3569225"/>
            <a:ext cx="3384900" cy="53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Посмотреть примеры использования связных списков в ядре Linux.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20475" y="912475"/>
            <a:ext cx="378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4448675" y="912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Что такое связный список 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5" name="Google Shape;255;p14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a7420fadb_0_47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такое связный список ?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1" name="Google Shape;261;g34a7420fadb_0_47"/>
          <p:cNvSpPr txBox="1"/>
          <p:nvPr/>
        </p:nvSpPr>
        <p:spPr>
          <a:xfrm>
            <a:off x="681050" y="1973450"/>
            <a:ext cx="74034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Свя́зный спи́сок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базовая динамическая структура данных в информатике, состоящая из узлов, содержащих данные и ссылки («связки») на следующий и/или предыдущий узел списка. Принципиальным преимуществом перед массивом является структурная гибкость: порядок элементов связного списка может не совпадать с порядком расположения элементов данных в памяти компьютера, а порядок обхода списка всегда явно задаётся его внутренними связями.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b67fcee58_0_11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определения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67" name="Google Shape;267;g34b67fcee58_0_11"/>
          <p:cNvSpPr txBox="1"/>
          <p:nvPr/>
        </p:nvSpPr>
        <p:spPr>
          <a:xfrm>
            <a:off x="721500" y="1849550"/>
            <a:ext cx="7403400" cy="17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1. Узлы и ссылки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узел в связном списке состоит из двух основных частей: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- Данные: это информация, которую мы хотим хранить (например, число, строка и т.д.).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- Ссылка (или указатель): это адрес следующего узла в списке. В двусвязном списке также есть ссылка на предыдущий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1bffd3346_0_6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определения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3" name="Google Shape;273;g351bffd3346_0_6"/>
          <p:cNvSpPr txBox="1"/>
          <p:nvPr/>
        </p:nvSpPr>
        <p:spPr>
          <a:xfrm>
            <a:off x="721500" y="1621450"/>
            <a:ext cx="7403400" cy="22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2. Динамическая структура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Динамическая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означает, что размер связного списка может </a:t>
            </a:r>
            <a:r>
              <a:rPr b="1"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изменяться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во время выполнения программы. В отличие от массивов, которые имеют фиксированный размер, связные списки могут </a:t>
            </a:r>
            <a:r>
              <a:rPr b="1"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расти и уменьшаться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 мере добавления или удаления узлов.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достигается за счет выделения памяти для каждого узла по мере необходимости (например, с помощью функции malloc в C). Когда узел больше не нужен, память может быть освобождена (например, с помощью free).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1bffd3346_0_13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определения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9" name="Google Shape;279;g351bffd3346_0_13"/>
          <p:cNvSpPr txBox="1"/>
          <p:nvPr/>
        </p:nvSpPr>
        <p:spPr>
          <a:xfrm>
            <a:off x="721500" y="1621450"/>
            <a:ext cx="7403400" cy="22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3. Структурная гибкость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Структурная гибкость означает, что элементы связного списка </a:t>
            </a:r>
            <a:r>
              <a:rPr b="1"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обязательно располагаются последовательно в памяти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В массиве элементы хранятся в смежных ячейках памяти, что делает его размер фиксированным и менее гибким.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связном списке каждый узел может находиться в любом месте памяти, и </a:t>
            </a:r>
            <a:r>
              <a:rPr b="1"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порядок обхода списка определяется ссылками между узлами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Это позволяет легко добавлять и удалять элементы без необходимости перемещения других элементов.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1bffd3346_0_19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Разбор определения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5" name="Google Shape;285;g351bffd3346_0_19"/>
          <p:cNvSpPr txBox="1"/>
          <p:nvPr/>
        </p:nvSpPr>
        <p:spPr>
          <a:xfrm>
            <a:off x="721500" y="1621450"/>
            <a:ext cx="74034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4. Порядок обхода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Порядок обхода связного списка </a:t>
            </a:r>
            <a:r>
              <a:rPr b="1"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задается ссылками между узлами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Например, если у нас есть узел A, который ссылается на узел B, а узел B ссылается на узел C, то порядок обхода будет A → B → C.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легко реализовать операции, такие как добавление, удаление и поиск узлов, так как мы можем просто следовать ссылкам от одного узла к другому.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1bffd3346_0_25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Пример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1" name="Google Shape;291;g351bffd3346_0_25"/>
          <p:cNvSpPr txBox="1"/>
          <p:nvPr/>
        </p:nvSpPr>
        <p:spPr>
          <a:xfrm>
            <a:off x="617100" y="1632175"/>
            <a:ext cx="7909800" cy="25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Представьте, что у вас есть связный список, который хранит числа: 10, 20, 30. Он может выглядеть так: [10 | *] -&gt; [20 | *] -&gt; [30 | NULL]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Узел с данными 10 ссылается на узел с данными 20.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Узел с данными 20 ссылается на узел с данными 30.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Узел с данными 30 не ссылается ни на какой другой узел (NULL).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вы хотите добавить число 40 в начало списка, вы создаете новый узел и изменяете ссылки: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[40 | *] -&gt; [10 | *] -&gt; [20 | *] -&gt; [30 | NULL]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b67fcee58_0_17"/>
          <p:cNvSpPr txBox="1"/>
          <p:nvPr>
            <p:ph type="title"/>
          </p:nvPr>
        </p:nvSpPr>
        <p:spPr>
          <a:xfrm>
            <a:off x="521925" y="1710174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Какие бывают связные списки?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g34b67fcee58_0_17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1bffd3346_0_38"/>
          <p:cNvSpPr txBox="1"/>
          <p:nvPr/>
        </p:nvSpPr>
        <p:spPr>
          <a:xfrm>
            <a:off x="721493" y="832471"/>
            <a:ext cx="770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Односвязный список</a:t>
            </a:r>
            <a:endParaRPr b="0" i="0" sz="2100" u="none" cap="none" strike="noStrike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3" name="Google Shape;303;g351bffd3346_0_38"/>
          <p:cNvSpPr txBox="1"/>
          <p:nvPr/>
        </p:nvSpPr>
        <p:spPr>
          <a:xfrm>
            <a:off x="617100" y="1632175"/>
            <a:ext cx="79098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Односвязный список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один из видов связных списков, который состоит из узлов, каждый из которых содержит данные и ссылку (или указатель) на следующий узел в списке.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1bffd3346_0_45"/>
          <p:cNvSpPr/>
          <p:nvPr/>
        </p:nvSpPr>
        <p:spPr>
          <a:xfrm>
            <a:off x="512975" y="154802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элемент 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значение: 10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351bffd3346_0_45"/>
          <p:cNvSpPr/>
          <p:nvPr/>
        </p:nvSpPr>
        <p:spPr>
          <a:xfrm>
            <a:off x="2175875" y="1548013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элемент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значение: 20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351bffd3346_0_45"/>
          <p:cNvSpPr/>
          <p:nvPr/>
        </p:nvSpPr>
        <p:spPr>
          <a:xfrm>
            <a:off x="3875725" y="154802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элемент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значение: 30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51bffd3346_0_45"/>
          <p:cNvSpPr/>
          <p:nvPr/>
        </p:nvSpPr>
        <p:spPr>
          <a:xfrm>
            <a:off x="5575575" y="154802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NULL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" name="Google Shape;312;g351bffd3346_0_45"/>
          <p:cNvCxnSpPr>
            <a:stCxn id="308" idx="3"/>
            <a:endCxn id="309" idx="1"/>
          </p:cNvCxnSpPr>
          <p:nvPr/>
        </p:nvCxnSpPr>
        <p:spPr>
          <a:xfrm>
            <a:off x="2014175" y="1870975"/>
            <a:ext cx="16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g351bffd3346_0_45"/>
          <p:cNvCxnSpPr>
            <a:stCxn id="309" idx="3"/>
            <a:endCxn id="310" idx="1"/>
          </p:cNvCxnSpPr>
          <p:nvPr/>
        </p:nvCxnSpPr>
        <p:spPr>
          <a:xfrm>
            <a:off x="3677075" y="1870963"/>
            <a:ext cx="19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g351bffd3346_0_45"/>
          <p:cNvCxnSpPr>
            <a:stCxn id="310" idx="3"/>
            <a:endCxn id="311" idx="1"/>
          </p:cNvCxnSpPr>
          <p:nvPr/>
        </p:nvCxnSpPr>
        <p:spPr>
          <a:xfrm>
            <a:off x="5376925" y="1870975"/>
            <a:ext cx="19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g351bffd3346_0_45"/>
          <p:cNvSpPr txBox="1"/>
          <p:nvPr/>
        </p:nvSpPr>
        <p:spPr>
          <a:xfrm>
            <a:off x="421200" y="2420900"/>
            <a:ext cx="73278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 диаграмме показано, как элементы связаны между собой: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6858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элемент (как вагон в поезде) хранит некоторое значение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Стрелки показывают "ссылки" - указатели на следующий элемент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6858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Последний элемент указывает на null (пусто), что означает конец списка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g351bffd3346_0_45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Односвязный список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1bffd3346_0_65"/>
          <p:cNvSpPr txBox="1"/>
          <p:nvPr/>
        </p:nvSpPr>
        <p:spPr>
          <a:xfrm>
            <a:off x="512975" y="1440475"/>
            <a:ext cx="7462800" cy="1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1. Структура узла Каждый узел в односвязном списке состоит из двух частей: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AutoNum type="alphaUcPeriod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Данные: это информация, которую мы хотим хранить (например, целое число, строка и т.д.).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1300"/>
              <a:buFont typeface="Roboto"/>
              <a:buAutoNum type="alphaUcPeriod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Ссылка на следующий узел: это указатель на следующий узел в списке. Последний узел в списке будет указывать на NULL, что обозначает конец списка.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g351bffd3346_0_65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Односвязный список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1bffd3346_0_79"/>
          <p:cNvSpPr txBox="1"/>
          <p:nvPr/>
        </p:nvSpPr>
        <p:spPr>
          <a:xfrm>
            <a:off x="512975" y="1440475"/>
            <a:ext cx="76800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2. Основные характеристики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Односвязность: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Каждый узел содержит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только одну ссылку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на следующий узел, что делает его односвязным. Это ограничивает возможность обратного обхода списка, так как у узла нет ссылки на предыдущий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Динамическое выделение памяти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Узлы могут быть созданы и удалены в любое время, что позволяет динамически изменять размер списка.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g351bffd3346_0_79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Односвязный список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1bffd3346_0_86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Гибкость: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Легко добавлять и удалять узлы без необходимости перемещения других элементов, как в массиве.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Экономия памяти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Память выделяется только для тех узлов, которые необходимы, что позволяет избежать неиспользуемого пространства, как в статических массивах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g351bffd3346_0_86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односвязных списков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1bffd3346_0_96"/>
          <p:cNvSpPr txBox="1"/>
          <p:nvPr/>
        </p:nvSpPr>
        <p:spPr>
          <a:xfrm>
            <a:off x="512975" y="2084850"/>
            <a:ext cx="76800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Односторонний доступ: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Для доступа к элементу списка необходимо последовательно проходить через все узлы, начиная с головы списка. Это делает операции поиска менее эффективными по сравнению с массивами.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Дополнительные затраты на память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Каждый узел требует дополнительной памяти для хранения указателя на следующий узел.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g351bffd3346_0_96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односвязных списков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1bffd3346_0_115"/>
          <p:cNvSpPr txBox="1"/>
          <p:nvPr/>
        </p:nvSpPr>
        <p:spPr>
          <a:xfrm>
            <a:off x="617100" y="1656375"/>
            <a:ext cx="74118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Двусвязный список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— это структура данных, которая состоит из узлов, каждый из которых содержит данные и две ссылки: одну на следующий узел и другую на предыдущий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более гибко управлять элементами списка по сравнению с односвязными списками.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Давайте подробнее рассмотрим его структуру, особенности и операции.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g351bffd3346_0_115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Двусвязный список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1bffd3346_0_122"/>
          <p:cNvSpPr/>
          <p:nvPr/>
        </p:nvSpPr>
        <p:spPr>
          <a:xfrm>
            <a:off x="299575" y="150107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элемент 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значение: 10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g351bffd3346_0_122"/>
          <p:cNvSpPr/>
          <p:nvPr/>
        </p:nvSpPr>
        <p:spPr>
          <a:xfrm>
            <a:off x="2415100" y="1501063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элемент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значение: 20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g351bffd3346_0_122"/>
          <p:cNvSpPr/>
          <p:nvPr/>
        </p:nvSpPr>
        <p:spPr>
          <a:xfrm>
            <a:off x="4530625" y="150107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элемент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значение: 30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g351bffd3346_0_122"/>
          <p:cNvSpPr/>
          <p:nvPr/>
        </p:nvSpPr>
        <p:spPr>
          <a:xfrm>
            <a:off x="6811775" y="1501075"/>
            <a:ext cx="1501200" cy="64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NULL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" name="Google Shape;355;g351bffd3346_0_122"/>
          <p:cNvCxnSpPr>
            <a:stCxn id="351" idx="3"/>
            <a:endCxn id="352" idx="1"/>
          </p:cNvCxnSpPr>
          <p:nvPr/>
        </p:nvCxnSpPr>
        <p:spPr>
          <a:xfrm>
            <a:off x="1800775" y="1824025"/>
            <a:ext cx="6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g351bffd3346_0_122"/>
          <p:cNvCxnSpPr>
            <a:stCxn id="352" idx="3"/>
            <a:endCxn id="353" idx="1"/>
          </p:cNvCxnSpPr>
          <p:nvPr/>
        </p:nvCxnSpPr>
        <p:spPr>
          <a:xfrm>
            <a:off x="3916300" y="1824013"/>
            <a:ext cx="61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g351bffd3346_0_122"/>
          <p:cNvCxnSpPr>
            <a:stCxn id="353" idx="3"/>
            <a:endCxn id="354" idx="1"/>
          </p:cNvCxnSpPr>
          <p:nvPr/>
        </p:nvCxnSpPr>
        <p:spPr>
          <a:xfrm>
            <a:off x="6031825" y="1824025"/>
            <a:ext cx="78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g351bffd3346_0_122"/>
          <p:cNvSpPr txBox="1"/>
          <p:nvPr/>
        </p:nvSpPr>
        <p:spPr>
          <a:xfrm>
            <a:off x="421200" y="2420900"/>
            <a:ext cx="79551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1. Структура узла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узел в двусвязном списке состоит из трех частей: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Данные: информация, которую мы хотим хранить (например, целое число, строка и т.д.).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Ссылка на следующий узел: указатель на следующий узел в списке.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Ссылка на предыдущий узел: указатель на предыдущий узел в списке.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g351bffd3346_0_122"/>
          <p:cNvSpPr txBox="1"/>
          <p:nvPr/>
        </p:nvSpPr>
        <p:spPr>
          <a:xfrm>
            <a:off x="3917725" y="1501075"/>
            <a:ext cx="74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</a:t>
            </a:r>
            <a:endParaRPr/>
          </a:p>
        </p:txBody>
      </p:sp>
      <p:sp>
        <p:nvSpPr>
          <p:cNvPr id="360" name="Google Shape;360;g351bffd3346_0_122"/>
          <p:cNvSpPr txBox="1"/>
          <p:nvPr/>
        </p:nvSpPr>
        <p:spPr>
          <a:xfrm>
            <a:off x="6112775" y="1824025"/>
            <a:ext cx="289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351bffd3346_0_122"/>
          <p:cNvSpPr txBox="1"/>
          <p:nvPr/>
        </p:nvSpPr>
        <p:spPr>
          <a:xfrm>
            <a:off x="3916300" y="18240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endParaRPr/>
          </a:p>
        </p:txBody>
      </p:sp>
      <p:sp>
        <p:nvSpPr>
          <p:cNvPr id="362" name="Google Shape;362;g351bffd3346_0_122"/>
          <p:cNvSpPr txBox="1"/>
          <p:nvPr/>
        </p:nvSpPr>
        <p:spPr>
          <a:xfrm>
            <a:off x="1800775" y="18082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endParaRPr/>
          </a:p>
        </p:txBody>
      </p:sp>
      <p:cxnSp>
        <p:nvCxnSpPr>
          <p:cNvPr id="363" name="Google Shape;363;g351bffd3346_0_122"/>
          <p:cNvCxnSpPr/>
          <p:nvPr/>
        </p:nvCxnSpPr>
        <p:spPr>
          <a:xfrm rot="10800000">
            <a:off x="1758775" y="1832275"/>
            <a:ext cx="65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g351bffd3346_0_122"/>
          <p:cNvCxnSpPr/>
          <p:nvPr/>
        </p:nvCxnSpPr>
        <p:spPr>
          <a:xfrm rot="10800000">
            <a:off x="3899900" y="1824875"/>
            <a:ext cx="62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g351bffd3346_0_122"/>
          <p:cNvCxnSpPr/>
          <p:nvPr/>
        </p:nvCxnSpPr>
        <p:spPr>
          <a:xfrm flipH="1">
            <a:off x="6048700" y="1817525"/>
            <a:ext cx="7725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g351bffd3346_0_122"/>
          <p:cNvSpPr txBox="1"/>
          <p:nvPr/>
        </p:nvSpPr>
        <p:spPr>
          <a:xfrm>
            <a:off x="1800775" y="15010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</a:t>
            </a:r>
            <a:endParaRPr/>
          </a:p>
        </p:txBody>
      </p:sp>
      <p:sp>
        <p:nvSpPr>
          <p:cNvPr id="367" name="Google Shape;367;g351bffd3346_0_122"/>
          <p:cNvSpPr txBox="1"/>
          <p:nvPr/>
        </p:nvSpPr>
        <p:spPr>
          <a:xfrm>
            <a:off x="6037050" y="1501075"/>
            <a:ext cx="74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</a:t>
            </a:r>
            <a:endParaRPr/>
          </a:p>
        </p:txBody>
      </p:sp>
      <p:sp>
        <p:nvSpPr>
          <p:cNvPr id="368" name="Google Shape;368;g351bffd3346_0_122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Двусвязный список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1bffd3346_0_145"/>
          <p:cNvSpPr txBox="1"/>
          <p:nvPr/>
        </p:nvSpPr>
        <p:spPr>
          <a:xfrm>
            <a:off x="512975" y="1440475"/>
            <a:ext cx="75834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2. Основные характеристики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Двусвязность: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узел содержит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две ссылки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 позволяет легко перемещаться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как вперед, так и назад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 списку.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Динамическое выделение памяти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Узлы могут быть созданы и удалены в любое время, что позволяет динамически изменять размер списка.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51bffd3346_0_145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Двусвязный список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1bffd3346_0_153"/>
          <p:cNvSpPr txBox="1"/>
          <p:nvPr/>
        </p:nvSpPr>
        <p:spPr>
          <a:xfrm>
            <a:off x="512975" y="2084850"/>
            <a:ext cx="76800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Доступ в обе стороны: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Возможность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перемещения как вперед, так и назад по списку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 упрощает реализацию некоторых операций, таких как удаление узла или обход в обратном порядке.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Упрощенное удаление узлов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Удаление узла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требует предварительного поиска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предыдущего узла, так как у нас есть ссылка на него.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g351bffd3346_0_153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двусвязных списков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51bffd3346_0_158"/>
          <p:cNvSpPr txBox="1"/>
          <p:nvPr/>
        </p:nvSpPr>
        <p:spPr>
          <a:xfrm>
            <a:off x="512975" y="2084850"/>
            <a:ext cx="76752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Дополнительные затраты на память: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узел требует дополнительной памяти для хранения второго указателя (на предыдущий узел).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реализации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Реализация двусвязного списка может быть более сложной, чем односвязного, из-за необходимости управления двумя указателями.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g351bffd3346_0_158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двусвязных списков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1bffd3346_0_218"/>
          <p:cNvSpPr txBox="1"/>
          <p:nvPr/>
        </p:nvSpPr>
        <p:spPr>
          <a:xfrm>
            <a:off x="617100" y="1656375"/>
            <a:ext cx="75759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Кольцевой список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структура данных, которая является модификацией связного списка, в которой последний узел указывает не на NULL, а на первый узел списка. Это создает "кольцо", позволяя бесконечно обходить список, начиная с любого узла.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Кольцевые списки могут быть как односвязными, так и двусвязными.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Давайте подробнее рассмотрим их структуру, особенности и операции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g351bffd3346_0_218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Кольцевой список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1bffd3346_0_224"/>
          <p:cNvSpPr txBox="1"/>
          <p:nvPr/>
        </p:nvSpPr>
        <p:spPr>
          <a:xfrm>
            <a:off x="512975" y="1440475"/>
            <a:ext cx="76752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1. Структура узла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Структура узла в кольцевом списке аналогична структуре узла в обычном связном списке, но с одним важным отличием: последний узел указывает на первый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g351bffd3346_0_224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Кольцевой список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bffd3346_0_231"/>
          <p:cNvSpPr txBox="1"/>
          <p:nvPr/>
        </p:nvSpPr>
        <p:spPr>
          <a:xfrm>
            <a:off x="512975" y="1440475"/>
            <a:ext cx="76800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2. Основные характеристики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Кольцевость: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Последний узел указывает на первый узел, что позволяет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бесконечно обходить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список.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Динамическое выделение памяти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Узлы могут быть созданы и удалены в любое время, что позволяет динамически изменять размер списка.</a:t>
            </a:r>
            <a:endParaRPr b="1"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g351bffd3346_0_231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Кольцевой список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1bffd3346_0_237"/>
          <p:cNvSpPr txBox="1"/>
          <p:nvPr/>
        </p:nvSpPr>
        <p:spPr>
          <a:xfrm>
            <a:off x="512975" y="2084850"/>
            <a:ext cx="76800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Бесконечный обход: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Можно легко обойти список,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начиная с любого узла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 полезно в некоторых алгоритмах и приложениях (например, в играх или при реализации циклических буферов).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Упрощенное управление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Упрощает реализацию некоторых операций, таких как добавление и удаление узлов, так как </a:t>
            </a:r>
            <a:r>
              <a:rPr i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не нужно проверять, достигли ли мы конца списка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g351bffd3346_0_237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кольцевых списков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1bffd3346_0_242"/>
          <p:cNvSpPr txBox="1"/>
          <p:nvPr/>
        </p:nvSpPr>
        <p:spPr>
          <a:xfrm>
            <a:off x="512975" y="2084850"/>
            <a:ext cx="7684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реализации: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Реализация может быть более сложной, чем у обычных связных списков, из-за необходимости управления кольцевой структурой.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Потенциальные бесконечные циклы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При неправильной реализации или ошибках в коде можно создать бесконечный цикл, что может привести к зависанию программы.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g351bffd3346_0_242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кольцевых списков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b67fcee58_0_22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+- связных списков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2" name="Google Shape;422;g34b67fcee58_0_22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1bffd3346_0_261"/>
          <p:cNvSpPr txBox="1"/>
          <p:nvPr/>
        </p:nvSpPr>
        <p:spPr>
          <a:xfrm>
            <a:off x="512975" y="2084850"/>
            <a:ext cx="76752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Динамическое выделение памяти: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Связные списки позволяют динамически выделять память для узлов по мере необходимости.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означает, что размер списка может изменяться во время выполнения программы, что делает его более гибким по сравнению с массивами, которые имеют фиксированный размер.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g351bffd3346_0_261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связных списков (+)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1bffd3346_0_269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Легкость добавления и удаления узлов: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Добавление и удаление узлов в связном списке осуществляется без необходимости перемещения других элементов, как это происходит в массивах.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делает операции вставки и удаления более эффективными, особенно в больших списках.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351bffd3346_0_269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связных списков (+)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1bffd3346_0_275"/>
          <p:cNvSpPr txBox="1"/>
          <p:nvPr/>
        </p:nvSpPr>
        <p:spPr>
          <a:xfrm>
            <a:off x="512975" y="2084850"/>
            <a:ext cx="7684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Отсутствие необходимости в непрерывной памяти: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Узлы связного списка могут находиться в произвольных местах памяти, что позволяет избежать проблем с фрагментацией, которые могут возникнуть при использовании массивов.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g351bffd3346_0_275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связных списков (+)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1bffd3346_0_282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Гибкость в реализации различных структур данных: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Связные списки могут быть легко адаптированы для реализации других структур данных, таких как стеки, очереди и графы. 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Упрощенное управление памятью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Память для узлов выделяется и освобождается по мере необходимости, что позволяет более эффективно использовать доступную память.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g351bffd3346_0_282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Преимущества связных списков (+)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1bffd3346_0_288"/>
          <p:cNvSpPr txBox="1"/>
          <p:nvPr/>
        </p:nvSpPr>
        <p:spPr>
          <a:xfrm>
            <a:off x="512975" y="2084850"/>
            <a:ext cx="76800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Дополнительные затраты на память: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Каждый узел в связном списке требует дополнительной памяти для хранения указателя на следующий (и, в случае двусвязных списков, предыдущий)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может привести к большему потреблению памяти по сравнению с массивами, особенно для небольших наборов данных.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g351bffd3346_0_288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связных списков (-)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51bffd3346_0_295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доступа к элементам: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Для доступа к элементу в связном списке необходимо последовательно проходить через узлы, начиная с головы списка.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делает операции поиска менее эффективными по сравнению с массивами, где доступ к элементам осуществляется по индексу за константное время.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g351bffd3346_0_295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связных списков (-)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1bffd3346_0_301"/>
          <p:cNvSpPr txBox="1"/>
          <p:nvPr/>
        </p:nvSpPr>
        <p:spPr>
          <a:xfrm>
            <a:off x="512975" y="2084850"/>
            <a:ext cx="7684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Сложность реализации: 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Реализация связных списков может быть более сложной, чем массивов, особенно для начинающих программистов. Необходимо учитывать управление указателями и правильное освобождение памяти.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g351bffd3346_0_301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связных списков (-)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51bffd3346_0_307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Потенциальные проблемы с памятью: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Если не освобождать память для узлов, которые больше не нужны, это может привести к утечкам памяти.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Также, если указатели не инициализированы или неправильно используются, это может привести к ошибкам и сбоям программы.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g351bffd3346_0_307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связных списков (-)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1bffd3346_0_313"/>
          <p:cNvSpPr txBox="1"/>
          <p:nvPr/>
        </p:nvSpPr>
        <p:spPr>
          <a:xfrm>
            <a:off x="512975" y="2084850"/>
            <a:ext cx="768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Низкая производительность при частом доступе: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Если требуется частый доступ к элементам по индексу, производительность связных списков будет ниже, чем у массивов, из-за необходимости последовательного обхода.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g351bffd3346_0_313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Недостатки связных списков (-)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1bffd3346_0_256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Где используются 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2" name="Google Shape;482;g351bffd3346_0_256"/>
          <p:cNvPicPr preferRelativeResize="0"/>
          <p:nvPr/>
        </p:nvPicPr>
        <p:blipFill rotWithShape="1">
          <a:blip r:embed="rId3">
            <a:alphaModFix/>
          </a:blip>
          <a:srcRect b="61752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51bffd3346_0_324"/>
          <p:cNvSpPr txBox="1"/>
          <p:nvPr/>
        </p:nvSpPr>
        <p:spPr>
          <a:xfrm>
            <a:off x="512975" y="2084850"/>
            <a:ext cx="7675200" cy="19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Стек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могут использоваться для реализации стека, где операции добавления и удаления элементов происходят только с одного конца (верх стека).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легко добавлять и удалять элементы без необходимости перемещения других элементов.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Очередь</a:t>
            </a: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также могут быть использованы для реализации очереди, где элементы добавляются в один конец (задний) и удаляются с другого (переднего).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эффективно управлять очередями задач или событий.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g351bffd3346_0_324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Реализация стеков и очередей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51bffd3346_0_331"/>
          <p:cNvSpPr txBox="1"/>
          <p:nvPr/>
        </p:nvSpPr>
        <p:spPr>
          <a:xfrm>
            <a:off x="512975" y="2084850"/>
            <a:ext cx="7684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Связные списки могут использоваться для управления динамически выделенной памятью, например, в системах управления памятью, где блоки памяти могут быть выделены и освобождены по мере необходимости.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эффективно использовать память и избегать фрагментации.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g351bffd3346_0_331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Динамическое управление памятью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1bffd3346_0_338"/>
          <p:cNvSpPr txBox="1"/>
          <p:nvPr/>
        </p:nvSpPr>
        <p:spPr>
          <a:xfrm>
            <a:off x="512975" y="2084850"/>
            <a:ext cx="7684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Связные списки могут быть использованы для представления графов, где узлы графа могут быть представлены как узлы связного списка, а связи между ними — как указатели на соседние узлы.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эффективно хранить и обрабатывать графовые структуры.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351bffd3346_0_338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Реализация графов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51bffd3346_0_345"/>
          <p:cNvSpPr txBox="1"/>
          <p:nvPr/>
        </p:nvSpPr>
        <p:spPr>
          <a:xfrm>
            <a:off x="512975" y="2084850"/>
            <a:ext cx="768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Связные списки могут использоваться для хранения данных, которые часто изменяются, например, в приложениях, где пользователи могут добавлять или удалять элементы из списка (например, списки задач, списки покупок и т.д.).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g351bffd3346_0_345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Хранение данных в виде списков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51bffd3346_0_353"/>
          <p:cNvSpPr txBox="1"/>
          <p:nvPr/>
        </p:nvSpPr>
        <p:spPr>
          <a:xfrm>
            <a:off x="512975" y="2084850"/>
            <a:ext cx="76752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текстовых редакторах связные списки могут использоваться для хранения строк текста, где каждая строка представлена как узел.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позволяет легко добавлять, удалять и изменять строки текста без необходимости перемещения других строк.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g351bffd3346_0_353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Реализация текстовых редакторов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1bffd3346_0_360"/>
          <p:cNvSpPr txBox="1"/>
          <p:nvPr/>
        </p:nvSpPr>
        <p:spPr>
          <a:xfrm>
            <a:off x="512975" y="2084850"/>
            <a:ext cx="768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системах, где данные поступают в реальном времени (например, в потоковых данных или в системах обработки событий), связные списки могут использоваться для хранения и обработки этих данных, так как они позволяют быстро добавлять и удалять элементы.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g351bffd3346_0_360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Обработка данных в реальном времени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51bffd3346_0_367"/>
          <p:cNvSpPr txBox="1"/>
          <p:nvPr/>
        </p:nvSpPr>
        <p:spPr>
          <a:xfrm>
            <a:off x="512975" y="2084850"/>
            <a:ext cx="7689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играх связные списки могут использоваться для управления объектами, такими как персонажи, враги или предметы, где необходимо динамически добавлять и удалять объекты из игрового мира.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g351bffd3346_0_367"/>
          <p:cNvSpPr txBox="1"/>
          <p:nvPr/>
        </p:nvSpPr>
        <p:spPr>
          <a:xfrm>
            <a:off x="512975" y="411450"/>
            <a:ext cx="7492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Игровые приложения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51bffd3346_0_374"/>
          <p:cNvSpPr txBox="1"/>
          <p:nvPr/>
        </p:nvSpPr>
        <p:spPr>
          <a:xfrm>
            <a:off x="512975" y="2084850"/>
            <a:ext cx="7680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Связные списки часто используются в алгоритмах, таких как сортировка, поиск и другие, где требуется динамическое управление данными.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Например, алгоритмы, работающие с динамическими наборами данных, могут использовать связные списки для хранения промежуточных результатов.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g351bffd3346_0_374"/>
          <p:cNvSpPr txBox="1"/>
          <p:nvPr/>
        </p:nvSpPr>
        <p:spPr>
          <a:xfrm>
            <a:off x="512975" y="411450"/>
            <a:ext cx="749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1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Алгоритмы и структуры данных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51bffd3346_0_319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 на языке Си в US.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6" name="Google Shape;536;g351bffd3346_0_319"/>
          <p:cNvPicPr preferRelativeResize="0"/>
          <p:nvPr/>
        </p:nvPicPr>
        <p:blipFill rotWithShape="1">
          <a:blip r:embed="rId3">
            <a:alphaModFix/>
          </a:blip>
          <a:srcRect b="61752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4a7420fadb_0_53"/>
          <p:cNvSpPr txBox="1"/>
          <p:nvPr/>
        </p:nvSpPr>
        <p:spPr>
          <a:xfrm>
            <a:off x="681043" y="280571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Листинг dlist.h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g34a7420fadb_0_53"/>
          <p:cNvSpPr txBox="1"/>
          <p:nvPr/>
        </p:nvSpPr>
        <p:spPr>
          <a:xfrm>
            <a:off x="681050" y="877300"/>
            <a:ext cx="42384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ifndef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DLIST_H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DLIST_H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Структура узла двусвязного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data;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Данные узла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следующий узел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предыдущий узел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 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Структура двусвязного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DList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Node *head;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голову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Node *tail;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хвост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 DList;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Функции для работы с двусвязным списком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DList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create_list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add_to_head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data)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add_to_tail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data)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delete_node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Node *node)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print_list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free_list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endif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DLIST_H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51bffd3346_0_175"/>
          <p:cNvSpPr txBox="1"/>
          <p:nvPr/>
        </p:nvSpPr>
        <p:spPr>
          <a:xfrm>
            <a:off x="721493" y="280596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create_list()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g351bffd3346_0_175"/>
          <p:cNvSpPr txBox="1"/>
          <p:nvPr/>
        </p:nvSpPr>
        <p:spPr>
          <a:xfrm>
            <a:off x="721500" y="2593750"/>
            <a:ext cx="7314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Выделяется память для структуры DList с помощью malloc. Указатели head и tail инициализируются значением NULL, что означает, что список изначально пуст. Возвращается указатель на созданный список.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g351bffd3346_0_175"/>
          <p:cNvSpPr txBox="1"/>
          <p:nvPr/>
        </p:nvSpPr>
        <p:spPr>
          <a:xfrm>
            <a:off x="721500" y="1052275"/>
            <a:ext cx="423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Создание нового двусвязного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DList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create_list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(DList *)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(DList));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1bffd3346_0_184"/>
          <p:cNvSpPr txBox="1"/>
          <p:nvPr/>
        </p:nvSpPr>
        <p:spPr>
          <a:xfrm>
            <a:off x="721493" y="280596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add_to_head(DList *list, int data)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g351bffd3346_0_184"/>
          <p:cNvSpPr txBox="1"/>
          <p:nvPr/>
        </p:nvSpPr>
        <p:spPr>
          <a:xfrm>
            <a:off x="721500" y="3205000"/>
            <a:ext cx="731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Выделяется память для нового узла new_node и инициализируется его поле data значением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нового узла указывает на текущую голову списка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list-&gt;head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а указатель prev устанавливается в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так как это будет новый первый элемент. Если список не пуст (то есть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list-&gt;head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 равен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то предыдущий узел (текущая голова) обновляет свой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чтобы указывать на новый узел. Если список пуст, новый узел становится и головой, и хвостом списка. Указатель head списка обновляется, чтобы указывать на новый узел.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g351bffd3346_0_184"/>
          <p:cNvSpPr txBox="1"/>
          <p:nvPr/>
        </p:nvSpPr>
        <p:spPr>
          <a:xfrm>
            <a:off x="681050" y="803800"/>
            <a:ext cx="423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Добавление узла в начало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add_to_head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data)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Node *new_node = (Node *)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(Node));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new_node-&gt;data =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new_node-&gt;next =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new_node-&gt;prev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список был пуст, новый узел становится хвостом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 !=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-&gt;head-&gt;prev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51bffd3346_0_199"/>
          <p:cNvSpPr txBox="1"/>
          <p:nvPr/>
        </p:nvSpPr>
        <p:spPr>
          <a:xfrm>
            <a:off x="721493" y="280596"/>
            <a:ext cx="77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add_to_tail(DList *list, int data)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g351bffd3346_0_199"/>
          <p:cNvSpPr txBox="1"/>
          <p:nvPr/>
        </p:nvSpPr>
        <p:spPr>
          <a:xfrm>
            <a:off x="721500" y="3205000"/>
            <a:ext cx="731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Выделяется память для нового узла new_node и инициализируется его поле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значением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Указатель next нового узла устанавливается в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так как он будет последним элементом, а указатель prev указывает на текущий хвост списка (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list-&gt;tail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 Если список не пуст (то есть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list-&gt;tail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 равен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NULL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), то текущий хвост обновляет свой указатель next, чтобы указывать на новый узел. Если список пуст, новый узел становится и головой, и хвостом списка. Указатель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tail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списка обновляется, чтобы указывать на новый узел.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g351bffd3346_0_199"/>
          <p:cNvSpPr txBox="1"/>
          <p:nvPr/>
        </p:nvSpPr>
        <p:spPr>
          <a:xfrm>
            <a:off x="681050" y="803800"/>
            <a:ext cx="423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Добавление узла в конец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add_to_tail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data)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Node *new_node = (Node *)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(Node));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new_node-&gt;data =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new_node-&gt;next 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new_node-&gt;prev =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список был пуст, новый узел становится головой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 !=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-&gt;tail-&gt;next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 = new_node;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1bffd3346_0_209"/>
          <p:cNvSpPr txBox="1"/>
          <p:nvPr/>
        </p:nvSpPr>
        <p:spPr>
          <a:xfrm>
            <a:off x="721493" y="280596"/>
            <a:ext cx="7701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delete_node(DList list, Node node)</a:t>
            </a:r>
            <a:endParaRPr b="1" sz="34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4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4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g351bffd3346_0_209"/>
          <p:cNvSpPr txBox="1"/>
          <p:nvPr/>
        </p:nvSpPr>
        <p:spPr>
          <a:xfrm>
            <a:off x="721500" y="3205000"/>
            <a:ext cx="731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узел не является головой, обновляем указатель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предыдущего узла. Если узел является головой, обновляем указатель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Если узел не является хвостом, обновляем указатель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следующего узла. Если узел является хвостом, обновляем указатель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tail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g351bffd3346_0_209"/>
          <p:cNvSpPr txBox="1"/>
          <p:nvPr/>
        </p:nvSpPr>
        <p:spPr>
          <a:xfrm>
            <a:off x="681050" y="803800"/>
            <a:ext cx="4238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Удаление узла из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delete_node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(DList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Node *node)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(node-&gt;prev !=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node-&gt;prev-&gt;next = node-&gt;next;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-&gt;head = node-&gt;next;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удаляем голову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(node-&gt;next != 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node-&gt;next-&gt;prev = node-&gt;prev;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-&gt;tail = node-&gt;prev;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Если удаляем хвост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(node);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4b67fcee58_0_73"/>
          <p:cNvSpPr txBox="1"/>
          <p:nvPr>
            <p:ph type="title"/>
          </p:nvPr>
        </p:nvSpPr>
        <p:spPr>
          <a:xfrm>
            <a:off x="521925" y="1710174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rgbClr val="FBFBFE"/>
                </a:solidFill>
              </a:rPr>
              <a:t>Какие связные списки есть в ядре Linux?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6" name="Google Shape;576;g34b67fcee58_0_73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4b67fcee58_0_78"/>
          <p:cNvSpPr txBox="1"/>
          <p:nvPr/>
        </p:nvSpPr>
        <p:spPr>
          <a:xfrm>
            <a:off x="721493" y="832471"/>
            <a:ext cx="7701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Двусвязный список в ядре Linux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1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g34b67fcee58_0_78"/>
          <p:cNvSpPr txBox="1"/>
          <p:nvPr/>
        </p:nvSpPr>
        <p:spPr>
          <a:xfrm>
            <a:off x="585400" y="1703400"/>
            <a:ext cx="74034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ядре Linux двусвязные списки реализованы с помощью макросов и структур, которые обеспечивают более эффективное управление памятью и доступ к элементам списка. Основная структура, используемая для двусвязного списка, выглядит следующим образом:</a:t>
            </a:r>
            <a:endParaRPr sz="13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g34b67fcee58_0_78"/>
          <p:cNvSpPr txBox="1"/>
          <p:nvPr/>
        </p:nvSpPr>
        <p:spPr>
          <a:xfrm>
            <a:off x="681050" y="335892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*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51eea13cfa_0_8"/>
          <p:cNvSpPr txBox="1"/>
          <p:nvPr/>
        </p:nvSpPr>
        <p:spPr>
          <a:xfrm>
            <a:off x="721493" y="832471"/>
            <a:ext cx="7701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Двусвязный список в ядре Linux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1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g351eea13cfa_0_8"/>
          <p:cNvSpPr txBox="1"/>
          <p:nvPr/>
        </p:nvSpPr>
        <p:spPr>
          <a:xfrm>
            <a:off x="585400" y="1551000"/>
            <a:ext cx="74034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Для добавления данных в список обычно используется отдельная структура, которая содержит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struct 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g351eea13cfa_0_8"/>
          <p:cNvSpPr txBox="1"/>
          <p:nvPr/>
        </p:nvSpPr>
        <p:spPr>
          <a:xfrm>
            <a:off x="681050" y="2346675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// Встраиваемый элемент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591" name="Google Shape;591;g351eea13cfa_0_8"/>
          <p:cNvSpPr txBox="1"/>
          <p:nvPr/>
        </p:nvSpPr>
        <p:spPr>
          <a:xfrm>
            <a:off x="721500" y="3347850"/>
            <a:ext cx="740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ядре используется отдельная структура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которая не содержит данных, а только указатели на следующий и предыдущий элементы. Это позволяет легко встраивать элементы списка в другие структуры. В нашем примере структура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Node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содержит данные и указатели, что делает её более самодостаточной, но менее гибкой.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51eea13cfa_0_30"/>
          <p:cNvSpPr txBox="1"/>
          <p:nvPr>
            <p:ph type="title"/>
          </p:nvPr>
        </p:nvSpPr>
        <p:spPr>
          <a:xfrm>
            <a:off x="521925" y="1710174"/>
            <a:ext cx="8520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rgbClr val="FBFBFE"/>
                </a:solidFill>
              </a:rPr>
              <a:t>API двусвязных списков.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7" name="Google Shape;597;g351eea13cfa_0_30"/>
          <p:cNvPicPr preferRelativeResize="0"/>
          <p:nvPr/>
        </p:nvPicPr>
        <p:blipFill rotWithShape="1">
          <a:blip r:embed="rId3">
            <a:alphaModFix/>
          </a:blip>
          <a:srcRect b="61752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51eea13cfa_0_21"/>
          <p:cNvSpPr txBox="1"/>
          <p:nvPr/>
        </p:nvSpPr>
        <p:spPr>
          <a:xfrm>
            <a:off x="436593" y="271621"/>
            <a:ext cx="7701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Инициализация.</a:t>
            </a:r>
            <a:endParaRPr b="1" i="0" sz="35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1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t/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g351eea13cfa_0_21"/>
          <p:cNvSpPr txBox="1"/>
          <p:nvPr/>
        </p:nvSpPr>
        <p:spPr>
          <a:xfrm>
            <a:off x="585400" y="1551000"/>
            <a:ext cx="74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g351eea13cfa_0_21"/>
          <p:cNvSpPr txBox="1"/>
          <p:nvPr/>
        </p:nvSpPr>
        <p:spPr>
          <a:xfrm>
            <a:off x="307500" y="1023175"/>
            <a:ext cx="8529000" cy="3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Инициализация с помощью макроса </a:t>
            </a:r>
            <a:r>
              <a:rPr b="1"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LIST_HEAD_INIT</a:t>
            </a:r>
            <a:endParaRPr b="1" sz="1200">
              <a:solidFill>
                <a:srgbClr val="E74C3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Вы можете использовать 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LIST_HEAD_INIT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чтобы инициализировать переменную типа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struct 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при объявлении: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73A49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struct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200">
                <a:solidFill>
                  <a:srgbClr val="6F42C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200">
                <a:solidFill>
                  <a:srgbClr val="6F42C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my_list</a:t>
            </a:r>
            <a:r>
              <a:rPr lang="ru" sz="1200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= LIST_HEAD_INIT(my_list);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Сам 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LIST_HEAD_INIT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выглядит так: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5CC5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200">
                <a:solidFill>
                  <a:srgbClr val="D73A49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define</a:t>
            </a:r>
            <a:r>
              <a:rPr lang="ru" sz="1200">
                <a:solidFill>
                  <a:srgbClr val="005CC5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LIST_HEAD_INIT(name) { &amp;(name), &amp;(name) }</a:t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Когда вы используете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LIST_HEAD_INIT(name)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макрос создает инициализатор для структуры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который устанавливает указатели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на саму структуру. Это означает, что при инициализации: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указывает на саму структуру (т.е. на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name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также указывает на саму структуру.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51eea13cfa_0_39"/>
          <p:cNvSpPr txBox="1"/>
          <p:nvPr/>
        </p:nvSpPr>
        <p:spPr>
          <a:xfrm>
            <a:off x="436600" y="271622"/>
            <a:ext cx="7701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функции INIT_LIST_HEAD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g351eea13cfa_0_39"/>
          <p:cNvSpPr txBox="1"/>
          <p:nvPr/>
        </p:nvSpPr>
        <p:spPr>
          <a:xfrm>
            <a:off x="404100" y="1512800"/>
            <a:ext cx="8335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Вы можете инициализировать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с помощью функции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INIT_LIST_HEAD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, которая принимает указатель на структуру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&lt;linux/list.h&gt;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init_my_list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INIT_LIST_HEAD(&amp;my_list);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Сама функция выглядит так: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INIT_LIST_HEAD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list_head *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WRITE_ONCE(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-&gt;next, 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WRITE_ONCE(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-&gt;prev, 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51eea13cfa_0_52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Подробности о WRITE_ONCE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g351eea13cfa_0_52"/>
          <p:cNvSpPr txBox="1"/>
          <p:nvPr/>
        </p:nvSpPr>
        <p:spPr>
          <a:xfrm>
            <a:off x="404100" y="1164650"/>
            <a:ext cx="83358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WRITE_ONCE</a:t>
            </a: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макрос, который используется для безопасной записи в переменные, особенно в многопоточных средах. Он гарантирует, что запись будет выполнена только один раз, и предотвращает возможные проблемы с оптимизацией компилятора и кэшированием процессора. Это особенно важно в контексте ядра, где многопоточность и прерывания могут привести к состояниям гонки.</a:t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Если что речь идет o следующих оптимизациях:</a:t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51eea13cfa_0_61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Подробности о WRITE_ONCE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g351eea13cfa_0_61"/>
          <p:cNvSpPr txBox="1"/>
          <p:nvPr/>
        </p:nvSpPr>
        <p:spPr>
          <a:xfrm>
            <a:off x="404100" y="1164650"/>
            <a:ext cx="83358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Переупорядочивание операций:</a:t>
            </a: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Компилятор может изменить порядок выполнения операций для улучшения производительности. Например, если одна операция не зависит от другой, компилятор может выполнить их в любом порядке, что может привести к проблемам в многопоточных приложениях.</a:t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Кэширование значений:</a:t>
            </a: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Компилятор может сохранить значение переменной в регистре, чтобы избежать повторных обращений к памяти. Если значение переменной изменяется в другом потоке, это может привести к тому, что компилятор будет использовать устаревшее значение.</a:t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дальнейшем мы разберем что под капотом у </a:t>
            </a:r>
            <a:r>
              <a:rPr b="1"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WRITE_ONCE</a:t>
            </a:r>
            <a:r>
              <a:rPr lang="ru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51eea13cfa_0_67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в структуре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g351eea13cfa_0_67"/>
          <p:cNvSpPr txBox="1"/>
          <p:nvPr/>
        </p:nvSpPr>
        <p:spPr>
          <a:xfrm>
            <a:off x="404100" y="1013550"/>
            <a:ext cx="83358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вы хотите инициализировать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составе другой структуры, вы можете использовать 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LIST_HEAD_INIT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момент объявления: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&lt;linux/list.h&gt;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Встраиваемый элемент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Инициализация структуры с помощью макроса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my_item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.data = 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LIST_HEAD_INIT(my_item.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1eea13cfa_0_77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в конструкторе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g351eea13cfa_0_77"/>
          <p:cNvSpPr txBox="1"/>
          <p:nvPr/>
        </p:nvSpPr>
        <p:spPr>
          <a:xfrm>
            <a:off x="404100" y="1013550"/>
            <a:ext cx="8335800" cy="3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вы используете динамическое выделение памяти, вы можете инициализировать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после выделения памяти: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&lt;linux/list.h&gt;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&lt;linux/slab.h&gt;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my_data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create_my_data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value)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 kmalloc(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my_data), GFP_KERNEL);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(item)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item-&gt;data = value;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INIT_LIST_HEAD(&amp;item-&gt;</a:t>
            </a:r>
            <a:r>
              <a:rPr lang="ru" sz="900">
                <a:solidFill>
                  <a:srgbClr val="E3620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Инициализация после выделения памяти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item;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51eea13cfa_0_84"/>
          <p:cNvSpPr txBox="1"/>
          <p:nvPr/>
        </p:nvSpPr>
        <p:spPr>
          <a:xfrm>
            <a:off x="436600" y="271622"/>
            <a:ext cx="7701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Инициализация с помощью LIST_HEAD</a:t>
            </a:r>
            <a:endParaRPr b="1" i="0" sz="3800" u="none" cap="none" strike="noStrike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g351eea13cfa_0_84"/>
          <p:cNvSpPr txBox="1"/>
          <p:nvPr/>
        </p:nvSpPr>
        <p:spPr>
          <a:xfrm>
            <a:off x="404100" y="1518900"/>
            <a:ext cx="83358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Можно использовать 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&lt;linux/list.h&gt;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&lt;linux/slab.h&gt;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&lt;linux/init.h&gt;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&lt;linux/module.h&gt;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my_data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data;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Встраиваемый элемент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Инициализация списка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LIST_HEAD(my_list);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контекста и требований вашего кода, вы можете выбрать любой из этих способов инициализации list_head. Использование макросов и функций, предоставляемых ядром, позволяет избежать ошибок и упрощает работу с двусвязными списками.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51eea13cfa_0_92"/>
          <p:cNvSpPr txBox="1"/>
          <p:nvPr/>
        </p:nvSpPr>
        <p:spPr>
          <a:xfrm>
            <a:off x="436600" y="271622"/>
            <a:ext cx="7701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Вспомогательные функции для списков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g351eea13cfa_0_92"/>
          <p:cNvSpPr txBox="1"/>
          <p:nvPr/>
        </p:nvSpPr>
        <p:spPr>
          <a:xfrm>
            <a:off x="404100" y="1629875"/>
            <a:ext cx="833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Рассмотрим список функций, которые позволят лучше понять сущность связного списка в ядре Linux.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51eea13cfa_0_99"/>
          <p:cNvSpPr txBox="1"/>
          <p:nvPr/>
        </p:nvSpPr>
        <p:spPr>
          <a:xfrm>
            <a:off x="185700" y="243525"/>
            <a:ext cx="87726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list_is_first -- tests whether @list is the first entry in list @head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@list: the entry to test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@head: the head of the list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list_is_first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*head)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-&gt;prev == head;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list_is_last - tests whether @list is the last entry in list @head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@list: the entry to test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@head: the head of the list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list_is_last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*head)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-&gt;next == head;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list_is_head - tests whether @list is the list @head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@list: the entry to test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@head: the head of the list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list_is_head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*head)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E36209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== head;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51eea13cfa_0_107"/>
          <p:cNvSpPr txBox="1"/>
          <p:nvPr/>
        </p:nvSpPr>
        <p:spPr>
          <a:xfrm>
            <a:off x="185700" y="243525"/>
            <a:ext cx="877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list_empty - tests whether a list is empty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@head: the list to test.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list_empty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*head)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READ_ONCE(head-&gt;next) == head;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1eea13cfa_0_112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Описание функций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g351eea13cfa_0_112"/>
          <p:cNvSpPr txBox="1"/>
          <p:nvPr/>
        </p:nvSpPr>
        <p:spPr>
          <a:xfrm>
            <a:off x="315550" y="1227150"/>
            <a:ext cx="83358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list_is_first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list-&gt;prev — это указатель на предыдущий элемент в списке. Если list-&gt;prev указывает на head, это значит, что list — это первый элемент в списке.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list_is_last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list-&gt;next — это указатель на следующий элемент в списке. Если list-&gt;next указывает на head, это значит, что list — это последний элемент в списке.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list_is_head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Думаю комментарии здесь не нужны.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51eea13cfa_0_118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Описание функций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g351eea13cfa_0_118"/>
          <p:cNvSpPr txBox="1"/>
          <p:nvPr/>
        </p:nvSpPr>
        <p:spPr>
          <a:xfrm>
            <a:off x="436600" y="1249675"/>
            <a:ext cx="8335800" cy="20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list_empty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указывает на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это значит, что в списке нет других элементов, кроме головы. То есть список пуст.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3636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READ_ONCE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макрос, который используется для безопасного чтения переменных в многопоточных средах. Он обеспечивает несколько важных вещей: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51eea13cfa_0_124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READ_ONCE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g351eea13cfa_0_124"/>
          <p:cNvSpPr txBox="1"/>
          <p:nvPr/>
        </p:nvSpPr>
        <p:spPr>
          <a:xfrm>
            <a:off x="436600" y="1075975"/>
            <a:ext cx="8335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Однократное чтение: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READ_ONCE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гарантирует, что значение переменной будет прочитано только один раз. Это предотвращает ситуации, когда компилятор или процессор могут оптимизировать код так, что значение будет считано несколько раз, что может привести к неправильному поведению.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Синхронизация: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 многопоточных приложениях, где несколько потоков могут одновременно читать и записывать одни и те же переменные, READ_ONCE помогает избежать проблем с кэшированием. Он гарантирует, что вы получите актуальное значение переменной, а не устаревшее значение, которое может быть сохранено в кэше процессора.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Предотвращение оптимизаций: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Компиляторы могут оптимизировать код, предполагая, что переменные не изменяются, если они не помечены как изменяемые. READ_ONCE предотвращает такие оптимизации, что особенно важно в контексте многопоточных программ.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51eea13cfa_0_130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Обход списка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351eea13cfa_0_130"/>
          <p:cNvSpPr txBox="1"/>
          <p:nvPr/>
        </p:nvSpPr>
        <p:spPr>
          <a:xfrm>
            <a:off x="436600" y="1011000"/>
            <a:ext cx="77010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Обойти список можно используя 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list_for_each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посмотрим его реализацию: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list_for_each    -   iterate over a list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@pos:    the &amp;struct list_head to use as a loop cursor.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@head:   the head for your list.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list_for_each(pos, head)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for (pos = (head)-&gt;next; !list_is_head(pos, (head)); pos = pos-&gt;next)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51eea13cfa_0_142"/>
          <p:cNvSpPr txBox="1"/>
          <p:nvPr/>
        </p:nvSpPr>
        <p:spPr>
          <a:xfrm>
            <a:off x="436600" y="271622"/>
            <a:ext cx="7701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g351eea13cfa_0_142"/>
          <p:cNvSpPr txBox="1"/>
          <p:nvPr/>
        </p:nvSpPr>
        <p:spPr>
          <a:xfrm>
            <a:off x="436600" y="1080800"/>
            <a:ext cx="83358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Параметры: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это указатель, который будет использоваться для перебора элементов списка. Он будет указывать на текущий элемент, который мы рассматриваем.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это указатель на голову списка, который указывает на первый элемент списка.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Инициализация: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 = (head)-&gt;next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мы начинаем с первого элемента списка, который находится сразу после головы. Это означает, что мы не рассматриваем саму голову списка, а начинаем с первого реального элемента.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Условие цикла: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!list_is_head(pos, (head))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цикл продолжается, пока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не указывает обратно на голову списка. Это означает, что мы продолжаем перебор, пока не вернемся к началу.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Переход к следующему элементу: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 = pos-&gt;next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после каждой итерации мы перемещаемся к следующему элементу списка.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51eea13cfa_0_153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Другой способ обхода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g351eea13cfa_0_153"/>
          <p:cNvSpPr txBox="1"/>
          <p:nvPr/>
        </p:nvSpPr>
        <p:spPr>
          <a:xfrm>
            <a:off x="436600" y="1080800"/>
            <a:ext cx="82059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list_for_each_entry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позволяет нам пройтись по всем элементам в двусвязном списке и работать с данными, которые находятся в этих элементах. Он делает это с помощью цикла, который перебирает каждый узел в списке, начиная с первого элемента после головы списка.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Чтобы понять как работает этот макрос разберем вспомогательные функции.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list_entry - get the struct for this entry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@ptr:    the &amp;struct list_head pointer.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@type:   the type of the struct this is embedded in.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@member: the name of the list_head within the struct.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list_entry(ptr, type, member)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container_of(ptr, type, member)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Макрос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list_entry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позволяет получить указатель на структуру, в которой находится указатель на элемент списка (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struct list_head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 Это полезно, когда вы перебираете элементы списка и хотите получить доступ к данным, которые находятся в этих элементах.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51eea13cfa_0_162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g351eea13cfa_0_162"/>
          <p:cNvSpPr txBox="1"/>
          <p:nvPr/>
        </p:nvSpPr>
        <p:spPr>
          <a:xfrm>
            <a:off x="436600" y="1075975"/>
            <a:ext cx="8137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Параметры макроса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ptr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это указатель на элемент списка, который является частью структуры list_head. Обычно это next или prev указатель, который указывает на следующий или предыдущий элемент в списке.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type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это тип структуры, в которой находится элемент списка. Например, если у вас есть структура my_data, которая содержит поле list, то type будет struct my_data.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member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это имя поля list_head внутри структуры.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51eea13cfa_0_174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g351eea13cfa_0_174"/>
          <p:cNvSpPr txBox="1"/>
          <p:nvPr/>
        </p:nvSpPr>
        <p:spPr>
          <a:xfrm>
            <a:off x="446850" y="897450"/>
            <a:ext cx="8250300" cy="3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Использование container_of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Макрос list_entry использует функцию container_of, чтобы вычислить адрес структуры, в которой находится указатель ptr. Это делается с помощью арифметики указателей.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Арифметика указателей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container_of принимает указатель на член структуры и возвращает указатель на саму структуру. Это достигается путем вычитания смещения члена из адреса члена.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Этот макрос известный трюк среди ядерных разработчиков.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container_of - cast a member of a structure out to the containing structure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@ptr:    the pointer to the member.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@type:   the type of the container struct this is embedded in.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@member: the name of the member within the struct.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container_of(ptr, type, member) ({  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void *__mptr = (void *)(ptr);       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static_assert(__same_type(*(ptr), ((type *)0)-&gt;member) ||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__same_type(*(ptr), void),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"pointer type mismatch in container_of()"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((type *)(__mptr - offsetof(type, member))); })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51eea13cfa_0_182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Что делает макрос container_of?</a:t>
            </a: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g351eea13cfa_0_182"/>
          <p:cNvSpPr txBox="1"/>
          <p:nvPr/>
        </p:nvSpPr>
        <p:spPr>
          <a:xfrm>
            <a:off x="436600" y="1080800"/>
            <a:ext cx="81375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Макрос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container_of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позволяет вам получить указатель на структуру, в которой находится указатель на её член. Это полезно, когда вы имеете указатель на член структуры и хотите получить доступ к самой структуре.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Определение макроса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Вот как выглядит макрос: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container_of(ptr, type, member) ({  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void *__mptr = (void *)(ptr);       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static_assert(__same_type(*(ptr), ((type *)0)-&gt;member) ||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__same_type(*(ptr), void),         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"pointer type mismatch in container_of()"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  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((type *)(__mptr - offsetof(type, member))); })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51eea13cfa_0_194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</a:t>
            </a: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g351eea13cfa_0_194"/>
          <p:cNvSpPr txBox="1"/>
          <p:nvPr/>
        </p:nvSpPr>
        <p:spPr>
          <a:xfrm>
            <a:off x="436600" y="1085625"/>
            <a:ext cx="8137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Параметры макроса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указатель на член структуры, который вы хотите использовать для получения указателя на содержащую структуру.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тип структуры, в которой находится член. Это позволяет макросу знать, к какому типу нужно привести указатель.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member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имя члена структуры, который указывает на нужный элемент.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51eea13cfa_0_203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g351eea13cfa_0_203"/>
          <p:cNvSpPr txBox="1"/>
          <p:nvPr/>
        </p:nvSpPr>
        <p:spPr>
          <a:xfrm>
            <a:off x="436600" y="1075975"/>
            <a:ext cx="77010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Приведение указателя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*__mptr = (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*)(ptr);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Здесь мы приводим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к типу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 *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 Это делается для того, чтобы мы могли выполнять арифметику указателей, не заботясь о конкретном типе.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Проверка типов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static_assert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(__same_type(*(ptr), ((type *)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)-&gt;member) || __same_type(*(ptr),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ru" sz="900">
                <a:solidFill>
                  <a:srgbClr val="032F62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"pointer type mismatch in container_of()"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Эта строка использует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static_assert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для проверки, что тип, на который указывает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, соответствует типу члена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member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в структуре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 Если типы не совпадают, компилятор выдаст ошибку. Это помогает избежать ошибок, связанных с неправильным использованием макроса.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51eea13cfa_0_211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351eea13cfa_0_211"/>
          <p:cNvSpPr txBox="1"/>
          <p:nvPr/>
        </p:nvSpPr>
        <p:spPr>
          <a:xfrm>
            <a:off x="436600" y="989125"/>
            <a:ext cx="81375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Вычисление адреса структуры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((type *)(__mptr - offsetof(type, member)));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Здесь мы вычитаем смещение члена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member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от указателя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__mptr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offsetof(type, member)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это макрос, который возвращает смещение (в байтах) члена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member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относительно начала структуры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type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 Это позволяет нам вычислить, где начинается структура, зная адрес её члена.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Мы вычитаем это смещение из указателя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__mptr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 чтобы получить адрес начала структуры.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Приведение к нужному типу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(type *)(...)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В конце мы приводим результат к указателю на нужный тип структуры. 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Теперь когда мы знаем о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list_for_each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list_entry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можем рассмотреть </a:t>
            </a:r>
            <a:r>
              <a:rPr lang="ru" sz="11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list_for_each_entry</a:t>
            </a:r>
            <a:r>
              <a:rPr lang="ru" sz="11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51eea13cfa_0_220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list_for_each_entry</a:t>
            </a: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g351eea13cfa_0_220"/>
          <p:cNvSpPr txBox="1"/>
          <p:nvPr/>
        </p:nvSpPr>
        <p:spPr>
          <a:xfrm>
            <a:off x="436600" y="907675"/>
            <a:ext cx="8772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list_next_entry(pos, member)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list_entry((pos)-&gt;member.next, typeof(*(pos)), member)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list_entry_is_head(pos, head, member)              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(&amp;pos-&gt;member == (head))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list_first_entry - get the first element from a list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@ptr:    the list head to take the element from.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@type:   the type of the struct this is embedded in.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@member: the name of the list_head within the struct.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Note, that list is expected to be not empty.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list_first_entry(ptr, type, member)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list_entry((ptr)-&gt;next, type, member)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list_for_each_entry  -   iterate over list of given type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@pos:    the type * to use as a loop cursor.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@head:   the head for your list.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 @member: the name of the list_head within the struct.</a:t>
            </a:r>
            <a:endParaRPr sz="900">
              <a:solidFill>
                <a:srgbClr val="6A737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list_for_each_entry(pos, head, member)             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for (pos = list_first_entry(head, typeof(*pos), member);   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 !list_entry_is_head(pos, head, member);            \</a:t>
            </a:r>
            <a:endParaRPr sz="900">
              <a:solidFill>
                <a:srgbClr val="005CC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latin typeface="Courier New"/>
                <a:ea typeface="Courier New"/>
                <a:cs typeface="Courier New"/>
                <a:sym typeface="Courier New"/>
              </a:rPr>
              <a:t>         pos = list_next_entry(pos, member))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51eea13cfa_0_231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</a:t>
            </a: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g351eea13cfa_0_231"/>
          <p:cNvSpPr txBox="1"/>
          <p:nvPr/>
        </p:nvSpPr>
        <p:spPr>
          <a:xfrm>
            <a:off x="436600" y="1085625"/>
            <a:ext cx="81375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Инициализация: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pos = list_first_entry(head, typeof(*pos), member): мы начинаем с первого элемента списка, используя макрос list_first_entry.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Условие цикла: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!list_entry_is_head(pos, head, member): цикл продолжается, пока pos не указывает на голову списка. Это означает, что мы продолжаем перебор, пока не вернемся к началу.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Переход к следующему элементу: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pos = list_next_entry(pos, member): после каждой итерации мы перемещаемся к следующему элементу списка, используя макрос list_next_entry.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51eea13cfa_0_241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Еще один вариант обхода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g351eea13cfa_0_241"/>
          <p:cNvSpPr txBox="1"/>
          <p:nvPr/>
        </p:nvSpPr>
        <p:spPr>
          <a:xfrm>
            <a:off x="436600" y="991225"/>
            <a:ext cx="77010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Еще один вариант обхода, допустим когда в цикле мы удаляем элементы списка. Нам понадобится макрос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list_for_each_safe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и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list_for_each_entry_safe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/**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list_for_each_safe - iterate over a list safe against removal of list entry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@pos:    the &amp;struct list_head to use as a loop cursor.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@n:      another &amp;struct list_head to use as temporary storage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 @head:   the head for your list.</a:t>
            </a:r>
            <a:endParaRPr sz="900">
              <a:solidFill>
                <a:srgbClr val="6A737D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list_for_each_safe(pos, n, head)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for (pos = (head)-&gt;next, n = pos-&gt;next;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!list_is_head(pos, (head)); \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005CC5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pos = n, n = pos-&gt;next)</a:t>
            </a:r>
            <a:endParaRPr sz="900">
              <a:solidFill>
                <a:srgbClr val="005CC5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51eea13cfa_0_255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g351eea13cfa_0_255"/>
          <p:cNvSpPr txBox="1"/>
          <p:nvPr/>
        </p:nvSpPr>
        <p:spPr>
          <a:xfrm>
            <a:off x="436600" y="1085625"/>
            <a:ext cx="7701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Параметры макроса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указатель на текущий элемент списка, который будет использоваться в качестве курсора для итерации. n: временный указатель, который будет использоваться для хранения следующего элемента. Это позволяет избежать потери ссылки на следующий элемент при удалении текущего элемента.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указатель на голову списка, который указывает на первый элемент списка.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51eea13cfa_0_262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макрос?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g351eea13cfa_0_262"/>
          <p:cNvSpPr txBox="1"/>
          <p:nvPr/>
        </p:nvSpPr>
        <p:spPr>
          <a:xfrm>
            <a:off x="436600" y="1085625"/>
            <a:ext cx="77010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Инициализация: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 = (head)-&gt;next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мы начинаем с первого элемента списка, который находится сразу после головы.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 = pos-&gt;next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мы также инициализируем временный указатель n, чтобы он указывал на следующий элемент после pos. Это важно, потому что мы будем изменять pos в процессе итерации. Условие цикла: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!list_is_head(pos, (head))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цикл продолжается, пока pos не указывает обратно на голову списка. Это означает, что мы продолжаем перебор, пока не вернемся к началу. Переход к следующему элементу: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 = n, n = pos-&gt;next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после каждой итерации мы перемещаемся к следующему элементу. Мы сначала присваиваем pos значение n, а затем обновляем n, чтобы он указывал на следующий элемент после нового pos.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51eea13cfa_0_268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Добавление элемента в список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g351eea13cfa_0_268"/>
          <p:cNvSpPr txBox="1"/>
          <p:nvPr/>
        </p:nvSpPr>
        <p:spPr>
          <a:xfrm>
            <a:off x="436600" y="1071825"/>
            <a:ext cx="7701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Давайте подробно разберем функции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__list_add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list_add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которые используются для добавления новых элементов в двусвязный список. Мы объясним, как они работают, какие параметры принимают и как они взаимодействуют друг с другом.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g351eea13cfa_0_268"/>
          <p:cNvSpPr txBox="1"/>
          <p:nvPr/>
        </p:nvSpPr>
        <p:spPr>
          <a:xfrm>
            <a:off x="436600" y="2042575"/>
            <a:ext cx="81375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__list_add(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list_head *new,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list_head *prev,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list_head *next)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(!__list_add_valid(new, prev, next))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next-&gt;prev = new;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new-&gt;next = next;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new-&gt;prev = prev;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WRITE_ONCE(prev-&gt;next, new);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inline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latin typeface="Courier New"/>
                <a:ea typeface="Courier New"/>
                <a:cs typeface="Courier New"/>
                <a:sym typeface="Courier New"/>
              </a:rPr>
              <a:t>list_add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*new, </a:t>
            </a:r>
            <a:r>
              <a:rPr lang="ru" sz="900">
                <a:solidFill>
                  <a:srgbClr val="D73A49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list_head *head)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__list_add(new, head, head-&gt;next);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51eea13cfa_0_279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Функция __list_add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g351eea13cfa_0_279"/>
          <p:cNvSpPr txBox="1"/>
          <p:nvPr/>
        </p:nvSpPr>
        <p:spPr>
          <a:xfrm>
            <a:off x="436600" y="1085625"/>
            <a:ext cx="7701000" cy="1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Что делает эта функция?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Функция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__list_add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вставляет новый элемент (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new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 между двумя известными последовательными элементами списка (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). Это функция низкого уровня, предназначенная для внутреннего манипулирования списком, когда мы уже знаем, какие элементы находятся перед и после вставляемого.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51eea13cfa_0_288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функция?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g351eea13cfa_0_288"/>
          <p:cNvSpPr txBox="1"/>
          <p:nvPr/>
        </p:nvSpPr>
        <p:spPr>
          <a:xfrm>
            <a:off x="436600" y="1080800"/>
            <a:ext cx="77010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Проверка валидности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(!__list_add_valid(new, prev, next))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Здесь вызывается функция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__list_add_valid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, которая проверяет, допустимо ли добавление нового элемента. Если добавление недопустимо, функция просто возвращает управление.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Обновление указателей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next-&gt;prev = new;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мы устанавливаем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следующего элемента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 на новый элемент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new-&gt;next = next;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мы устанавливаем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нового элемента на следующий элемент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new-&gt;prev = prev;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 мы устанавливаем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нового элемента на предыдущий элемент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).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51eea13cfa_0_298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Как работает функция?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g351eea13cfa_0_298"/>
          <p:cNvSpPr txBox="1"/>
          <p:nvPr/>
        </p:nvSpPr>
        <p:spPr>
          <a:xfrm>
            <a:off x="436600" y="1075975"/>
            <a:ext cx="7701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</a:rPr>
              <a:t>Обновление указателя предыдущего элемента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:</a:t>
            </a:r>
            <a:endParaRPr sz="1200">
              <a:solidFill>
                <a:srgbClr val="404040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WRITE_ONCE(prev-&gt;next, new);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Здесь мы обновляем указатель 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 предыдущего элемента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prev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), чтобы он указывал на новый элемент (</a:t>
            </a:r>
            <a:r>
              <a:rPr lang="ru" sz="900">
                <a:solidFill>
                  <a:srgbClr val="E74C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</a:rPr>
              <a:t>).</a:t>
            </a:r>
            <a:endParaRPr b="1" sz="1200">
              <a:solidFill>
                <a:srgbClr val="404040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g35dd5776d5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950" y="486300"/>
            <a:ext cx="6748375" cy="39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4b67fcee58_0_468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Примеры из ядра Linux.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4" name="Google Shape;794;g34b67fcee58_0_468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51eea13cfa_0_309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Структура task_struct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g351eea13cfa_0_309"/>
          <p:cNvSpPr txBox="1"/>
          <p:nvPr/>
        </p:nvSpPr>
        <p:spPr>
          <a:xfrm>
            <a:off x="436600" y="1080800"/>
            <a:ext cx="81375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task_struct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— это структура, представляющая процесс в ядре Linux. Она содержит всю информацию о процессе, включая его состояние, идентификатор, приоритет и другие параметры.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связных списков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В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task_struct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используется связный список для управления задачами в системе. Каждый процесс может быть частью различных списков, таких как список всех процессов, список процессов в состоянии ожидания и т.д.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task_struct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tasks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Связный список всех задач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51eea13cfa_0_319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Структура file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g351eea13cfa_0_319"/>
          <p:cNvSpPr txBox="1"/>
          <p:nvPr/>
        </p:nvSpPr>
        <p:spPr>
          <a:xfrm>
            <a:off x="436600" y="1080800"/>
            <a:ext cx="81375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Структура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представляет открытый файл в ядре. Она содержит информацию о файле, включая его дескриптор, указатель на структуру inode и другие параметры. </a:t>
            </a: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связных списков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используются для управления открытыми файлами в системе. Каждый процесс имеет свой список открытых файлов.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f_list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Связный список открытых файлов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51eea13cfa_0_326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Структура dentry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g351eea13cfa_0_326"/>
          <p:cNvSpPr txBox="1"/>
          <p:nvPr/>
        </p:nvSpPr>
        <p:spPr>
          <a:xfrm>
            <a:off x="436600" y="1080800"/>
            <a:ext cx="81375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dentry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(directory entry) представляет собой запись в файловой системе, которая связывает имя файла с его соответствующим inode.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связных списков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используются для управления кэшированными записями в файловой системе, что позволяет быстро находить и обрабатывать файлы.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dentry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d_lru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Связный список для кэширования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51eea13cfa_0_333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Структура net_device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g351eea13cfa_0_333"/>
          <p:cNvSpPr txBox="1"/>
          <p:nvPr/>
        </p:nvSpPr>
        <p:spPr>
          <a:xfrm>
            <a:off x="436600" y="1085625"/>
            <a:ext cx="81375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net_device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представляет сетевое устройство в ядре. Она содержит информацию о сетевом интерфейсе, такую как его состояние, параметры и статистику.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связных списков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используются для управления всеми сетевыми устройствами в системе, что позволяет легко добавлять и удалять устройства.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net_device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dev_list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Связный список сетевых устройств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51eea13cfa_0_341"/>
          <p:cNvSpPr txBox="1"/>
          <p:nvPr/>
        </p:nvSpPr>
        <p:spPr>
          <a:xfrm>
            <a:off x="436600" y="271622"/>
            <a:ext cx="770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5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Структура module</a:t>
            </a:r>
            <a:endParaRPr b="1" sz="35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g351eea13cfa_0_341"/>
          <p:cNvSpPr txBox="1"/>
          <p:nvPr/>
        </p:nvSpPr>
        <p:spPr>
          <a:xfrm>
            <a:off x="436600" y="1080800"/>
            <a:ext cx="81375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Структура </a:t>
            </a:r>
            <a:r>
              <a:rPr lang="ru" sz="1200">
                <a:solidFill>
                  <a:srgbClr val="E74C3C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module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 представляет собой загруженный модуль ядра. Она содержит информацию о модуле, такую как его имя, адрес и зависимости.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Использование связных списков</a:t>
            </a:r>
            <a:r>
              <a:rPr lang="ru" sz="1200">
                <a:solidFill>
                  <a:srgbClr val="404040"/>
                </a:solidFill>
                <a:highlight>
                  <a:srgbClr val="FCFCFC"/>
                </a:highlight>
                <a:latin typeface="Roboto"/>
                <a:ea typeface="Roboto"/>
                <a:cs typeface="Roboto"/>
                <a:sym typeface="Roboto"/>
              </a:rPr>
              <a:t>: Связные списки используются для управления загруженными модулями, что позволяет ядру отслеживать и управлять модулями.</a:t>
            </a:r>
            <a:endParaRPr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900">
                <a:solidFill>
                  <a:srgbClr val="D73A49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list_head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6F42C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737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// Связный список загруженных модулей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04040"/>
              </a:solidFill>
              <a:highlight>
                <a:srgbClr val="FCFC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5da92cf647_0_98"/>
          <p:cNvSpPr txBox="1"/>
          <p:nvPr>
            <p:ph type="title"/>
          </p:nvPr>
        </p:nvSpPr>
        <p:spPr>
          <a:xfrm>
            <a:off x="421350" y="1753674"/>
            <a:ext cx="85206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Вопросы (по лекции)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30" name="Google Shape;830;g35da92cf647_0_98"/>
          <p:cNvGrpSpPr/>
          <p:nvPr/>
        </p:nvGrpSpPr>
        <p:grpSpPr>
          <a:xfrm>
            <a:off x="710075" y="3061974"/>
            <a:ext cx="6370821" cy="415500"/>
            <a:chOff x="841300" y="3930749"/>
            <a:chExt cx="6370821" cy="415500"/>
          </a:xfrm>
        </p:grpSpPr>
        <p:sp>
          <p:nvSpPr>
            <p:cNvPr id="831" name="Google Shape;831;g35da92cf647_0_98"/>
            <p:cNvSpPr txBox="1"/>
            <p:nvPr/>
          </p:nvSpPr>
          <p:spPr>
            <a:xfrm>
              <a:off x="1345921" y="3930749"/>
              <a:ext cx="1927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есть вопросы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2" name="Google Shape;832;g35da92cf647_0_98"/>
            <p:cNvSpPr txBox="1"/>
            <p:nvPr/>
          </p:nvSpPr>
          <p:spPr>
            <a:xfrm>
              <a:off x="5066221" y="3930749"/>
              <a:ext cx="214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5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если вопросов нет</a:t>
              </a:r>
              <a:endPara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33" name="Google Shape;833;g35da92cf647_0_98"/>
            <p:cNvPicPr preferRelativeResize="0"/>
            <p:nvPr/>
          </p:nvPicPr>
          <p:blipFill rotWithShape="1">
            <a:blip r:embed="rId3">
              <a:alphaModFix/>
            </a:blip>
            <a:srcRect b="33888" l="0" r="0" t="0"/>
            <a:stretch/>
          </p:blipFill>
          <p:spPr>
            <a:xfrm>
              <a:off x="841300" y="3971694"/>
              <a:ext cx="504637" cy="33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4" name="Google Shape;834;g35da92cf647_0_98"/>
            <p:cNvPicPr preferRelativeResize="0"/>
            <p:nvPr/>
          </p:nvPicPr>
          <p:blipFill rotWithShape="1">
            <a:blip r:embed="rId3">
              <a:alphaModFix/>
            </a:blip>
            <a:srcRect b="15479" l="0" r="0" t="60251"/>
            <a:stretch/>
          </p:blipFill>
          <p:spPr>
            <a:xfrm>
              <a:off x="4561600" y="4077275"/>
              <a:ext cx="504625" cy="122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5" name="Google Shape;835;g35da92cf647_0_98"/>
          <p:cNvPicPr preferRelativeResize="0"/>
          <p:nvPr/>
        </p:nvPicPr>
        <p:blipFill rotWithShape="1">
          <a:blip r:embed="rId4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83"/>
          <p:cNvSpPr txBox="1"/>
          <p:nvPr>
            <p:ph type="title"/>
          </p:nvPr>
        </p:nvSpPr>
        <p:spPr>
          <a:xfrm>
            <a:off x="457775" y="1474899"/>
            <a:ext cx="8520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Подведём 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итоги занятия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1" name="Google Shape;841;p83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0"/>
          <p:cNvSpPr txBox="1"/>
          <p:nvPr>
            <p:ph type="title"/>
          </p:nvPr>
        </p:nvSpPr>
        <p:spPr>
          <a:xfrm>
            <a:off x="556300" y="1539975"/>
            <a:ext cx="7379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Заполните, пожалуйста,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опрос о занятии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7" name="Google Shape;847;p90"/>
          <p:cNvPicPr preferRelativeResize="0"/>
          <p:nvPr/>
        </p:nvPicPr>
        <p:blipFill rotWithShape="1">
          <a:blip r:embed="rId3">
            <a:alphaModFix/>
          </a:blip>
          <a:srcRect b="61754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90"/>
          <p:cNvSpPr txBox="1"/>
          <p:nvPr/>
        </p:nvSpPr>
        <p:spPr>
          <a:xfrm>
            <a:off x="556300" y="3802175"/>
            <a:ext cx="5387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 читаем все ваши сообщения </a:t>
            </a:r>
            <a:endParaRPr b="0" i="0" sz="23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ru" sz="2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берем их в работу </a:t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49" name="Google Shape;84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529" y="4321879"/>
            <a:ext cx="240425" cy="24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91" title="ролик_об_отусе_bl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5da92cf647_0_153"/>
          <p:cNvSpPr txBox="1"/>
          <p:nvPr>
            <p:ph type="title"/>
          </p:nvPr>
        </p:nvSpPr>
        <p:spPr>
          <a:xfrm>
            <a:off x="521925" y="1710174"/>
            <a:ext cx="852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>
                <a:solidFill>
                  <a:schemeClr val="lt1"/>
                </a:solidFill>
              </a:rPr>
              <a:t>обсуждаем Off-topic</a:t>
            </a:r>
            <a:endParaRPr sz="40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0" name="Google Shape;860;g35da92cf647_0_153"/>
          <p:cNvPicPr preferRelativeResize="0"/>
          <p:nvPr/>
        </p:nvPicPr>
        <p:blipFill rotWithShape="1">
          <a:blip r:embed="rId3">
            <a:alphaModFix/>
          </a:blip>
          <a:srcRect b="61753" l="0" r="0" t="37151"/>
          <a:stretch/>
        </p:blipFill>
        <p:spPr>
          <a:xfrm>
            <a:off x="0" y="3600500"/>
            <a:ext cx="9181975" cy="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g35da92cf647_0_153"/>
          <p:cNvSpPr txBox="1"/>
          <p:nvPr>
            <p:ph type="title"/>
          </p:nvPr>
        </p:nvSpPr>
        <p:spPr>
          <a:xfrm>
            <a:off x="251925" y="4016199"/>
            <a:ext cx="852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u" sz="2900">
                <a:solidFill>
                  <a:schemeClr val="lt1"/>
                </a:solidFill>
              </a:rPr>
              <a:t>*Время отключить запись</a:t>
            </a:r>
            <a:endParaRPr sz="12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2AB7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
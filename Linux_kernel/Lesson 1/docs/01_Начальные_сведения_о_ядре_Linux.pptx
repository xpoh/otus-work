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5" r:id="rId7"/>
    <p:sldMasterId id="2147483677" r:id="rId8"/>
    <p:sldMasterId id="2147483693" r:id="rId9"/>
    <p:sldMasterId id="2147483709" r:id="rId10"/>
    <p:sldMasterId id="214748372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</p:sldIdLst>
  <p:sldSz cy="5143500" cx="9144000"/>
  <p:notesSz cx="6858000" cy="9144000"/>
  <p:embeddedFontLst>
    <p:embeddedFont>
      <p:font typeface="Roboto Black"/>
      <p:bold r:id="rId93"/>
      <p:boldItalic r:id="rId94"/>
    </p:embeddedFont>
    <p:embeddedFont>
      <p:font typeface="Roboto"/>
      <p:regular r:id="rId95"/>
      <p:bold r:id="rId96"/>
      <p:italic r:id="rId97"/>
      <p:boldItalic r:id="rId98"/>
    </p:embeddedFont>
    <p:embeddedFont>
      <p:font typeface="Roboto Medium"/>
      <p:regular r:id="rId99"/>
      <p:bold r:id="rId100"/>
      <p:italic r:id="rId101"/>
      <p:boldItalic r:id="rId102"/>
    </p:embeddedFont>
    <p:embeddedFont>
      <p:font typeface="Roboto Mono"/>
      <p:regular r:id="rId103"/>
      <p:bold r:id="rId104"/>
      <p:italic r:id="rId105"/>
      <p:boldItalic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179">
          <p15:clr>
            <a:srgbClr val="9AA0A6"/>
          </p15:clr>
        </p15:guide>
        <p15:guide id="4" orient="horz" pos="1644">
          <p15:clr>
            <a:srgbClr val="747775"/>
          </p15:clr>
        </p15:guide>
        <p15:guide id="5" orient="horz" pos="685">
          <p15:clr>
            <a:srgbClr val="747775"/>
          </p15:clr>
        </p15:guide>
        <p15:guide id="6" orient="horz" pos="2494">
          <p15:clr>
            <a:srgbClr val="747775"/>
          </p15:clr>
        </p15:guide>
        <p15:guide id="7" orient="horz" pos="510">
          <p15:clr>
            <a:srgbClr val="747775"/>
          </p15:clr>
        </p15:guide>
        <p15:guide id="8" orient="horz" pos="737">
          <p15:clr>
            <a:srgbClr val="747775"/>
          </p15:clr>
        </p15:guide>
        <p15:guide id="9" pos="493">
          <p15:clr>
            <a:srgbClr val="747775"/>
          </p15:clr>
        </p15:guide>
      </p15:sldGuideLst>
    </p:ext>
    <p:ext uri="GoogleSlidesCustomDataVersion2">
      <go:slidesCustomData xmlns:go="http://customooxmlschemas.google.com/" r:id="rId107" roundtripDataSignature="AMtx7mj3vxjOfyAtIsaYuHOrmZYUFzgGn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lina Zaitsev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9293F7-E941-4854-ACA0-4D19E8A5E6C3}">
  <a:tblStyle styleId="{309293F7-E941-4854-ACA0-4D19E8A5E6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179" orient="horz"/>
        <p:guide pos="1644" orient="horz"/>
        <p:guide pos="685" orient="horz"/>
        <p:guide pos="2494" orient="horz"/>
        <p:guide pos="510" orient="horz"/>
        <p:guide pos="737" orient="horz"/>
        <p:guide pos="49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107" Type="http://customschemas.google.com/relationships/presentationmetadata" Target="metadata"/><Relationship Id="rId106" Type="http://schemas.openxmlformats.org/officeDocument/2006/relationships/font" Target="fonts/RobotoMono-boldItalic.fntdata"/><Relationship Id="rId105" Type="http://schemas.openxmlformats.org/officeDocument/2006/relationships/font" Target="fonts/RobotoMono-italic.fntdata"/><Relationship Id="rId104" Type="http://schemas.openxmlformats.org/officeDocument/2006/relationships/font" Target="fonts/RobotoMono-bold.fntdata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9" Type="http://schemas.openxmlformats.org/officeDocument/2006/relationships/slide" Target="slides/slide37.xml"/><Relationship Id="rId103" Type="http://schemas.openxmlformats.org/officeDocument/2006/relationships/font" Target="fonts/RobotoMono-regular.fntdata"/><Relationship Id="rId102" Type="http://schemas.openxmlformats.org/officeDocument/2006/relationships/font" Target="fonts/RobotoMedium-boldItalic.fntdata"/><Relationship Id="rId101" Type="http://schemas.openxmlformats.org/officeDocument/2006/relationships/font" Target="fonts/RobotoMedium-italic.fntdata"/><Relationship Id="rId100" Type="http://schemas.openxmlformats.org/officeDocument/2006/relationships/font" Target="fonts/RobotoMedium-bold.fntdata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9" Type="http://schemas.openxmlformats.org/officeDocument/2006/relationships/slide" Target="slides/slide17.xml"/><Relationship Id="rId95" Type="http://schemas.openxmlformats.org/officeDocument/2006/relationships/font" Target="fonts/Roboto-regular.fntdata"/><Relationship Id="rId94" Type="http://schemas.openxmlformats.org/officeDocument/2006/relationships/font" Target="fonts/RobotoBlack-boldItalic.fntdata"/><Relationship Id="rId97" Type="http://schemas.openxmlformats.org/officeDocument/2006/relationships/font" Target="fonts/Roboto-italic.fntdata"/><Relationship Id="rId96" Type="http://schemas.openxmlformats.org/officeDocument/2006/relationships/font" Target="fonts/Roboto-bold.fntdata"/><Relationship Id="rId11" Type="http://schemas.openxmlformats.org/officeDocument/2006/relationships/slideMaster" Target="slideMasters/slideMaster6.xml"/><Relationship Id="rId99" Type="http://schemas.openxmlformats.org/officeDocument/2006/relationships/font" Target="fonts/RobotoMedium-regular.fntdata"/><Relationship Id="rId10" Type="http://schemas.openxmlformats.org/officeDocument/2006/relationships/slideMaster" Target="slideMasters/slideMaster5.xml"/><Relationship Id="rId98" Type="http://schemas.openxmlformats.org/officeDocument/2006/relationships/font" Target="fonts/Roboto-boldItalic.fntdata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91" Type="http://schemas.openxmlformats.org/officeDocument/2006/relationships/slide" Target="slides/slide79.xml"/><Relationship Id="rId90" Type="http://schemas.openxmlformats.org/officeDocument/2006/relationships/slide" Target="slides/slide78.xml"/><Relationship Id="rId93" Type="http://schemas.openxmlformats.org/officeDocument/2006/relationships/font" Target="fonts/RobotoBlack-bold.fntdata"/><Relationship Id="rId92" Type="http://schemas.openxmlformats.org/officeDocument/2006/relationships/slide" Target="slides/slide80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84" Type="http://schemas.openxmlformats.org/officeDocument/2006/relationships/slide" Target="slides/slide72.xml"/><Relationship Id="rId83" Type="http://schemas.openxmlformats.org/officeDocument/2006/relationships/slide" Target="slides/slide71.xml"/><Relationship Id="rId86" Type="http://schemas.openxmlformats.org/officeDocument/2006/relationships/slide" Target="slides/slide74.xml"/><Relationship Id="rId85" Type="http://schemas.openxmlformats.org/officeDocument/2006/relationships/slide" Target="slides/slide73.xml"/><Relationship Id="rId88" Type="http://schemas.openxmlformats.org/officeDocument/2006/relationships/slide" Target="slides/slide76.xml"/><Relationship Id="rId87" Type="http://schemas.openxmlformats.org/officeDocument/2006/relationships/slide" Target="slides/slide75.xml"/><Relationship Id="rId89" Type="http://schemas.openxmlformats.org/officeDocument/2006/relationships/slide" Target="slides/slide77.xml"/><Relationship Id="rId80" Type="http://schemas.openxmlformats.org/officeDocument/2006/relationships/slide" Target="slides/slide68.xml"/><Relationship Id="rId82" Type="http://schemas.openxmlformats.org/officeDocument/2006/relationships/slide" Target="slides/slide70.xml"/><Relationship Id="rId81" Type="http://schemas.openxmlformats.org/officeDocument/2006/relationships/slide" Target="slides/slide6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4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73" Type="http://schemas.openxmlformats.org/officeDocument/2006/relationships/slide" Target="slides/slide61.xml"/><Relationship Id="rId72" Type="http://schemas.openxmlformats.org/officeDocument/2006/relationships/slide" Target="slides/slide60.xml"/><Relationship Id="rId75" Type="http://schemas.openxmlformats.org/officeDocument/2006/relationships/slide" Target="slides/slide63.xml"/><Relationship Id="rId74" Type="http://schemas.openxmlformats.org/officeDocument/2006/relationships/slide" Target="slides/slide62.xml"/><Relationship Id="rId77" Type="http://schemas.openxmlformats.org/officeDocument/2006/relationships/slide" Target="slides/slide65.xml"/><Relationship Id="rId76" Type="http://schemas.openxmlformats.org/officeDocument/2006/relationships/slide" Target="slides/slide64.xml"/><Relationship Id="rId79" Type="http://schemas.openxmlformats.org/officeDocument/2006/relationships/slide" Target="slides/slide67.xml"/><Relationship Id="rId78" Type="http://schemas.openxmlformats.org/officeDocument/2006/relationships/slide" Target="slides/slide66.xml"/><Relationship Id="rId71" Type="http://schemas.openxmlformats.org/officeDocument/2006/relationships/slide" Target="slides/slide59.xml"/><Relationship Id="rId70" Type="http://schemas.openxmlformats.org/officeDocument/2006/relationships/slide" Target="slides/slide58.xml"/><Relationship Id="rId62" Type="http://schemas.openxmlformats.org/officeDocument/2006/relationships/slide" Target="slides/slide50.xml"/><Relationship Id="rId61" Type="http://schemas.openxmlformats.org/officeDocument/2006/relationships/slide" Target="slides/slide49.xml"/><Relationship Id="rId64" Type="http://schemas.openxmlformats.org/officeDocument/2006/relationships/slide" Target="slides/slide52.xml"/><Relationship Id="rId63" Type="http://schemas.openxmlformats.org/officeDocument/2006/relationships/slide" Target="slides/slide51.xml"/><Relationship Id="rId66" Type="http://schemas.openxmlformats.org/officeDocument/2006/relationships/slide" Target="slides/slide54.xml"/><Relationship Id="rId65" Type="http://schemas.openxmlformats.org/officeDocument/2006/relationships/slide" Target="slides/slide53.xml"/><Relationship Id="rId68" Type="http://schemas.openxmlformats.org/officeDocument/2006/relationships/slide" Target="slides/slide56.xml"/><Relationship Id="rId67" Type="http://schemas.openxmlformats.org/officeDocument/2006/relationships/slide" Target="slides/slide55.xml"/><Relationship Id="rId60" Type="http://schemas.openxmlformats.org/officeDocument/2006/relationships/slide" Target="slides/slide48.xml"/><Relationship Id="rId69" Type="http://schemas.openxmlformats.org/officeDocument/2006/relationships/slide" Target="slides/slide57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55" Type="http://schemas.openxmlformats.org/officeDocument/2006/relationships/slide" Target="slides/slide43.xml"/><Relationship Id="rId54" Type="http://schemas.openxmlformats.org/officeDocument/2006/relationships/slide" Target="slides/slide42.xml"/><Relationship Id="rId57" Type="http://schemas.openxmlformats.org/officeDocument/2006/relationships/slide" Target="slides/slide45.xml"/><Relationship Id="rId56" Type="http://schemas.openxmlformats.org/officeDocument/2006/relationships/slide" Target="slides/slide44.xml"/><Relationship Id="rId59" Type="http://schemas.openxmlformats.org/officeDocument/2006/relationships/slide" Target="slides/slide47.xml"/><Relationship Id="rId58" Type="http://schemas.openxmlformats.org/officeDocument/2006/relationships/slide" Target="slides/slide46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2T16:10:56.442">
    <p:pos x="6000" y="0"/>
    <p:text>Выделить темы, которых НЕ будет в курсе (но которые ожидали студенты в прошлом потоке)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6TI6ZU"/>
      </p:ext>
    </p:extLst>
  </p:cm>
  <p:cm authorId="0" idx="2" dt="2025-11-12T16:10:56.442">
    <p:pos x="6000" y="0"/>
    <p:text>Сделала специально для этого следующий слайд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v6TI6ZY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10T13:24:37.577">
    <p:pos x="431" y="1265"/>
    <p:text>Не закончена мысль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3XscS8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1-10T13:51:36.512">
    <p:pos x="453" y="811"/>
    <p:text>В качестве перехода к следующей теме, можно сказать, что этот пункт мы сейчас рассмотрим подробнее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3XscT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a69aae050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aa69aae0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4d5a48437e_0_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4d5a4843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2be987b09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a2be987b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1f7ed4e74_0_1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3a1f7ed4e7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4a21c86600_0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4a21c8660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4a21c86600_0_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4a21c866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4a21c86600_0_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4a21c866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a6b6be6b7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aa6b6be6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4a21c86600_0_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4a21c8660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4a21c8660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g34a21c8660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a6b6be6b7_0_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aa6b6be6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aa6b6be6b7_0_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g3aa6b6be6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4d5a48437e_0_76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4d5a48437e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4a21c86600_0_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g34a21c8660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1f7ed4e74_0_2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a1f7ed4e7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1f7ed4e74_0_2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g3a1f7ed4e7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4d5a48437e_0_77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g34d5a48437e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4a21c86600_0_7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34a21c8660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1f7ed4e74_0_5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3a1f7ed4e74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a1f7ed4e74_0_5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3a1f7ed4e74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4d5a48437e_0_78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g34d5a48437e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4a21c86600_0_8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4a21c8660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1f7ed4e74_0_5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3a1f7ed4e74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a1f7ed4e74_0_5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a1f7ed4e74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4d5a48437e_0_80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34d5a48437e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4a21c86600_0_10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g34a21c8660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a1f7ed4e74_0_55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3a1f7ed4e74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a1f7ed4e74_0_56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g3a1f7ed4e74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4d5a48437e_0_9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g34d5a48437e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4a21c86600_0_1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g34a21c8660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4a21c86600_0_13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g34a21c8660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4d5a48437e_0_10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4d5a48437e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4d5a48437e_0_10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g34d5a48437e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a1fcc194f6_0_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g3a1fcc194f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4d5a48437e_0_107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g34d5a48437e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4d5a48437e_0_107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g34d5a48437e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4d5a48437e_0_108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34d5a48437e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4fd1ede585_5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g34fd1ede58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4a21c86600_0_1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4a21c8660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4d5a48437e_0_10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g34d5a48437e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4d5a48437e_0_10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g34d5a48437e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4d5a48437e_0_109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g34d5a48437e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4d5a48437e_0_110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g34d5a48437e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4d5a48437e_0_110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g34d5a48437e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4d5a48437e_0_1128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2" name="Google Shape;1032;g34d5a48437e_0_1128:notes"/>
          <p:cNvSpPr/>
          <p:nvPr>
            <p:ph idx="2" type="sldImg"/>
          </p:nvPr>
        </p:nvSpPr>
        <p:spPr>
          <a:xfrm>
            <a:off x="2271713" y="1143001"/>
            <a:ext cx="23145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4d5a48437e_0_11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g34d5a48437e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4d5a48437e_0_12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34d5a48437e_0_1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4d5a48437e_0_12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g34d5a48437e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4d5a48437e_0_12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34d5a48437e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4d5a48437e_0_12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g34d5a48437e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4d5a48437e_0_12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4d5a48437e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4d5a48437e_0_16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g34d5a48437e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4a21c86600_0_2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g34a21c8660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4fdcddf037_4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g34fdcddf03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4fd1ede585_5_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2" name="Google Shape;1112;g34fd1ede585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0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0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0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5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25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" name="Google Shape;14;p125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67500" y="2152075"/>
            <a:ext cx="820500" cy="9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6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7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" name="Google Shape;19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392"/>
              </a:srgbClr>
            </a:outerShdw>
          </a:effectLst>
        </p:spPr>
      </p:pic>
      <p:pic>
        <p:nvPicPr>
          <p:cNvPr id="20" name="Google Shape;20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392"/>
              </a:srgbClr>
            </a:outerShdw>
          </a:effectLst>
        </p:spPr>
      </p:pic>
      <p:pic>
        <p:nvPicPr>
          <p:cNvPr id="21" name="Google Shape;21;p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392"/>
              </a:srgbClr>
            </a:outerShdw>
          </a:effectLst>
        </p:spPr>
      </p:pic>
      <p:pic>
        <p:nvPicPr>
          <p:cNvPr id="22" name="Google Shape;22;p1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392"/>
              </a:srgbClr>
            </a:outerShdw>
          </a:effectLst>
        </p:spPr>
      </p:pic>
      <p:sp>
        <p:nvSpPr>
          <p:cNvPr id="23" name="Google Shape;23;p127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27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27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8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128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8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128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28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128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9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129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129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129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29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29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0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30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448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30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130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01325" y="3310025"/>
            <a:ext cx="820500" cy="9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1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" name="Google Shape;47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" name="Google Shape;50;p132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" name="Google Shape;51;p13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200" y="1175875"/>
            <a:ext cx="820500" cy="9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3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3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3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3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3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3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3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3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2" name="Google Shape;62;p133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33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4" name="Google Shape;64;p133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33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6" name="Google Shape;66;p133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4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4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34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34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4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4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4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6" name="Google Shape;76;p134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7" name="Google Shape;77;p134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8" name="Google Shape;78;p134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34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" name="Google Shape;82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5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35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5" name="Google Shape;85;p135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35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7" name="Google Shape;87;p135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5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35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35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6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36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6" name="Google Shape;96;p136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36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136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36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7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37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37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37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37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7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7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8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38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9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" name="Google Shape;113;p139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4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0" name="Google Shape;12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>
  <p:cSld name="TITLE_AND_TWO_COLUMNS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fd1ede585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70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28" name="Google Shape;128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d5a48437e_0_1219"/>
          <p:cNvSpPr txBox="1"/>
          <p:nvPr>
            <p:ph type="title"/>
          </p:nvPr>
        </p:nvSpPr>
        <p:spPr>
          <a:xfrm>
            <a:off x="573575" y="388000"/>
            <a:ext cx="79968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b="1" i="0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g34d5a48437e_0_1219"/>
          <p:cNvSpPr txBox="1"/>
          <p:nvPr>
            <p:ph idx="1" type="body"/>
          </p:nvPr>
        </p:nvSpPr>
        <p:spPr>
          <a:xfrm>
            <a:off x="942987" y="1539443"/>
            <a:ext cx="7263000" cy="25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2" name="Google Shape;132;g34d5a48437e_0_12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g34d5a48437e_0_12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g34d5a48437e_0_1219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4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9"/>
          <p:cNvSpPr txBox="1"/>
          <p:nvPr>
            <p:ph type="title"/>
          </p:nvPr>
        </p:nvSpPr>
        <p:spPr>
          <a:xfrm>
            <a:off x="510475" y="1718175"/>
            <a:ext cx="73305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3">
  <p:cSld name="CUSTOM_6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0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9857F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35050" y="2228000"/>
            <a:ext cx="873398" cy="750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0"/>
          <p:cNvSpPr txBox="1"/>
          <p:nvPr>
            <p:ph type="title"/>
          </p:nvPr>
        </p:nvSpPr>
        <p:spPr>
          <a:xfrm>
            <a:off x="1352850" y="1636625"/>
            <a:ext cx="62109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2">
  <p:cSld name="CUSTOM_5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1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81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81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81"/>
          <p:cNvSpPr txBox="1"/>
          <p:nvPr>
            <p:ph type="title"/>
          </p:nvPr>
        </p:nvSpPr>
        <p:spPr>
          <a:xfrm>
            <a:off x="926150" y="1280913"/>
            <a:ext cx="2039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81"/>
          <p:cNvSpPr txBox="1"/>
          <p:nvPr>
            <p:ph idx="2" type="title"/>
          </p:nvPr>
        </p:nvSpPr>
        <p:spPr>
          <a:xfrm>
            <a:off x="6000350" y="1280913"/>
            <a:ext cx="2039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81"/>
          <p:cNvSpPr txBox="1"/>
          <p:nvPr>
            <p:ph idx="3" type="title"/>
          </p:nvPr>
        </p:nvSpPr>
        <p:spPr>
          <a:xfrm>
            <a:off x="3463250" y="1280913"/>
            <a:ext cx="2039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4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2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82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82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82"/>
          <p:cNvSpPr txBox="1"/>
          <p:nvPr>
            <p:ph type="title"/>
          </p:nvPr>
        </p:nvSpPr>
        <p:spPr>
          <a:xfrm>
            <a:off x="1850050" y="984800"/>
            <a:ext cx="51603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82"/>
          <p:cNvSpPr txBox="1"/>
          <p:nvPr>
            <p:ph idx="2" type="title"/>
          </p:nvPr>
        </p:nvSpPr>
        <p:spPr>
          <a:xfrm>
            <a:off x="1850050" y="2142175"/>
            <a:ext cx="51603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82"/>
          <p:cNvSpPr txBox="1"/>
          <p:nvPr>
            <p:ph idx="3" type="title"/>
          </p:nvPr>
        </p:nvSpPr>
        <p:spPr>
          <a:xfrm>
            <a:off x="1850050" y="3299550"/>
            <a:ext cx="51603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6">
  <p:cSld name="CUSTOM_9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3"/>
          <p:cNvSpPr txBox="1"/>
          <p:nvPr>
            <p:ph type="title"/>
          </p:nvPr>
        </p:nvSpPr>
        <p:spPr>
          <a:xfrm>
            <a:off x="450975" y="1519950"/>
            <a:ext cx="4496400" cy="21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7" name="Google Shape;157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2575" y="836400"/>
            <a:ext cx="3613901" cy="361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5">
  <p:cSld name="CUSTOM_8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4"/>
          <p:cNvSpPr txBox="1"/>
          <p:nvPr>
            <p:ph type="title"/>
          </p:nvPr>
        </p:nvSpPr>
        <p:spPr>
          <a:xfrm>
            <a:off x="441075" y="1170500"/>
            <a:ext cx="46746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84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16667" name="adj"/>
            </a:avLst>
          </a:prstGeom>
          <a:solidFill>
            <a:srgbClr val="2AB7E4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5800" y="3300400"/>
            <a:ext cx="1028425" cy="88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4"/>
          <p:cNvSpPr txBox="1"/>
          <p:nvPr>
            <p:ph idx="2" type="title"/>
          </p:nvPr>
        </p:nvSpPr>
        <p:spPr>
          <a:xfrm>
            <a:off x="6116700" y="1342725"/>
            <a:ext cx="2233500" cy="26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d5a48437e_0_13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d5a48437e_0_105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g34d5a48437e_0_105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d5a48437e_0_108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g34d5a48437e_0_108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d5a48437e_0_111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7" name="Google Shape;177;g34d5a48437e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d5a48437e_0_1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d5a48437e_0_1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g34d5a48437e_0_116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83" name="Google Shape;183;g34d5a48437e_0_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d5a48437e_0_120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g34d5a48437e_0_120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d5a48437e_0_123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d5a48437e_0_1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g34d5a48437e_0_125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g34d5a48437e_0_125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d5a48437e_0_1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4d5a48437e_0_12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6" name="Google Shape;196;g34d5a48437e_0_12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97" name="Google Shape;197;g34d5a48437e_0_1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98" name="Google Shape;198;g34d5a48437e_0_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d5a48437e_0_13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g34d5a48437e_0_13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4d5a48437e_0_137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d5a48437e_0_1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g34d5a48437e_0_14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4d5a48437e_0_141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d5a48437e_0_14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g34d5a48437e_0_145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34d5a48437e_0_145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34d5a48437e_0_145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d5a48437e_0_15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g34d5a48437e_0_150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g34d5a48437e_0_150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4d5a48437e_0_150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d5a48437e_0_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9" name="Google Shape;219;g34d5a48437e_0_1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4d5a48437e_0_15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5"/>
          <p:cNvSpPr txBox="1"/>
          <p:nvPr>
            <p:ph type="title"/>
          </p:nvPr>
        </p:nvSpPr>
        <p:spPr>
          <a:xfrm>
            <a:off x="356200" y="633026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6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1" name="Google Shape;231;p86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7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4" name="Google Shape;234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" name="Google Shape;239;p89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40" name="Google Shape;240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3" name="Google Shape;243;p90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90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45" name="Google Shape;245;p90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46" name="Google Shape;246;p90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90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92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92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3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7" name="Google Shape;257;p93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58" name="Google Shape;258;p9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259" name="Google Shape;259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2" name="Google Shape;262;p94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4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" name="Google Shape;266;p95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5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p96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96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96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97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97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7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80" name="Google Shape;280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1f7ed4e74_0_4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1f7ed4e74_0_403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g3a1f7ed4e74_0_403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1" name="Google Shape;291;g3a1f7ed4e74_0_403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1f7ed4e74_0_407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1f7ed4e74_0_409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6" name="Google Shape;296;g3a1f7ed4e74_0_4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784"/>
              </a:srgbClr>
            </a:outerShdw>
          </a:effectLst>
        </p:spPr>
      </p:pic>
      <p:pic>
        <p:nvPicPr>
          <p:cNvPr id="297" name="Google Shape;297;g3a1f7ed4e74_0_4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784"/>
              </a:srgbClr>
            </a:outerShdw>
          </a:effectLst>
        </p:spPr>
      </p:pic>
      <p:pic>
        <p:nvPicPr>
          <p:cNvPr id="298" name="Google Shape;298;g3a1f7ed4e74_0_4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784"/>
              </a:srgbClr>
            </a:outerShdw>
          </a:effectLst>
        </p:spPr>
      </p:pic>
      <p:pic>
        <p:nvPicPr>
          <p:cNvPr id="299" name="Google Shape;299;g3a1f7ed4e74_0_4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784"/>
              </a:srgbClr>
            </a:outerShdw>
          </a:effectLst>
        </p:spPr>
      </p:pic>
      <p:sp>
        <p:nvSpPr>
          <p:cNvPr id="300" name="Google Shape;300;g3a1f7ed4e74_0_409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g3a1f7ed4e74_0_409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" name="Google Shape;302;g3a1f7ed4e74_0_409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1f7ed4e74_0_418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g3a1f7ed4e74_0_418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6" name="Google Shape;306;g3a1f7ed4e74_0_418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g3a1f7ed4e74_0_418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8" name="Google Shape;308;g3a1f7ed4e74_0_418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3a1f7ed4e74_0_418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1f7ed4e74_0_425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3a1f7ed4e74_0_425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g3a1f7ed4e74_0_425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g3a1f7ed4e74_0_425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5" name="Google Shape;315;g3a1f7ed4e74_0_425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" name="Google Shape;316;g3a1f7ed4e74_0_425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1f7ed4e74_0_432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g3a1f7ed4e74_0_432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g3a1f7ed4e74_0_432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1" name="Google Shape;321;g3a1f7ed4e74_0_43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1f7ed4e74_0_437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4" name="Google Shape;324;g3a1f7ed4e74_0_4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1f7ed4e74_0_44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27" name="Google Shape;327;g3a1f7ed4e74_0_442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8" name="Google Shape;328;g3a1f7ed4e74_0_44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1f7ed4e74_0_44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1" name="Google Shape;331;g3a1f7ed4e74_0_4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a1f7ed4e74_0_446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g3a1f7ed4e74_0_446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g3a1f7ed4e74_0_446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g3a1f7ed4e74_0_446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g3a1f7ed4e74_0_446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g3a1f7ed4e74_0_446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g3a1f7ed4e74_0_446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39" name="Google Shape;339;g3a1f7ed4e74_0_446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40" name="Google Shape;340;g3a1f7ed4e74_0_446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41" name="Google Shape;341;g3a1f7ed4e74_0_446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42" name="Google Shape;342;g3a1f7ed4e74_0_446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43" name="Google Shape;343;g3a1f7ed4e74_0_446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1f7ed4e74_0_461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6" name="Google Shape;346;g3a1f7ed4e74_0_4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a1f7ed4e74_0_461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g3a1f7ed4e74_0_461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g3a1f7ed4e74_0_461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3a1f7ed4e74_0_461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g3a1f7ed4e74_0_461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g3a1f7ed4e74_0_461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53" name="Google Shape;353;g3a1f7ed4e74_0_461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54" name="Google Shape;354;g3a1f7ed4e74_0_461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55" name="Google Shape;355;g3a1f7ed4e74_0_461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56" name="Google Shape;356;g3a1f7ed4e74_0_461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1f7ed4e74_0_474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9" name="Google Shape;359;g3a1f7ed4e74_0_4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a1f7ed4e74_0_474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3a1f7ed4e74_0_474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62" name="Google Shape;362;g3a1f7ed4e74_0_474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g3a1f7ed4e74_0_474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64" name="Google Shape;364;g3a1f7ed4e74_0_474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g3a1f7ed4e74_0_474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66" name="Google Shape;366;g3a1f7ed4e74_0_474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3a1f7ed4e74_0_474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1f7ed4e74_0_48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70" name="Google Shape;370;g3a1f7ed4e74_0_4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a1f7ed4e74_0_485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g3a1f7ed4e74_0_485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73" name="Google Shape;373;g3a1f7ed4e74_0_485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a1f7ed4e74_0_485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75" name="Google Shape;375;g3a1f7ed4e74_0_485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g3a1f7ed4e74_0_485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1f7ed4e74_0_494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9" name="Google Shape;379;g3a1f7ed4e74_0_494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g3a1f7ed4e74_0_494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g3a1f7ed4e74_0_494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2" name="Google Shape;382;g3a1f7ed4e74_0_494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a1f7ed4e74_0_494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a1f7ed4e74_0_494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1f7ed4e74_0_502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g3a1f7ed4e74_0_502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1f7ed4e74_0_505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0" name="Google Shape;390;g3a1f7ed4e74_0_505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8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7" name="Google Shape;39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bg>
      <p:bgPr>
        <a:solidFill>
          <a:schemeClr val="dk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0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0" name="Google Shape;400;p140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1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3" name="Google Shape;403;p141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8" name="Google Shape;408;p143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09" name="Google Shape;409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bg>
      <p:bgPr>
        <a:solidFill>
          <a:schemeClr val="dk1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4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2" name="Google Shape;412;p144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146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8" name="Google Shape;418;p146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7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2" name="Google Shape;422;p147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23" name="Google Shape;423;p1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4" name="Google Shape;424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149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9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3" name="Google Shape;433;p150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0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p151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151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151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2" name="Google Shape;442;p152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152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2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447" name="Google Shape;447;p1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3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7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5.xml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18" Type="http://schemas.openxmlformats.org/officeDocument/2006/relationships/theme" Target="../theme/theme7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7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63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d5a48437e_0_10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5" name="Google Shape;165;g34d5a48437e_0_10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6" name="Google Shape;166;g34d5a48437e_0_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3" name="Google Shape;223;p6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4" name="Google Shape;22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1f7ed4e74_0_39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4" name="Google Shape;284;g3a1f7ed4e74_0_399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g3a1f7ed4e74_0_3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3" name="Google Shape;393;p7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4" name="Google Shape;39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47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tusmetodist.yonote.ru/share/6b5a2486-d8b2-4482-99e4-1b45960d04d0/doc/kak-uchitsya-ili-kurs-nachinayushih-otus-heroes-2ZFPH1houb" TargetMode="External"/><Relationship Id="rId4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tusmetodist.yonote.ru/share/9e962c06-6e71-4825-bcbc-76231b1fc042/doc/celepolaganie-WpNYJ3iFtd" TargetMode="External"/><Relationship Id="rId4" Type="http://schemas.openxmlformats.org/officeDocument/2006/relationships/hyperlink" Target="https://otusmetodist.yonote.ru/share/9e962c06-6e71-4825-bcbc-76231b1fc042/doc/celepolaganie-WpNYJ3iFtd" TargetMode="External"/><Relationship Id="rId5" Type="http://schemas.openxmlformats.org/officeDocument/2006/relationships/image" Target="../media/image51.png"/><Relationship Id="rId6" Type="http://schemas.openxmlformats.org/officeDocument/2006/relationships/image" Target="../media/image33.png"/><Relationship Id="rId7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2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0.xml"/><Relationship Id="rId3" Type="http://schemas.openxmlformats.org/officeDocument/2006/relationships/comments" Target="../comments/comment3.xml"/><Relationship Id="rId4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Relationship Id="rId4" Type="http://schemas.openxmlformats.org/officeDocument/2006/relationships/hyperlink" Target="https://trashbox.ru/link/computer-history-from-1951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www.kernel.org/" TargetMode="External"/><Relationship Id="rId4" Type="http://schemas.openxmlformats.org/officeDocument/2006/relationships/image" Target="../media/image4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elixir.bootlin.com/linux/" TargetMode="External"/><Relationship Id="rId4" Type="http://schemas.openxmlformats.org/officeDocument/2006/relationships/image" Target="../media/image5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2.png"/><Relationship Id="rId4" Type="http://schemas.openxmlformats.org/officeDocument/2006/relationships/image" Target="../media/image1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5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1"/>
          <p:cNvSpPr txBox="1"/>
          <p:nvPr>
            <p:ph type="title"/>
          </p:nvPr>
        </p:nvSpPr>
        <p:spPr>
          <a:xfrm>
            <a:off x="570175" y="1373199"/>
            <a:ext cx="8520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300">
                <a:solidFill>
                  <a:schemeClr val="lt1"/>
                </a:solidFill>
              </a:rPr>
              <a:t>0x01 Начальные сведения о ядре Linux.</a:t>
            </a:r>
            <a:endParaRPr sz="4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0" y="273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"/>
          <p:cNvSpPr txBox="1"/>
          <p:nvPr/>
        </p:nvSpPr>
        <p:spPr>
          <a:xfrm>
            <a:off x="651150" y="4127375"/>
            <a:ext cx="28776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Разработка ядра Linux.</a:t>
            </a:r>
            <a:endParaRPr b="0" i="0" sz="19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57" name="Google Shape;457;p1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"/>
          <p:cNvSpPr txBox="1"/>
          <p:nvPr>
            <p:ph type="title"/>
          </p:nvPr>
        </p:nvSpPr>
        <p:spPr>
          <a:xfrm>
            <a:off x="7163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463" name="Google Shape;4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"/>
          <p:cNvSpPr/>
          <p:nvPr/>
        </p:nvSpPr>
        <p:spPr>
          <a:xfrm>
            <a:off x="825575" y="1037550"/>
            <a:ext cx="714900" cy="317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"/>
          <p:cNvSpPr txBox="1"/>
          <p:nvPr/>
        </p:nvSpPr>
        <p:spPr>
          <a:xfrm>
            <a:off x="987760" y="1022425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</a:t>
            </a:r>
            <a:endParaRPr b="0" i="0" sz="12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7" name="Google Shape;467;p2"/>
          <p:cNvSpPr/>
          <p:nvPr/>
        </p:nvSpPr>
        <p:spPr>
          <a:xfrm>
            <a:off x="934700" y="1168375"/>
            <a:ext cx="85800" cy="77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"/>
          <p:cNvSpPr txBox="1"/>
          <p:nvPr>
            <p:ph type="title"/>
          </p:nvPr>
        </p:nvSpPr>
        <p:spPr>
          <a:xfrm>
            <a:off x="507900" y="404574"/>
            <a:ext cx="8520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473" name="Google Shape;473;p6"/>
          <p:cNvSpPr/>
          <p:nvPr/>
        </p:nvSpPr>
        <p:spPr>
          <a:xfrm>
            <a:off x="659825" y="1249850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6"/>
          <p:cNvSpPr/>
          <p:nvPr/>
        </p:nvSpPr>
        <p:spPr>
          <a:xfrm>
            <a:off x="659825" y="183495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6"/>
          <p:cNvSpPr/>
          <p:nvPr/>
        </p:nvSpPr>
        <p:spPr>
          <a:xfrm>
            <a:off x="659825" y="242005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Теория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6"/>
          <p:cNvSpPr/>
          <p:nvPr/>
        </p:nvSpPr>
        <p:spPr>
          <a:xfrm>
            <a:off x="659825" y="4149938"/>
            <a:ext cx="3384900" cy="376200"/>
          </a:xfrm>
          <a:prstGeom prst="roundRect">
            <a:avLst>
              <a:gd fmla="val 20202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Итоги занятия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6"/>
          <p:cNvSpPr/>
          <p:nvPr/>
        </p:nvSpPr>
        <p:spPr>
          <a:xfrm>
            <a:off x="659825" y="299245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Экскурс в историю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659825" y="3564863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Особенности ядра Linux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"/>
          <p:cNvSpPr txBox="1"/>
          <p:nvPr>
            <p:ph type="title"/>
          </p:nvPr>
        </p:nvSpPr>
        <p:spPr>
          <a:xfrm>
            <a:off x="556300" y="1917600"/>
            <a:ext cx="3580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Знакомство</a:t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40846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Расскажите о себе</a:t>
            </a:r>
            <a:endParaRPr/>
          </a:p>
        </p:txBody>
      </p:sp>
      <p:sp>
        <p:nvSpPr>
          <p:cNvPr id="490" name="Google Shape;490;p10"/>
          <p:cNvSpPr txBox="1"/>
          <p:nvPr>
            <p:ph idx="4294967295" type="subTitle"/>
          </p:nvPr>
        </p:nvSpPr>
        <p:spPr>
          <a:xfrm>
            <a:off x="533550" y="8192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b="1" i="0" lang="ru" sz="15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Напишите, пожалуйста, в чат или скажите голосом </a:t>
            </a:r>
            <a:endParaRPr b="1" i="0" sz="1500" u="none" cap="none" strike="noStrike">
              <a:solidFill>
                <a:srgbClr val="4029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10"/>
          <p:cNvSpPr txBox="1"/>
          <p:nvPr/>
        </p:nvSpPr>
        <p:spPr>
          <a:xfrm>
            <a:off x="1298175" y="1964814"/>
            <a:ext cx="323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Какой опыт в IT?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10"/>
          <p:cNvSpPr txBox="1"/>
          <p:nvPr/>
        </p:nvSpPr>
        <p:spPr>
          <a:xfrm>
            <a:off x="1298175" y="2835931"/>
            <a:ext cx="276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Заполните информацию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разделе «О себе»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личном кабинете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3" name="Google Shape;4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550" y="1786199"/>
            <a:ext cx="703400" cy="7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350" y="2951299"/>
            <a:ext cx="602150" cy="6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aa69aae050_0_0"/>
          <p:cNvSpPr txBox="1"/>
          <p:nvPr>
            <p:ph type="title"/>
          </p:nvPr>
        </p:nvSpPr>
        <p:spPr>
          <a:xfrm>
            <a:off x="511400" y="4291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ru" sz="3200"/>
              <a:t>Правила вебинара</a:t>
            </a:r>
            <a:endParaRPr b="1" sz="3200"/>
          </a:p>
        </p:txBody>
      </p:sp>
      <p:sp>
        <p:nvSpPr>
          <p:cNvPr id="500" name="Google Shape;500;g3aa69aae050_0_0"/>
          <p:cNvSpPr txBox="1"/>
          <p:nvPr/>
        </p:nvSpPr>
        <p:spPr>
          <a:xfrm>
            <a:off x="1654525" y="1252250"/>
            <a:ext cx="2475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g3aa69aae050_0_0"/>
          <p:cNvSpPr txBox="1"/>
          <p:nvPr/>
        </p:nvSpPr>
        <p:spPr>
          <a:xfrm>
            <a:off x="1654525" y="2926494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 голосом (в секции вопросов) в конце лекции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g3aa69aae050_0_0"/>
          <p:cNvSpPr txBox="1"/>
          <p:nvPr/>
        </p:nvSpPr>
        <p:spPr>
          <a:xfrm>
            <a:off x="1654525" y="3713359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 вопросы в чате,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g3aa69aae050_0_0"/>
          <p:cNvSpPr txBox="1"/>
          <p:nvPr/>
        </p:nvSpPr>
        <p:spPr>
          <a:xfrm>
            <a:off x="1654525" y="1991275"/>
            <a:ext cx="247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#</a:t>
            </a:r>
            <a:r>
              <a:rPr b="1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канал группы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4" name="Google Shape;504;g3aa69aae05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645" y="2205277"/>
            <a:ext cx="394991" cy="39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g3aa69aae05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67" y="3077372"/>
            <a:ext cx="394992" cy="39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aa69aae05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767" y="1378750"/>
            <a:ext cx="394992" cy="39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aa69aae05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650" y="3804540"/>
            <a:ext cx="433225" cy="4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Правила вебинара</a:t>
            </a:r>
            <a:endParaRPr/>
          </a:p>
        </p:txBody>
      </p:sp>
      <p:sp>
        <p:nvSpPr>
          <p:cNvPr id="513" name="Google Shape;513;p5"/>
          <p:cNvSpPr txBox="1"/>
          <p:nvPr/>
        </p:nvSpPr>
        <p:spPr>
          <a:xfrm>
            <a:off x="1831125" y="2166725"/>
            <a:ext cx="2895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закрытом чате в Telegram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Кто еще не присоединился, сканируйте QR код :)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4" name="Google Shape;5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00" y="2288375"/>
            <a:ext cx="1095900" cy="10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450" y="1130286"/>
            <a:ext cx="3412077" cy="341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" name="Google Shape;520;p7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{309293F7-E941-4854-ACA0-4D19E8A5E6C3}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ru" sz="3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Цели вебинара</a:t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1" name="Google Shape;521;p7"/>
          <p:cNvSpPr/>
          <p:nvPr/>
        </p:nvSpPr>
        <p:spPr>
          <a:xfrm>
            <a:off x="625261" y="1648900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Познакомитесь с преподавателями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одногруппниками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625261" y="2392225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Рассмотрите программу курса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625261" y="3135550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Поймете, как у нас будет проходить обучение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7"/>
          <p:cNvSpPr txBox="1"/>
          <p:nvPr/>
        </p:nvSpPr>
        <p:spPr>
          <a:xfrm>
            <a:off x="620475" y="912475"/>
            <a:ext cx="378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К концу занятия вы …</a:t>
            </a:r>
            <a:endParaRPr b="0" i="0" sz="1400" u="none" cap="none" strike="noStrike">
              <a:solidFill>
                <a:srgbClr val="4029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7"/>
          <p:cNvSpPr/>
          <p:nvPr/>
        </p:nvSpPr>
        <p:spPr>
          <a:xfrm>
            <a:off x="625261" y="3878875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Узнаете о том что такое ядро Linux и какие у него особенности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"/>
          <p:cNvSpPr txBox="1"/>
          <p:nvPr>
            <p:ph type="title"/>
          </p:nvPr>
        </p:nvSpPr>
        <p:spPr>
          <a:xfrm>
            <a:off x="556300" y="1917600"/>
            <a:ext cx="3580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 курсе</a:t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1" name="Google Shape;531;p11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40846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1"/>
          <p:cNvSpPr txBox="1"/>
          <p:nvPr/>
        </p:nvSpPr>
        <p:spPr>
          <a:xfrm>
            <a:off x="9812100" y="1290500"/>
            <a:ext cx="42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этого этапа</a:t>
            </a:r>
            <a:r>
              <a:rPr b="0" i="0" lang="ru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познакомить студентов с учебной программой, форматом практики, рассказать, как происходит обучение, и перечислить необходимое ПО и список литературы.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занятие на курсе.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"/>
          <p:cNvSpPr txBox="1"/>
          <p:nvPr/>
        </p:nvSpPr>
        <p:spPr>
          <a:xfrm>
            <a:off x="5474025" y="429150"/>
            <a:ext cx="22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Понимание архитектуры ядра Linux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12"/>
          <p:cNvSpPr txBox="1"/>
          <p:nvPr/>
        </p:nvSpPr>
        <p:spPr>
          <a:xfrm>
            <a:off x="5474013" y="1113625"/>
            <a:ext cx="23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Компиляция и настройка ядра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12"/>
          <p:cNvSpPr txBox="1"/>
          <p:nvPr/>
        </p:nvSpPr>
        <p:spPr>
          <a:xfrm>
            <a:off x="5474030" y="2303875"/>
            <a:ext cx="228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структур данных и алгоритмов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12"/>
          <p:cNvSpPr txBox="1"/>
          <p:nvPr/>
        </p:nvSpPr>
        <p:spPr>
          <a:xfrm>
            <a:off x="5474026" y="4304300"/>
            <a:ext cx="254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памятью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12"/>
          <p:cNvSpPr txBox="1"/>
          <p:nvPr/>
        </p:nvSpPr>
        <p:spPr>
          <a:xfrm>
            <a:off x="5474031" y="3663325"/>
            <a:ext cx="23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устройствами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12"/>
          <p:cNvSpPr txBox="1"/>
          <p:nvPr>
            <p:ph type="title"/>
          </p:nvPr>
        </p:nvSpPr>
        <p:spPr>
          <a:xfrm>
            <a:off x="500550" y="322525"/>
            <a:ext cx="4186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ru" sz="3200"/>
              <a:t>Карта компетенций</a:t>
            </a:r>
            <a:endParaRPr b="1" sz="3200"/>
          </a:p>
        </p:txBody>
      </p:sp>
      <p:sp>
        <p:nvSpPr>
          <p:cNvPr id="543" name="Google Shape;543;p12"/>
          <p:cNvSpPr/>
          <p:nvPr/>
        </p:nvSpPr>
        <p:spPr>
          <a:xfrm>
            <a:off x="2139700" y="2432700"/>
            <a:ext cx="2547000" cy="35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ядра 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12"/>
          <p:cNvCxnSpPr>
            <a:stCxn id="543" idx="3"/>
            <a:endCxn id="538" idx="1"/>
          </p:cNvCxnSpPr>
          <p:nvPr/>
        </p:nvCxnSpPr>
        <p:spPr>
          <a:xfrm flipH="1" rot="10800000">
            <a:off x="4686700" y="1290600"/>
            <a:ext cx="787200" cy="13194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12"/>
          <p:cNvCxnSpPr>
            <a:stCxn id="543" idx="3"/>
            <a:endCxn id="537" idx="1"/>
          </p:cNvCxnSpPr>
          <p:nvPr/>
        </p:nvCxnSpPr>
        <p:spPr>
          <a:xfrm flipH="1" rot="10800000">
            <a:off x="4686700" y="690900"/>
            <a:ext cx="787200" cy="19191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12"/>
          <p:cNvCxnSpPr>
            <a:stCxn id="543" idx="3"/>
            <a:endCxn id="539" idx="1"/>
          </p:cNvCxnSpPr>
          <p:nvPr/>
        </p:nvCxnSpPr>
        <p:spPr>
          <a:xfrm flipH="1" rot="10800000">
            <a:off x="4686700" y="2565600"/>
            <a:ext cx="787200" cy="444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12"/>
          <p:cNvCxnSpPr>
            <a:stCxn id="543" idx="3"/>
            <a:endCxn id="541" idx="1"/>
          </p:cNvCxnSpPr>
          <p:nvPr/>
        </p:nvCxnSpPr>
        <p:spPr>
          <a:xfrm>
            <a:off x="4686700" y="2610000"/>
            <a:ext cx="787200" cy="12303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12"/>
          <p:cNvCxnSpPr>
            <a:stCxn id="543" idx="3"/>
            <a:endCxn id="540" idx="1"/>
          </p:cNvCxnSpPr>
          <p:nvPr/>
        </p:nvCxnSpPr>
        <p:spPr>
          <a:xfrm>
            <a:off x="4686700" y="2610000"/>
            <a:ext cx="787200" cy="18714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12"/>
          <p:cNvSpPr txBox="1"/>
          <p:nvPr/>
        </p:nvSpPr>
        <p:spPr>
          <a:xfrm>
            <a:off x="5474025" y="1632725"/>
            <a:ext cx="237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Создание и управление модулями ядра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" name="Google Shape;550;p12"/>
          <p:cNvCxnSpPr>
            <a:stCxn id="543" idx="3"/>
            <a:endCxn id="549" idx="1"/>
          </p:cNvCxnSpPr>
          <p:nvPr/>
        </p:nvCxnSpPr>
        <p:spPr>
          <a:xfrm flipH="1" rot="10800000">
            <a:off x="4686700" y="1894200"/>
            <a:ext cx="787200" cy="7158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12"/>
          <p:cNvSpPr txBox="1"/>
          <p:nvPr/>
        </p:nvSpPr>
        <p:spPr>
          <a:xfrm>
            <a:off x="5474025" y="2997775"/>
            <a:ext cx="237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 процессами и потоками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" name="Google Shape;552;p12"/>
          <p:cNvCxnSpPr>
            <a:stCxn id="543" idx="3"/>
            <a:endCxn id="551" idx="1"/>
          </p:cNvCxnSpPr>
          <p:nvPr/>
        </p:nvCxnSpPr>
        <p:spPr>
          <a:xfrm>
            <a:off x="4686700" y="2610000"/>
            <a:ext cx="787200" cy="6495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rgbClr val="40299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4d5a48437e_0_84"/>
          <p:cNvSpPr txBox="1"/>
          <p:nvPr/>
        </p:nvSpPr>
        <p:spPr>
          <a:xfrm>
            <a:off x="520875" y="401600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ru" sz="3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Карта курса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g34d5a48437e_0_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291" y="1965232"/>
            <a:ext cx="6994007" cy="197731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g34d5a48437e_0_84"/>
          <p:cNvSpPr/>
          <p:nvPr/>
        </p:nvSpPr>
        <p:spPr>
          <a:xfrm>
            <a:off x="2776625" y="1674300"/>
            <a:ext cx="1257000" cy="5979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Введение в разработку</a:t>
            </a:r>
            <a:r>
              <a:rPr b="0" i="0" lang="ru" sz="1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0" i="0" lang="ru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ядра Linux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g34d5a48437e_0_84"/>
          <p:cNvSpPr/>
          <p:nvPr/>
        </p:nvSpPr>
        <p:spPr>
          <a:xfrm>
            <a:off x="4531863" y="1674300"/>
            <a:ext cx="1257000" cy="59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Модули ядра Linux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g34d5a48437e_0_84"/>
          <p:cNvSpPr/>
          <p:nvPr/>
        </p:nvSpPr>
        <p:spPr>
          <a:xfrm>
            <a:off x="4071400" y="2609963"/>
            <a:ext cx="2290800" cy="678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Прерывания. Обработчики прерываний. Синхронизация в контексте прерываний. Виды Page Fault в Linux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g34d5a48437e_0_84"/>
          <p:cNvSpPr/>
          <p:nvPr/>
        </p:nvSpPr>
        <p:spPr>
          <a:xfrm>
            <a:off x="6753075" y="2618525"/>
            <a:ext cx="1257000" cy="661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Управление процессами и потоками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g34d5a48437e_0_84"/>
          <p:cNvSpPr/>
          <p:nvPr/>
        </p:nvSpPr>
        <p:spPr>
          <a:xfrm>
            <a:off x="6287100" y="1674300"/>
            <a:ext cx="1590300" cy="597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Структуры данных и алгоритмы в ядре Linux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g34d5a48437e_0_84"/>
          <p:cNvSpPr/>
          <p:nvPr/>
        </p:nvSpPr>
        <p:spPr>
          <a:xfrm>
            <a:off x="1987925" y="2618525"/>
            <a:ext cx="1692600" cy="661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в ядре Linux. Таймеры. Preemption многозадачность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g34d5a48437e_0_84"/>
          <p:cNvSpPr/>
          <p:nvPr/>
        </p:nvSpPr>
        <p:spPr>
          <a:xfrm>
            <a:off x="1987925" y="3628325"/>
            <a:ext cx="1124100" cy="661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Управление RAM памятью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g34d5a48437e_0_84"/>
          <p:cNvSpPr txBox="1"/>
          <p:nvPr/>
        </p:nvSpPr>
        <p:spPr>
          <a:xfrm>
            <a:off x="6639178" y="3702875"/>
            <a:ext cx="1197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ФИНИШ</a:t>
            </a:r>
            <a:endParaRPr b="0" i="0" sz="17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567" name="Google Shape;567;g34d5a48437e_0_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9280" y="3702877"/>
            <a:ext cx="477597" cy="477598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4d5a48437e_0_84"/>
          <p:cNvSpPr/>
          <p:nvPr/>
        </p:nvSpPr>
        <p:spPr>
          <a:xfrm>
            <a:off x="925150" y="1723300"/>
            <a:ext cx="1524000" cy="4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g34d5a48437e_0_84"/>
          <p:cNvSpPr txBox="1"/>
          <p:nvPr/>
        </p:nvSpPr>
        <p:spPr>
          <a:xfrm>
            <a:off x="1588060" y="1723300"/>
            <a:ext cx="8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СТАРТ</a:t>
            </a:r>
            <a:endParaRPr b="0" i="0" sz="1700" u="none" cap="none" strike="noStrike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570" name="Google Shape;570;g34d5a48437e_0_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8425" y="1707700"/>
            <a:ext cx="477597" cy="477598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4d5a48437e_0_84"/>
          <p:cNvSpPr/>
          <p:nvPr/>
        </p:nvSpPr>
        <p:spPr>
          <a:xfrm>
            <a:off x="3495038" y="3626650"/>
            <a:ext cx="1197900" cy="661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Устройства в Linux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g34d5a48437e_0_84"/>
          <p:cNvSpPr/>
          <p:nvPr/>
        </p:nvSpPr>
        <p:spPr>
          <a:xfrm>
            <a:off x="5075950" y="3626650"/>
            <a:ext cx="1233600" cy="661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2be987b09_0_0"/>
          <p:cNvSpPr txBox="1"/>
          <p:nvPr/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ru" sz="3100">
                <a:latin typeface="Roboto"/>
                <a:ea typeface="Roboto"/>
                <a:cs typeface="Roboto"/>
                <a:sym typeface="Roboto"/>
              </a:rPr>
              <a:t>В курсе НЕ будут рассмотрены</a:t>
            </a:r>
            <a:endParaRPr b="1" i="0" sz="3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g3a2be987b09_0_0"/>
          <p:cNvSpPr txBox="1"/>
          <p:nvPr/>
        </p:nvSpPr>
        <p:spPr>
          <a:xfrm>
            <a:off x="585225" y="1426625"/>
            <a:ext cx="5555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9857F3"/>
              </a:buClr>
              <a:buSzPts val="1500"/>
              <a:buFont typeface="Roboto"/>
              <a:buChar char="●"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500"/>
              <a:buFont typeface="Roboto"/>
              <a:buChar char="●"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500"/>
              <a:buFont typeface="Roboto"/>
              <a:buChar char="●"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6"/>
          <p:cNvSpPr txBox="1"/>
          <p:nvPr>
            <p:ph type="title"/>
          </p:nvPr>
        </p:nvSpPr>
        <p:spPr>
          <a:xfrm>
            <a:off x="619450" y="343425"/>
            <a:ext cx="3802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Практика на курсе </a:t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452625" y="1557975"/>
            <a:ext cx="2692200" cy="136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ru" sz="4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1" i="0" sz="4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групповых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практических занятия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1452625" y="3230875"/>
            <a:ext cx="2692200" cy="146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Инструменты</a:t>
            </a:r>
            <a:r>
              <a:rPr b="0" i="0" lang="ru" sz="4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endParaRPr b="0" i="0" sz="4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 которыми поработаете: </a:t>
            </a: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Git, make, qemu, KGDB, kmemleak, KASAN, Ftrace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4570175" y="1355025"/>
            <a:ext cx="3121200" cy="35202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16"/>
          <p:cNvSpPr txBox="1"/>
          <p:nvPr/>
        </p:nvSpPr>
        <p:spPr>
          <a:xfrm>
            <a:off x="4653125" y="1710375"/>
            <a:ext cx="2955300" cy="21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Вы научитесь:</a:t>
            </a:r>
            <a:endParaRPr b="0" i="0" sz="19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собирать ядро Linux под “себя”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разбираться в коде ядра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работать с linux kernel API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разрабатывать символьные и блочные устройства и интерфейсы к ним</a:t>
            </a:r>
            <a:endParaRPr b="0" i="0" sz="11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88" name="Google Shape;5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0375" y="3080950"/>
            <a:ext cx="494450" cy="49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800" y="1243142"/>
            <a:ext cx="494450" cy="494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/>
          <p:nvPr/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ru" sz="3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Необходимые инструменты и ПО</a:t>
            </a:r>
            <a:endParaRPr b="1" i="0" sz="3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17"/>
          <p:cNvSpPr txBox="1"/>
          <p:nvPr/>
        </p:nvSpPr>
        <p:spPr>
          <a:xfrm>
            <a:off x="585225" y="1426625"/>
            <a:ext cx="55551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Для обучения вам необходимо установить: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9857F3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virt-manager</a:t>
            </a:r>
            <a:r>
              <a:rPr lang="ru" sz="1500">
                <a:latin typeface="Roboto"/>
                <a:ea typeface="Roboto"/>
                <a:cs typeface="Roboto"/>
                <a:sym typeface="Roboto"/>
              </a:rPr>
              <a:t>(рекомендую)</a:t>
            </a: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git, make, build-essential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57F3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 которая вам нравится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Результат от курса</a:t>
            </a:r>
            <a:endParaRPr/>
          </a:p>
        </p:txBody>
      </p:sp>
      <p:sp>
        <p:nvSpPr>
          <p:cNvPr id="601" name="Google Shape;601;p18"/>
          <p:cNvSpPr txBox="1"/>
          <p:nvPr>
            <p:ph idx="1" type="body"/>
          </p:nvPr>
        </p:nvSpPr>
        <p:spPr>
          <a:xfrm>
            <a:off x="500550" y="1380151"/>
            <a:ext cx="7742400" cy="2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b="1" lang="ru" sz="1700"/>
              <a:t>В рамках проектной работы вы…</a:t>
            </a:r>
            <a:endParaRPr b="1" sz="1700"/>
          </a:p>
          <a:p>
            <a:pPr indent="-323850" lvl="1" marL="9144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AutoNum type="alphaLcPeriod"/>
            </a:pPr>
            <a:r>
              <a:rPr lang="ru" sz="1500"/>
              <a:t>Научитесь писать драйвер символьного/блочного устройства в ядре Linux </a:t>
            </a:r>
            <a:endParaRPr sz="1500"/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ru" sz="1500"/>
              <a:t>посмотрите какие существуют подходы в написании драйверов</a:t>
            </a:r>
            <a:endParaRPr sz="1500"/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ru" sz="1500"/>
              <a:t>оформите документацию</a:t>
            </a:r>
            <a:endParaRPr sz="1500"/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ru" sz="1500"/>
              <a:t>сделаете тестирование своего драйвера с использованием KUnit</a:t>
            </a:r>
            <a:endParaRPr sz="1500"/>
          </a:p>
          <a:p>
            <a:pPr indent="-32385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ru" sz="1500"/>
              <a:t>представите проект перед ядерными разработчиками и получите рекомендации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9"/>
          <p:cNvSpPr txBox="1"/>
          <p:nvPr/>
        </p:nvSpPr>
        <p:spPr>
          <a:xfrm>
            <a:off x="528650" y="1087151"/>
            <a:ext cx="85206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3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Список литературы и ПО — </a:t>
            </a:r>
            <a:r>
              <a:rPr b="1" i="0" lang="ru" sz="31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в учебном чате</a:t>
            </a:r>
            <a:endParaRPr b="1" i="0" sz="3100" u="none" cap="none" strike="noStrike">
              <a:solidFill>
                <a:srgbClr val="4029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ru" sz="3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Доп. материалы — </a:t>
            </a:r>
            <a:r>
              <a:rPr b="1" i="0" lang="ru" sz="31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в личном кабинете, раздел “материалы”</a:t>
            </a:r>
            <a:endParaRPr b="1" i="0" sz="3100" u="none" cap="none" strike="noStrike">
              <a:solidFill>
                <a:srgbClr val="4029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7" name="Google Shape;6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00" y="3179625"/>
            <a:ext cx="535438" cy="53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8981" y="3179625"/>
            <a:ext cx="535438" cy="53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7962" y="3179625"/>
            <a:ext cx="535438" cy="5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615" name="Google Shape;615;p20"/>
          <p:cNvSpPr txBox="1"/>
          <p:nvPr/>
        </p:nvSpPr>
        <p:spPr>
          <a:xfrm>
            <a:off x="713100" y="2509500"/>
            <a:ext cx="2526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b="1" i="0" sz="1700" u="none" cap="none" strike="noStrike">
              <a:solidFill>
                <a:srgbClr val="4029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Вторник, четверг, 20:00</a:t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Запись и материалы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вебинара.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20"/>
          <p:cNvSpPr txBox="1"/>
          <p:nvPr/>
        </p:nvSpPr>
        <p:spPr>
          <a:xfrm>
            <a:off x="3673200" y="2509500"/>
            <a:ext cx="2205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b="1" i="0" sz="1700" u="none" cap="none" strike="noStrike">
              <a:solidFill>
                <a:srgbClr val="4029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Одно ДЗ на модуль</a:t>
            </a:r>
            <a:endParaRPr b="1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2-3 дня.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20"/>
          <p:cNvSpPr txBox="1"/>
          <p:nvPr/>
        </p:nvSpPr>
        <p:spPr>
          <a:xfrm>
            <a:off x="6407625" y="2509500"/>
            <a:ext cx="243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Чат в Telegram</a:t>
            </a:r>
            <a:endParaRPr b="1" i="0" sz="1700" u="none" cap="none" strike="noStrike">
              <a:solidFill>
                <a:srgbClr val="4029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b="0" i="0" lang="ru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обменивайтесь инсайтами.</a:t>
            </a:r>
            <a:endParaRPr b="1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8" name="Google Shape;6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25" y="1834683"/>
            <a:ext cx="555700" cy="5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4838" y="1834683"/>
            <a:ext cx="555699" cy="55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9325" y="1834683"/>
            <a:ext cx="555700" cy="5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Лайфхаки</a:t>
            </a:r>
            <a:endParaRPr/>
          </a:p>
        </p:txBody>
      </p:sp>
      <p:sp>
        <p:nvSpPr>
          <p:cNvPr id="626" name="Google Shape;626;p21"/>
          <p:cNvSpPr txBox="1"/>
          <p:nvPr/>
        </p:nvSpPr>
        <p:spPr>
          <a:xfrm>
            <a:off x="1335850" y="1468677"/>
            <a:ext cx="292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Если не успеваете охватить весь материал, сделайте упор на темы, которые для вас наиболее актуальны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21"/>
          <p:cNvSpPr txBox="1"/>
          <p:nvPr/>
        </p:nvSpPr>
        <p:spPr>
          <a:xfrm>
            <a:off x="5267125" y="1468677"/>
            <a:ext cx="323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Старайтесь применять полученные знания на практике, найдите стажировку, если у вас есть такая возможность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21"/>
          <p:cNvSpPr txBox="1"/>
          <p:nvPr/>
        </p:nvSpPr>
        <p:spPr>
          <a:xfrm>
            <a:off x="1335850" y="2770650"/>
            <a:ext cx="2696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Смело задавайте вопросы,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так материал лучше усваивается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21"/>
          <p:cNvSpPr txBox="1"/>
          <p:nvPr/>
        </p:nvSpPr>
        <p:spPr>
          <a:xfrm>
            <a:off x="5267125" y="2886000"/>
            <a:ext cx="301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Регулярно выполняйте ДЗ, 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т.к. наверстать пропуски тяжело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0" name="Google Shape;6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925" y="1744925"/>
            <a:ext cx="555700" cy="5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875" y="2931408"/>
            <a:ext cx="555700" cy="5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988" y="1622975"/>
            <a:ext cx="607700" cy="6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000" y="2886000"/>
            <a:ext cx="555700" cy="5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2"/>
          <p:cNvSpPr/>
          <p:nvPr/>
        </p:nvSpPr>
        <p:spPr>
          <a:xfrm>
            <a:off x="3259775" y="1820950"/>
            <a:ext cx="2415000" cy="386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22"/>
          <p:cNvSpPr txBox="1"/>
          <p:nvPr>
            <p:ph type="title"/>
          </p:nvPr>
        </p:nvSpPr>
        <p:spPr>
          <a:xfrm>
            <a:off x="468525" y="1169999"/>
            <a:ext cx="85206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Больше полезной информации 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в нашем курсе OTUS Heroes 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0" lang="ru" sz="3000">
                <a:latin typeface="Roboto Medium"/>
                <a:ea typeface="Roboto Medium"/>
                <a:cs typeface="Roboto Medium"/>
                <a:sym typeface="Roboto Medium"/>
              </a:rPr>
              <a:t>или в </a:t>
            </a:r>
            <a:r>
              <a:rPr b="0" lang="ru" sz="3000" u="sng">
                <a:solidFill>
                  <a:srgbClr val="40299B"/>
                </a:solidFill>
                <a:latin typeface="Roboto Medium"/>
                <a:ea typeface="Roboto Medium"/>
                <a:cs typeface="Roboto Medium"/>
                <a:sym typeface="Robot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курсе о том, как учатся взрослые</a:t>
            </a:r>
            <a:endParaRPr b="0" sz="3000">
              <a:solidFill>
                <a:srgbClr val="40299B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640" name="Google Shape;6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8143" y="317277"/>
            <a:ext cx="765850" cy="112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"/>
          <p:cNvSpPr txBox="1"/>
          <p:nvPr>
            <p:ph type="title"/>
          </p:nvPr>
        </p:nvSpPr>
        <p:spPr>
          <a:xfrm>
            <a:off x="580675" y="329367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Немного о мотивации</a:t>
            </a:r>
            <a:endParaRPr/>
          </a:p>
        </p:txBody>
      </p:sp>
      <p:sp>
        <p:nvSpPr>
          <p:cNvPr id="646" name="Google Shape;646;p23"/>
          <p:cNvSpPr txBox="1"/>
          <p:nvPr>
            <p:ph idx="1" type="body"/>
          </p:nvPr>
        </p:nvSpPr>
        <p:spPr>
          <a:xfrm>
            <a:off x="580675" y="1087150"/>
            <a:ext cx="4599600" cy="3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Приготовьтесь к волнообразной реакции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от </a:t>
            </a:r>
            <a:r>
              <a:rPr lang="ru">
                <a:latin typeface="Roboto Medium"/>
                <a:ea typeface="Roboto Medium"/>
                <a:cs typeface="Roboto Medium"/>
                <a:sym typeface="Roboto Medium"/>
              </a:rPr>
              <a:t>«ух ты как интересно»</a:t>
            </a:r>
            <a:r>
              <a:rPr lang="ru"/>
              <a:t> до</a:t>
            </a:r>
            <a:r>
              <a:rPr lang="ru">
                <a:latin typeface="Roboto Medium"/>
                <a:ea typeface="Roboto Medium"/>
                <a:cs typeface="Roboto Medium"/>
                <a:sym typeface="Roboto Medium"/>
              </a:rPr>
              <a:t> «куда я попал?»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50505"/>
                </a:solidFill>
              </a:rPr>
              <a:t>В такие моменты</a:t>
            </a:r>
            <a:r>
              <a:rPr lang="ru">
                <a:solidFill>
                  <a:srgbClr val="9857F3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">
                <a:latin typeface="Roboto Medium"/>
                <a:ea typeface="Roboto Medium"/>
                <a:cs typeface="Roboto Medium"/>
                <a:sym typeface="Roboto Medium"/>
              </a:rPr>
              <a:t>вспоминайте про цели обучения, которые вас мотивируют.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Roboto Medium"/>
                <a:ea typeface="Roboto Medium"/>
                <a:cs typeface="Roboto Medium"/>
                <a:sym typeface="Roboto Medium"/>
              </a:rPr>
              <a:t>На 2025 год в ядре Linux около 40 млн. строк кода. Понять ядро Linux полностью невозможно.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9857F3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Roboto Medium"/>
                <a:ea typeface="Roboto Medium"/>
                <a:cs typeface="Roboto Medium"/>
                <a:sym typeface="Roboto Medium"/>
              </a:rPr>
              <a:t>Это нормально :)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1134250" y="4187388"/>
            <a:ext cx="380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 если вы еще не определились с целью, загляните в </a:t>
            </a:r>
            <a:r>
              <a:rPr b="1" i="0" lang="ru" sz="1200" u="none" cap="none" strike="noStrike">
                <a:solidFill>
                  <a:srgbClr val="3F299A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наш гайд по целеполаганию</a:t>
            </a:r>
            <a:r>
              <a:rPr b="0" i="0" lang="ru" sz="1200" u="none" cap="none" strike="noStrike">
                <a:solidFill>
                  <a:srgbClr val="3F299A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ru" sz="12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2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8" name="Google Shape;648;p23"/>
          <p:cNvGrpSpPr/>
          <p:nvPr/>
        </p:nvGrpSpPr>
        <p:grpSpPr>
          <a:xfrm>
            <a:off x="6581255" y="2512509"/>
            <a:ext cx="2476176" cy="2476176"/>
            <a:chOff x="5680000" y="887300"/>
            <a:chExt cx="2689449" cy="2689449"/>
          </a:xfrm>
        </p:grpSpPr>
        <p:pic>
          <p:nvPicPr>
            <p:cNvPr id="649" name="Google Shape;649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521550" y="1185754"/>
              <a:ext cx="223800" cy="22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80000" y="887300"/>
              <a:ext cx="2689449" cy="26894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1" name="Google Shape;65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525" y="4271250"/>
            <a:ext cx="386689" cy="3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Отзывы</a:t>
            </a:r>
            <a:endParaRPr/>
          </a:p>
        </p:txBody>
      </p:sp>
      <p:sp>
        <p:nvSpPr>
          <p:cNvPr id="657" name="Google Shape;657;p24"/>
          <p:cNvSpPr txBox="1"/>
          <p:nvPr/>
        </p:nvSpPr>
        <p:spPr>
          <a:xfrm>
            <a:off x="1051400" y="3308463"/>
            <a:ext cx="523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Пожалуйста, заполняйте опросы после занятий и ДЗ, мы читаем все ваши сообщения :)</a:t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24"/>
          <p:cNvSpPr txBox="1"/>
          <p:nvPr>
            <p:ph idx="1" type="body"/>
          </p:nvPr>
        </p:nvSpPr>
        <p:spPr>
          <a:xfrm>
            <a:off x="500550" y="1305000"/>
            <a:ext cx="75687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Вебинары во многом адаптивны.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Мы наблюдаем за вашим обсуждением в Telegram,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берем в работу идеи из ваших отзывов на занятия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и домашние задания и становимся лучше!</a:t>
            </a:r>
            <a:endParaRPr sz="1700"/>
          </a:p>
        </p:txBody>
      </p:sp>
      <p:pic>
        <p:nvPicPr>
          <p:cNvPr id="659" name="Google Shape;6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999" y="3470891"/>
            <a:ext cx="367830" cy="36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5"/>
          <p:cNvSpPr txBox="1"/>
          <p:nvPr/>
        </p:nvSpPr>
        <p:spPr>
          <a:xfrm>
            <a:off x="2214250" y="1561500"/>
            <a:ext cx="58494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Ссылки на </a:t>
            </a:r>
            <a:r>
              <a:rPr b="1" i="0" lang="ru" sz="18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опросы по занятиям</a:t>
            </a:r>
            <a:r>
              <a:rPr b="0" i="0" lang="ru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преподаватели присылают в чат в конце вебинара</a:t>
            </a:r>
            <a:endParaRPr b="0" i="0" sz="18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Ссылки на </a:t>
            </a:r>
            <a:r>
              <a:rPr b="1" i="0" lang="ru" sz="18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опросы по ДЗ</a:t>
            </a:r>
            <a:r>
              <a:rPr b="0" i="0" lang="ru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приходят в чат проверки ДЗ после того, как ваша работа зачтена</a:t>
            </a:r>
            <a:endParaRPr b="0" i="0" sz="18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665" name="Google Shape;6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225" y="1561500"/>
            <a:ext cx="477675" cy="47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225" y="2439020"/>
            <a:ext cx="477675" cy="47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6"/>
          <p:cNvSpPr txBox="1"/>
          <p:nvPr>
            <p:ph type="title"/>
          </p:nvPr>
        </p:nvSpPr>
        <p:spPr>
          <a:xfrm>
            <a:off x="500550" y="1955849"/>
            <a:ext cx="8520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Основные определения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2" name="Google Shape;672;p26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1f7ed4e74_0_124"/>
          <p:cNvSpPr txBox="1"/>
          <p:nvPr>
            <p:ph type="title"/>
          </p:nvPr>
        </p:nvSpPr>
        <p:spPr>
          <a:xfrm>
            <a:off x="900000" y="404574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Маршрут блока</a:t>
            </a:r>
            <a:endParaRPr/>
          </a:p>
        </p:txBody>
      </p:sp>
      <p:sp>
        <p:nvSpPr>
          <p:cNvPr id="678" name="Google Shape;678;g3a1f7ed4e74_0_124"/>
          <p:cNvSpPr/>
          <p:nvPr/>
        </p:nvSpPr>
        <p:spPr>
          <a:xfrm>
            <a:off x="1138125" y="12499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определения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3a1f7ed4e74_0_124"/>
          <p:cNvSpPr/>
          <p:nvPr/>
        </p:nvSpPr>
        <p:spPr>
          <a:xfrm>
            <a:off x="1138125" y="1809677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Типы ядер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g3a1f7ed4e74_0_124"/>
          <p:cNvSpPr/>
          <p:nvPr/>
        </p:nvSpPr>
        <p:spPr>
          <a:xfrm>
            <a:off x="1138125" y="2389867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Экскурс в историю ОС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g3a1f7ed4e74_0_124"/>
          <p:cNvSpPr/>
          <p:nvPr/>
        </p:nvSpPr>
        <p:spPr>
          <a:xfrm>
            <a:off x="1138125" y="2970051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Особенности ядра Linux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2" name="Google Shape;682;g3a1f7ed4e74_0_124"/>
          <p:cNvCxnSpPr>
            <a:stCxn id="679" idx="1"/>
            <a:endCxn id="678" idx="1"/>
          </p:cNvCxnSpPr>
          <p:nvPr/>
        </p:nvCxnSpPr>
        <p:spPr>
          <a:xfrm flipH="1" rot="10800000">
            <a:off x="1138125" y="1437977"/>
            <a:ext cx="600" cy="559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83" name="Google Shape;683;g3a1f7ed4e74_0_124"/>
          <p:cNvCxnSpPr>
            <a:stCxn id="679" idx="1"/>
            <a:endCxn id="680" idx="1"/>
          </p:cNvCxnSpPr>
          <p:nvPr/>
        </p:nvCxnSpPr>
        <p:spPr>
          <a:xfrm>
            <a:off x="1138125" y="1997777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84" name="Google Shape;684;g3a1f7ed4e74_0_124"/>
          <p:cNvCxnSpPr>
            <a:stCxn id="680" idx="1"/>
            <a:endCxn id="681" idx="1"/>
          </p:cNvCxnSpPr>
          <p:nvPr/>
        </p:nvCxnSpPr>
        <p:spPr>
          <a:xfrm>
            <a:off x="1138125" y="2577967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7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ядро ?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0" name="Google Shape;690;p27"/>
          <p:cNvSpPr txBox="1"/>
          <p:nvPr/>
        </p:nvSpPr>
        <p:spPr>
          <a:xfrm>
            <a:off x="692050" y="1907400"/>
            <a:ext cx="74034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Ядро является ключевым компонентом любой операционной системы. </a:t>
            </a:r>
            <a:endParaRPr b="1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Существует мнение, что операционная система и ядро — это одно и то же. 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b="1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Другая точка зрения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операционная система включает в себя как ядро, так и системные программы, которые позволяют пользователям взаимодействовать с аппаратными ресурсами через ядро.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4a21c86600_0_1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Ядро –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6" name="Google Shape;696;g34a21c86600_0_13"/>
          <p:cNvSpPr txBox="1"/>
          <p:nvPr/>
        </p:nvSpPr>
        <p:spPr>
          <a:xfrm>
            <a:off x="721500" y="1984175"/>
            <a:ext cx="7403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центральная часть операционной системы (ОС), обеспечивающая приложениям координированный доступ к ресурсам компьютера, таким как: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6858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Процессорное время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Память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Внешнее аппаратное обеспечение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Char char="●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Устройства ввода и вывода информации</a:t>
            </a:r>
            <a:endParaRPr b="0" i="0" sz="15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4a21c86600_0_22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Неформальный ответ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2" name="Google Shape;702;g34a21c86600_0_22"/>
          <p:cNvSpPr txBox="1"/>
          <p:nvPr/>
        </p:nvSpPr>
        <p:spPr>
          <a:xfrm>
            <a:off x="721500" y="1726625"/>
            <a:ext cx="7567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Представим себе, что ядра нет, а каждая запущенная программа сама обращается к железу и обрабатывает сигналы от него. Вроде бы ничего страшного, кроме дублирования кода в каждой такой программе.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Но на компьютере одновременно работает множество программ. Как они будут "договариваться" между собой о совместном использовании общего аппаратного обеспечения?</a:t>
            </a:r>
            <a:endParaRPr b="1" i="1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Конечно, они могут встать в очередь, и сначала одна программа выполнится полностью, затем другая. Однако одни программы должны работать постоянно в фоновом режиме, другие – могут долго ожидать ввода или вывода, третьи – должны получать данные из другой работающей программы.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Поэтому функция оптимального распределения аппаратных ресурсов возлагается на ядро. Оно организует как бы параллельную работу множества программ, играет роль менеджера.</a:t>
            </a:r>
            <a:endParaRPr b="1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4a21c86600_0_2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Ядро - это программа!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8" name="Google Shape;708;g34a21c86600_0_28"/>
          <p:cNvSpPr txBox="1"/>
          <p:nvPr/>
        </p:nvSpPr>
        <p:spPr>
          <a:xfrm>
            <a:off x="721500" y="1954250"/>
            <a:ext cx="74034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Ядро операционной системы – это тоже программа, написанная на том или ином языке программирования и скомпилированная в исполняемый файл. 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отличии от других программ, ядро всегда загружается первым и потом постоянно "сидит" в определенной области оперативной памяти.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программа, которая всегда находится в запущенном состоянии и взаимодействует, с одной стороны, с железом, а с другой – с системными и пользовательскими программами. 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Программы могут использовать ресурсы аппаратного обеспечения компьютера благодаря ядру ОС.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a6b6be6b7_0_0"/>
          <p:cNvSpPr txBox="1"/>
          <p:nvPr/>
        </p:nvSpPr>
        <p:spPr>
          <a:xfrm>
            <a:off x="721493" y="2841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Ядро - это программа!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4" name="Google Shape;714;g3aa6b6be6b7_0_0"/>
          <p:cNvSpPr txBox="1"/>
          <p:nvPr/>
        </p:nvSpPr>
        <p:spPr>
          <a:xfrm>
            <a:off x="721500" y="1291300"/>
            <a:ext cx="74034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 распаковки: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D4D4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D4D4C"/>
                </a:solidFill>
                <a:latin typeface="Roboto Mono"/>
                <a:ea typeface="Roboto Mono"/>
                <a:cs typeface="Roboto Mono"/>
                <a:sym typeface="Roboto Mono"/>
              </a:rPr>
              <a:t>file /boot/vmlinuz-6.12.57+deb13-amd64</a:t>
            </a:r>
            <a:endParaRPr sz="1200">
              <a:solidFill>
                <a:srgbClr val="4D4D4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D4D4C"/>
                </a:solidFill>
                <a:latin typeface="Roboto Mono"/>
                <a:ea typeface="Roboto Mono"/>
                <a:cs typeface="Roboto Mono"/>
                <a:sym typeface="Roboto Mono"/>
              </a:rPr>
              <a:t>→ Linux kernel x86 boot executable, bzImage, compressed, ...</a:t>
            </a:r>
            <a:endParaRPr sz="1200">
              <a:solidFill>
                <a:srgbClr val="4D4D4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 распаковки: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D4D4C"/>
                </a:solidFill>
                <a:latin typeface="Courier New"/>
                <a:ea typeface="Courier New"/>
                <a:cs typeface="Courier New"/>
                <a:sym typeface="Courier New"/>
              </a:rPr>
              <a:t>file vmlinux</a:t>
            </a:r>
            <a:endParaRPr sz="1100">
              <a:solidFill>
                <a:srgbClr val="4D4D4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D4D4C"/>
                </a:solidFill>
                <a:latin typeface="Courier New"/>
                <a:ea typeface="Courier New"/>
                <a:cs typeface="Courier New"/>
                <a:sym typeface="Courier New"/>
              </a:rPr>
              <a:t>→ ELF 64-bit LSB executable, x86-64, statically linked, stripped</a:t>
            </a:r>
            <a:endParaRPr sz="1100">
              <a:solidFill>
                <a:srgbClr val="4D4D4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D4D4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 распаковки ядра видно: это обычный ELF-исполняемый файл, как любой бинарник.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Такую структуру понимают и анализируют стандартные инструменты (file, readelf, objdump).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Ядро — это не магия, это файл, который можно дизассемблировать, изучать и даже запустить как обычный ELF файл в US.</a:t>
            </a:r>
            <a:endParaRPr sz="1100">
              <a:solidFill>
                <a:srgbClr val="4D4D4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4a21c86600_0_34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Драйвер -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0" name="Google Shape;720;g34a21c86600_0_34"/>
          <p:cNvSpPr txBox="1"/>
          <p:nvPr/>
        </p:nvSpPr>
        <p:spPr>
          <a:xfrm>
            <a:off x="684725" y="2009350"/>
            <a:ext cx="74034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компьютерное программное обеспечение, которое позволяет другому программному обеспечению (например, операционной системе) получать доступ к аппаратному обеспечению определенного устройства.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Обычно с операционными системами поставляются драйверы для ключевых компонентов аппаратного обеспечения, без которых система не сможет функционировать.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Однако для некоторых устройств, таких как: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Видеокарта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Принтер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Другие устройства</a:t>
            </a:r>
            <a:endParaRPr b="0" i="0" sz="12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4a21c86600_0_40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Неформальный ответ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6" name="Google Shape;726;g34a21c86600_0_40"/>
          <p:cNvSpPr txBox="1"/>
          <p:nvPr/>
        </p:nvSpPr>
        <p:spPr>
          <a:xfrm>
            <a:off x="670000" y="2020450"/>
            <a:ext cx="7403400" cy="24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Драйвер – это программный код, функция которого заключается в предоставлении возможности использовать определенное железо (например, видеокарту).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Конкретный драйвер </a:t>
            </a:r>
            <a:r>
              <a:rPr b="1" i="1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всегда</a:t>
            </a: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загружается в память вместе с остальной частью ядра.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Он туда грузится, лишь когда </a:t>
            </a:r>
            <a:r>
              <a:rPr b="1" i="1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возникает потребность</a:t>
            </a: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ресурсах устройства.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1" i="1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 экономится память, но в ущерб скорости.</a:t>
            </a:r>
            <a:endParaRPr b="1" i="1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aa6b6be6b7_0_9"/>
          <p:cNvSpPr txBox="1"/>
          <p:nvPr/>
        </p:nvSpPr>
        <p:spPr>
          <a:xfrm>
            <a:off x="721493" y="4017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Драйвер </a:t>
            </a: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 Linux - это …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32" name="Google Shape;732;g3aa6b6be6b7_0_9"/>
          <p:cNvSpPr txBox="1"/>
          <p:nvPr/>
        </p:nvSpPr>
        <p:spPr>
          <a:xfrm>
            <a:off x="721500" y="1659550"/>
            <a:ext cx="74034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.ko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"kernel object" — это специальный бинарный модуль ядра.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Драйверы могут быть поставлены сразу с ядром или как отдельные модули (доп. пакеты).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(Например, новый драйвер видеокарты может прийти в виде </a:t>
            </a:r>
            <a:r>
              <a:rPr lang="ru" sz="13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.deb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пакета для Ubuntu/Debian.)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aa6b6be6b7_0_30"/>
          <p:cNvSpPr txBox="1"/>
          <p:nvPr>
            <p:ph type="title"/>
          </p:nvPr>
        </p:nvSpPr>
        <p:spPr>
          <a:xfrm>
            <a:off x="500550" y="1955849"/>
            <a:ext cx="8520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Типы ядер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8" name="Google Shape;738;g3aa6b6be6b7_0_30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4d5a48437e_0_762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Типы ядер</a:t>
            </a:r>
            <a:endParaRPr/>
          </a:p>
        </p:txBody>
      </p:sp>
      <p:sp>
        <p:nvSpPr>
          <p:cNvPr id="744" name="Google Shape;744;g34d5a48437e_0_762"/>
          <p:cNvSpPr/>
          <p:nvPr/>
        </p:nvSpPr>
        <p:spPr>
          <a:xfrm>
            <a:off x="749250" y="1582152"/>
            <a:ext cx="3822900" cy="1158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34d5a48437e_0_762"/>
          <p:cNvSpPr txBox="1"/>
          <p:nvPr/>
        </p:nvSpPr>
        <p:spPr>
          <a:xfrm>
            <a:off x="887250" y="17150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Монолитные ядра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4d5a48437e_0_762"/>
          <p:cNvSpPr/>
          <p:nvPr/>
        </p:nvSpPr>
        <p:spPr>
          <a:xfrm>
            <a:off x="4787850" y="158320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g34d5a48437e_0_762"/>
          <p:cNvSpPr txBox="1"/>
          <p:nvPr/>
        </p:nvSpPr>
        <p:spPr>
          <a:xfrm>
            <a:off x="4925850" y="171610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Модульные ядра</a:t>
            </a:r>
            <a:endParaRPr b="1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g34d5a48437e_0_762"/>
          <p:cNvSpPr/>
          <p:nvPr/>
        </p:nvSpPr>
        <p:spPr>
          <a:xfrm>
            <a:off x="7492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g34d5a48437e_0_762"/>
          <p:cNvSpPr txBox="1"/>
          <p:nvPr/>
        </p:nvSpPr>
        <p:spPr>
          <a:xfrm>
            <a:off x="8872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Микроядро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4d5a48437e_0_762"/>
          <p:cNvSpPr/>
          <p:nvPr/>
        </p:nvSpPr>
        <p:spPr>
          <a:xfrm>
            <a:off x="47878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g34d5a48437e_0_762"/>
          <p:cNvSpPr txBox="1"/>
          <p:nvPr/>
        </p:nvSpPr>
        <p:spPr>
          <a:xfrm>
            <a:off x="49258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Гибридные ядра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2" name="Google Shape;752;g34d5a48437e_0_7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3250" y="2183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4a21c86600_0_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Монолитное ядро -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8" name="Google Shape;758;g34a21c86600_0_53"/>
          <p:cNvSpPr txBox="1"/>
          <p:nvPr/>
        </p:nvSpPr>
        <p:spPr>
          <a:xfrm>
            <a:off x="670000" y="2020450"/>
            <a:ext cx="74034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тип ядра, в котором все компоненты встроены в ядро операционной системы. 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Вся логика и драйверы управления аппаратным обеспечением </a:t>
            </a:r>
            <a:r>
              <a:rPr b="1" i="1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расположены в едином ядре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и работают на уровне ядра.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Примеры операционных систем с монолитным ядром: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Windows (основная часть монолит)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Linux(основная часть монолит)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Unix</a:t>
            </a:r>
            <a:endParaRPr b="0" i="0" sz="10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1f7ed4e74_0_24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4" name="Google Shape;764;g3a1f7ed4e74_0_248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g3a1f7ed4e74_0_248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g3a1f7ed4e74_0_248"/>
          <p:cNvSpPr txBox="1"/>
          <p:nvPr/>
        </p:nvSpPr>
        <p:spPr>
          <a:xfrm>
            <a:off x="827425" y="2726427"/>
            <a:ext cx="3162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операционной системы работает в привилегированном режиме, что обеспечивает быстрый доступ к аппаратному обеспечению и памяти.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g3a1f7ed4e74_0_248"/>
          <p:cNvSpPr txBox="1"/>
          <p:nvPr/>
        </p:nvSpPr>
        <p:spPr>
          <a:xfrm>
            <a:off x="4792300" y="2726425"/>
            <a:ext cx="3048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Ядра монолитных операционных систем относительно легко использовать, так как все компоненты находятся в одном месте и не требуют специальной настройки.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g3a1f7ed4e74_0_248"/>
          <p:cNvSpPr txBox="1"/>
          <p:nvPr/>
        </p:nvSpPr>
        <p:spPr>
          <a:xfrm>
            <a:off x="827425" y="2139650"/>
            <a:ext cx="316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Высокая производительность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g3a1f7ed4e74_0_248"/>
          <p:cNvSpPr txBox="1"/>
          <p:nvPr/>
        </p:nvSpPr>
        <p:spPr>
          <a:xfrm>
            <a:off x="4792300" y="2139650"/>
            <a:ext cx="30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Простота использования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a1f7ed4e74_0_26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75" name="Google Shape;775;g3a1f7ed4e74_0_263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g3a1f7ed4e74_0_263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g3a1f7ed4e74_0_263"/>
          <p:cNvSpPr txBox="1"/>
          <p:nvPr/>
        </p:nvSpPr>
        <p:spPr>
          <a:xfrm>
            <a:off x="827425" y="2726427"/>
            <a:ext cx="3162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Если новое устройство не поддерживается ядром операционной системы и не имеет драйвера, операционная система не сможет работать с этим оборудованием.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g3a1f7ed4e74_0_263"/>
          <p:cNvSpPr txBox="1"/>
          <p:nvPr/>
        </p:nvSpPr>
        <p:spPr>
          <a:xfrm>
            <a:off x="4792300" y="2726425"/>
            <a:ext cx="3048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Разработка программного обеспечения, которое будет управлять аппаратным обеспечением на низком уровне, достаточно сложна.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g3a1f7ed4e74_0_263"/>
          <p:cNvSpPr txBox="1"/>
          <p:nvPr/>
        </p:nvSpPr>
        <p:spPr>
          <a:xfrm>
            <a:off x="827425" y="2139650"/>
            <a:ext cx="316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Сложности с поддержкой нового оборудования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g3a1f7ed4e74_0_263"/>
          <p:cNvSpPr txBox="1"/>
          <p:nvPr/>
        </p:nvSpPr>
        <p:spPr>
          <a:xfrm>
            <a:off x="4792300" y="2139650"/>
            <a:ext cx="30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Сложности с разработкой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4d5a48437e_0_776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Типы ядер</a:t>
            </a:r>
            <a:endParaRPr/>
          </a:p>
        </p:txBody>
      </p:sp>
      <p:sp>
        <p:nvSpPr>
          <p:cNvPr id="786" name="Google Shape;786;g34d5a48437e_0_776"/>
          <p:cNvSpPr/>
          <p:nvPr/>
        </p:nvSpPr>
        <p:spPr>
          <a:xfrm>
            <a:off x="749250" y="15821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g34d5a48437e_0_776"/>
          <p:cNvSpPr txBox="1"/>
          <p:nvPr/>
        </p:nvSpPr>
        <p:spPr>
          <a:xfrm>
            <a:off x="887250" y="17150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Монолитные</a:t>
            </a:r>
            <a:r>
              <a:rPr b="1" i="0" lang="ru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ядра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34d5a48437e_0_776"/>
          <p:cNvSpPr/>
          <p:nvPr/>
        </p:nvSpPr>
        <p:spPr>
          <a:xfrm>
            <a:off x="4787850" y="1583202"/>
            <a:ext cx="3822900" cy="1158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g34d5a48437e_0_776"/>
          <p:cNvSpPr txBox="1"/>
          <p:nvPr/>
        </p:nvSpPr>
        <p:spPr>
          <a:xfrm>
            <a:off x="4925850" y="171610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Модульные ядра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g34d5a48437e_0_776"/>
          <p:cNvSpPr/>
          <p:nvPr/>
        </p:nvSpPr>
        <p:spPr>
          <a:xfrm>
            <a:off x="7492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g34d5a48437e_0_776"/>
          <p:cNvSpPr txBox="1"/>
          <p:nvPr/>
        </p:nvSpPr>
        <p:spPr>
          <a:xfrm>
            <a:off x="8872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Микроядро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4d5a48437e_0_776"/>
          <p:cNvSpPr/>
          <p:nvPr/>
        </p:nvSpPr>
        <p:spPr>
          <a:xfrm>
            <a:off x="47878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g34d5a48437e_0_776"/>
          <p:cNvSpPr txBox="1"/>
          <p:nvPr/>
        </p:nvSpPr>
        <p:spPr>
          <a:xfrm>
            <a:off x="49258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Гибридные ядра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4" name="Google Shape;794;g34d5a48437e_0_7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0750" y="21450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4a21c86600_0_71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Модульное ядро -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0" name="Google Shape;800;g34a21c86600_0_71"/>
          <p:cNvSpPr txBox="1"/>
          <p:nvPr/>
        </p:nvSpPr>
        <p:spPr>
          <a:xfrm>
            <a:off x="670000" y="2020450"/>
            <a:ext cx="7403400" cy="23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тип ядра, в котором компоненты ядра операционной системы </a:t>
            </a:r>
            <a:r>
              <a:rPr b="1" i="1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можно добавлять и удалять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без необходимости перезагрузки всей системы.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Примеры операционных систем с модульным ядром: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ЯОС.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a1f7ed4e74_0_509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6" name="Google Shape;806;g3a1f7ed4e74_0_509"/>
          <p:cNvSpPr/>
          <p:nvPr/>
        </p:nvSpPr>
        <p:spPr>
          <a:xfrm>
            <a:off x="721500" y="2024525"/>
            <a:ext cx="2477400" cy="2558400"/>
          </a:xfrm>
          <a:prstGeom prst="roundRect">
            <a:avLst>
              <a:gd fmla="val 7154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g3a1f7ed4e74_0_509"/>
          <p:cNvSpPr txBox="1"/>
          <p:nvPr/>
        </p:nvSpPr>
        <p:spPr>
          <a:xfrm>
            <a:off x="827425" y="2726425"/>
            <a:ext cx="2207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Компоненты ядра операционной системы могут быть добавлены и удалены без перезагрузки системы, что позволяет легко настраивать и изменять операционную систему.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g3a1f7ed4e74_0_509"/>
          <p:cNvSpPr txBox="1"/>
          <p:nvPr/>
        </p:nvSpPr>
        <p:spPr>
          <a:xfrm>
            <a:off x="827425" y="2139650"/>
            <a:ext cx="220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Гибкость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g3a1f7ed4e74_0_509"/>
          <p:cNvSpPr/>
          <p:nvPr/>
        </p:nvSpPr>
        <p:spPr>
          <a:xfrm>
            <a:off x="3382925" y="2024525"/>
            <a:ext cx="2477400" cy="2558400"/>
          </a:xfrm>
          <a:prstGeom prst="roundRect">
            <a:avLst>
              <a:gd fmla="val 7154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g3a1f7ed4e74_0_509"/>
          <p:cNvSpPr txBox="1"/>
          <p:nvPr/>
        </p:nvSpPr>
        <p:spPr>
          <a:xfrm>
            <a:off x="3488850" y="2726425"/>
            <a:ext cx="2207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Модули ядра можно загружать и выгружать по требованию, что повышает безопасность системы.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g3a1f7ed4e74_0_509"/>
          <p:cNvSpPr txBox="1"/>
          <p:nvPr/>
        </p:nvSpPr>
        <p:spPr>
          <a:xfrm>
            <a:off x="3488850" y="2139650"/>
            <a:ext cx="220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Безопасность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g3a1f7ed4e74_0_509"/>
          <p:cNvSpPr/>
          <p:nvPr/>
        </p:nvSpPr>
        <p:spPr>
          <a:xfrm>
            <a:off x="6044350" y="2024525"/>
            <a:ext cx="2477400" cy="2558400"/>
          </a:xfrm>
          <a:prstGeom prst="roundRect">
            <a:avLst>
              <a:gd fmla="val 7154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g3a1f7ed4e74_0_509"/>
          <p:cNvSpPr txBox="1"/>
          <p:nvPr/>
        </p:nvSpPr>
        <p:spPr>
          <a:xfrm>
            <a:off x="6150275" y="2726425"/>
            <a:ext cx="2207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Все модули ядра находятся в едином месте и не требуют специальной настройки.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g3a1f7ed4e74_0_509"/>
          <p:cNvSpPr txBox="1"/>
          <p:nvPr/>
        </p:nvSpPr>
        <p:spPr>
          <a:xfrm>
            <a:off x="6150275" y="2139650"/>
            <a:ext cx="220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Простота использования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1f7ed4e74_0_519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20" name="Google Shape;820;g3a1f7ed4e74_0_519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g3a1f7ed4e74_0_519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g3a1f7ed4e74_0_519"/>
          <p:cNvSpPr txBox="1"/>
          <p:nvPr/>
        </p:nvSpPr>
        <p:spPr>
          <a:xfrm>
            <a:off x="827425" y="2726427"/>
            <a:ext cx="3162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Если новое устройство не поддерживается ядром операционной системы и не имеет драйвера, операционная система не сможет работать с этим оборудованием.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g3a1f7ed4e74_0_519"/>
          <p:cNvSpPr txBox="1"/>
          <p:nvPr/>
        </p:nvSpPr>
        <p:spPr>
          <a:xfrm>
            <a:off x="4792300" y="2726425"/>
            <a:ext cx="3048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Некоторые модули ядра требуют настройки, что может быть слишком сложным для обычных пользователей.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g3a1f7ed4e74_0_519"/>
          <p:cNvSpPr txBox="1"/>
          <p:nvPr/>
        </p:nvSpPr>
        <p:spPr>
          <a:xfrm>
            <a:off x="827425" y="2139650"/>
            <a:ext cx="316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Сложности с поддержкой нового оборудования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g3a1f7ed4e74_0_519"/>
          <p:cNvSpPr txBox="1"/>
          <p:nvPr/>
        </p:nvSpPr>
        <p:spPr>
          <a:xfrm>
            <a:off x="4792300" y="2139650"/>
            <a:ext cx="30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Сложности с настройкой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4d5a48437e_0_789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Типы ядер</a:t>
            </a:r>
            <a:endParaRPr/>
          </a:p>
        </p:txBody>
      </p:sp>
      <p:sp>
        <p:nvSpPr>
          <p:cNvPr id="831" name="Google Shape;831;g34d5a48437e_0_789"/>
          <p:cNvSpPr/>
          <p:nvPr/>
        </p:nvSpPr>
        <p:spPr>
          <a:xfrm>
            <a:off x="749250" y="15821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g34d5a48437e_0_789"/>
          <p:cNvSpPr txBox="1"/>
          <p:nvPr/>
        </p:nvSpPr>
        <p:spPr>
          <a:xfrm>
            <a:off x="887250" y="17150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Монолитные ядра</a:t>
            </a:r>
            <a:endParaRPr b="1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g34d5a48437e_0_789"/>
          <p:cNvSpPr/>
          <p:nvPr/>
        </p:nvSpPr>
        <p:spPr>
          <a:xfrm>
            <a:off x="4787850" y="158320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g34d5a48437e_0_789"/>
          <p:cNvSpPr txBox="1"/>
          <p:nvPr/>
        </p:nvSpPr>
        <p:spPr>
          <a:xfrm>
            <a:off x="4925850" y="171610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Модульные ядра</a:t>
            </a:r>
            <a:endParaRPr b="1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g34d5a48437e_0_789"/>
          <p:cNvSpPr/>
          <p:nvPr/>
        </p:nvSpPr>
        <p:spPr>
          <a:xfrm>
            <a:off x="7492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g34d5a48437e_0_789"/>
          <p:cNvSpPr txBox="1"/>
          <p:nvPr/>
        </p:nvSpPr>
        <p:spPr>
          <a:xfrm>
            <a:off x="8872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Микроядро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g34d5a48437e_0_789"/>
          <p:cNvSpPr/>
          <p:nvPr/>
        </p:nvSpPr>
        <p:spPr>
          <a:xfrm>
            <a:off x="47878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g34d5a48437e_0_789"/>
          <p:cNvSpPr txBox="1"/>
          <p:nvPr/>
        </p:nvSpPr>
        <p:spPr>
          <a:xfrm>
            <a:off x="49258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Гибридные ядра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9" name="Google Shape;839;g34d5a48437e_0_7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825" y="37560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4a21c86600_0_89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Микроядро -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45" name="Google Shape;845;g34a21c86600_0_89"/>
          <p:cNvSpPr txBox="1"/>
          <p:nvPr/>
        </p:nvSpPr>
        <p:spPr>
          <a:xfrm>
            <a:off x="670000" y="2020450"/>
            <a:ext cx="7403400" cy="18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тип ядра, в котором только </a:t>
            </a:r>
            <a:r>
              <a:rPr b="1" i="1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минимальное количество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функций реализовано </a:t>
            </a:r>
            <a:r>
              <a:rPr b="1" i="1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самом ядре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а все другие функции реализованы </a:t>
            </a:r>
            <a:r>
              <a:rPr b="1" i="1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виде отдельных процессов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работающих с ядром через механизм межпроцессного взаимодействия.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Примеры операционных систем с микроядерным ядром: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QNX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L4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a1f7ed4e74_0_53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51" name="Google Shape;851;g3a1f7ed4e74_0_538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g3a1f7ed4e74_0_538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g3a1f7ed4e74_0_538"/>
          <p:cNvSpPr txBox="1"/>
          <p:nvPr/>
        </p:nvSpPr>
        <p:spPr>
          <a:xfrm>
            <a:off x="827425" y="2726427"/>
            <a:ext cx="3162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Гораздо более гибкие, чем монолитные, поскольку множество функций не находится в самом ядре.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g3a1f7ed4e74_0_538"/>
          <p:cNvSpPr txBox="1"/>
          <p:nvPr/>
        </p:nvSpPr>
        <p:spPr>
          <a:xfrm>
            <a:off x="4792300" y="2726425"/>
            <a:ext cx="3048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Разделение ядра операционной системы на меньшие компоненты повышает стабильность системы, так как отказ одного компонента не повлияет на работу других.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g3a1f7ed4e74_0_538"/>
          <p:cNvSpPr txBox="1"/>
          <p:nvPr/>
        </p:nvSpPr>
        <p:spPr>
          <a:xfrm>
            <a:off x="827425" y="2139650"/>
            <a:ext cx="316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Гибкость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g3a1f7ed4e74_0_538"/>
          <p:cNvSpPr txBox="1"/>
          <p:nvPr/>
        </p:nvSpPr>
        <p:spPr>
          <a:xfrm>
            <a:off x="4792300" y="2139650"/>
            <a:ext cx="30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Устойчивость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a1f7ed4e74_0_54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2" name="Google Shape;862;g3a1f7ed4e74_0_548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g3a1f7ed4e74_0_548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g3a1f7ed4e74_0_548"/>
          <p:cNvSpPr txBox="1"/>
          <p:nvPr/>
        </p:nvSpPr>
        <p:spPr>
          <a:xfrm>
            <a:off x="827425" y="2726427"/>
            <a:ext cx="3162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Использование механизмов межпроцессного взаимодействия может замедлить работу системы.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g3a1f7ed4e74_0_548"/>
          <p:cNvSpPr txBox="1"/>
          <p:nvPr/>
        </p:nvSpPr>
        <p:spPr>
          <a:xfrm>
            <a:off x="4792300" y="2726425"/>
            <a:ext cx="3048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Разделение функций между различными компонентами системы может повысить вероятность ошибок и сбоев.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g3a1f7ed4e74_0_548"/>
          <p:cNvSpPr txBox="1"/>
          <p:nvPr/>
        </p:nvSpPr>
        <p:spPr>
          <a:xfrm>
            <a:off x="827425" y="2139650"/>
            <a:ext cx="316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Низкая производительность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g3a1f7ed4e74_0_548"/>
          <p:cNvSpPr txBox="1"/>
          <p:nvPr/>
        </p:nvSpPr>
        <p:spPr>
          <a:xfrm>
            <a:off x="4792300" y="2139650"/>
            <a:ext cx="30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Низкая надежность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4d5a48437e_0_802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Типы ядер</a:t>
            </a:r>
            <a:endParaRPr/>
          </a:p>
        </p:txBody>
      </p:sp>
      <p:sp>
        <p:nvSpPr>
          <p:cNvPr id="873" name="Google Shape;873;g34d5a48437e_0_802"/>
          <p:cNvSpPr/>
          <p:nvPr/>
        </p:nvSpPr>
        <p:spPr>
          <a:xfrm>
            <a:off x="749250" y="15821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g34d5a48437e_0_802"/>
          <p:cNvSpPr txBox="1"/>
          <p:nvPr/>
        </p:nvSpPr>
        <p:spPr>
          <a:xfrm>
            <a:off x="887250" y="17150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Монолитные ядра</a:t>
            </a:r>
            <a:endParaRPr b="1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g34d5a48437e_0_802"/>
          <p:cNvSpPr/>
          <p:nvPr/>
        </p:nvSpPr>
        <p:spPr>
          <a:xfrm>
            <a:off x="4787850" y="158320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g34d5a48437e_0_802"/>
          <p:cNvSpPr txBox="1"/>
          <p:nvPr/>
        </p:nvSpPr>
        <p:spPr>
          <a:xfrm>
            <a:off x="4925850" y="171610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Модульные ядра</a:t>
            </a:r>
            <a:endParaRPr b="1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g34d5a48437e_0_802"/>
          <p:cNvSpPr/>
          <p:nvPr/>
        </p:nvSpPr>
        <p:spPr>
          <a:xfrm>
            <a:off x="7492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g34d5a48437e_0_802"/>
          <p:cNvSpPr txBox="1"/>
          <p:nvPr/>
        </p:nvSpPr>
        <p:spPr>
          <a:xfrm>
            <a:off x="8872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Микроядро</a:t>
            </a:r>
            <a:endParaRPr b="1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g34d5a48437e_0_802"/>
          <p:cNvSpPr/>
          <p:nvPr/>
        </p:nvSpPr>
        <p:spPr>
          <a:xfrm>
            <a:off x="4787850" y="3182352"/>
            <a:ext cx="3822900" cy="1158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g34d5a48437e_0_802"/>
          <p:cNvSpPr txBox="1"/>
          <p:nvPr/>
        </p:nvSpPr>
        <p:spPr>
          <a:xfrm>
            <a:off x="4925850" y="3315250"/>
            <a:ext cx="35469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Гибридные ядра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1" name="Google Shape;881;g34d5a48437e_0_8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1000" y="37609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4a21c86600_0_107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Гибридное ядро - это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7" name="Google Shape;887;g34a21c86600_0_107"/>
          <p:cNvSpPr txBox="1"/>
          <p:nvPr/>
        </p:nvSpPr>
        <p:spPr>
          <a:xfrm>
            <a:off x="670000" y="2020450"/>
            <a:ext cx="74034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тип ядра, который объединяет преимущества монолитного и модульного ядра. 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Они содержат некоторые функции ядра в монолитном стиле, а другие функции реализованы в виде отдельных процессов.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Примеры операционных систем с гибридным ядром: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Windows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macOS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Linux</a:t>
            </a:r>
            <a:endParaRPr b="0" i="0" sz="13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1f7ed4e74_0_55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3" name="Google Shape;893;g3a1f7ed4e74_0_558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g3a1f7ed4e74_0_558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g3a1f7ed4e74_0_558"/>
          <p:cNvSpPr txBox="1"/>
          <p:nvPr/>
        </p:nvSpPr>
        <p:spPr>
          <a:xfrm>
            <a:off x="827425" y="2726427"/>
            <a:ext cx="3162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Сочетание преимуществ монолитных и микроядерных систем расширяет функциональность операционной системы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g3a1f7ed4e74_0_558"/>
          <p:cNvSpPr txBox="1"/>
          <p:nvPr/>
        </p:nvSpPr>
        <p:spPr>
          <a:xfrm>
            <a:off x="4792300" y="2726425"/>
            <a:ext cx="3048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Некоторые функции реализованы напрямую в ядре, что может повысить производительность системы по сравнению с микроядерными системами.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g3a1f7ed4e74_0_558"/>
          <p:cNvSpPr txBox="1"/>
          <p:nvPr/>
        </p:nvSpPr>
        <p:spPr>
          <a:xfrm>
            <a:off x="827425" y="2139650"/>
            <a:ext cx="316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Гибкость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g3a1f7ed4e74_0_558"/>
          <p:cNvSpPr txBox="1"/>
          <p:nvPr/>
        </p:nvSpPr>
        <p:spPr>
          <a:xfrm>
            <a:off x="4792300" y="2139650"/>
            <a:ext cx="304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Высокая производительность</a:t>
            </a:r>
            <a:endParaRPr b="1" i="0" sz="16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a1f7ed4e74_0_568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5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</a:t>
            </a:r>
            <a:endParaRPr b="0" i="0" sz="23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4" name="Google Shape;904;g3a1f7ed4e74_0_568"/>
          <p:cNvSpPr/>
          <p:nvPr/>
        </p:nvSpPr>
        <p:spPr>
          <a:xfrm>
            <a:off x="4582300" y="20245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g3a1f7ed4e74_0_568"/>
          <p:cNvSpPr/>
          <p:nvPr/>
        </p:nvSpPr>
        <p:spPr>
          <a:xfrm>
            <a:off x="721500" y="20245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g3a1f7ed4e74_0_568"/>
          <p:cNvSpPr txBox="1"/>
          <p:nvPr/>
        </p:nvSpPr>
        <p:spPr>
          <a:xfrm>
            <a:off x="827425" y="2726427"/>
            <a:ext cx="3162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Разработка гибридных ядер может быть более сложной, чем в случае монолитных или микроядерных ядер.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g3a1f7ed4e74_0_568"/>
          <p:cNvSpPr txBox="1"/>
          <p:nvPr/>
        </p:nvSpPr>
        <p:spPr>
          <a:xfrm>
            <a:off x="4792300" y="2726425"/>
            <a:ext cx="3048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Гибридные системы могут быть менее безопасными, чем микроядерные, поскольку некоторые компоненты могут иметь доступ к ядру.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g3a1f7ed4e74_0_568"/>
          <p:cNvSpPr txBox="1"/>
          <p:nvPr/>
        </p:nvSpPr>
        <p:spPr>
          <a:xfrm>
            <a:off x="827425" y="2139650"/>
            <a:ext cx="316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Сложности с разработкой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g3a1f7ed4e74_0_568"/>
          <p:cNvSpPr txBox="1"/>
          <p:nvPr/>
        </p:nvSpPr>
        <p:spPr>
          <a:xfrm>
            <a:off x="4792300" y="2139650"/>
            <a:ext cx="304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Низкая безопасность</a:t>
            </a:r>
            <a:endParaRPr b="1" i="0" sz="16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4d5a48437e_0_934"/>
          <p:cNvSpPr txBox="1"/>
          <p:nvPr>
            <p:ph type="title"/>
          </p:nvPr>
        </p:nvSpPr>
        <p:spPr>
          <a:xfrm>
            <a:off x="623400" y="4130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915" name="Google Shape;915;g34d5a48437e_0_934"/>
          <p:cNvSpPr txBox="1"/>
          <p:nvPr>
            <p:ph idx="4294967295" type="subTitle"/>
          </p:nvPr>
        </p:nvSpPr>
        <p:spPr>
          <a:xfrm>
            <a:off x="500550" y="857363"/>
            <a:ext cx="779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b="1" i="0" lang="ru" sz="1500" u="none" cap="none" strike="noStrik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500" u="none" cap="none" strike="noStrike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g34d5a48437e_0_934"/>
          <p:cNvSpPr txBox="1"/>
          <p:nvPr/>
        </p:nvSpPr>
        <p:spPr>
          <a:xfrm>
            <a:off x="720000" y="1288450"/>
            <a:ext cx="63390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Выделяют операционные системы на монолитном ядре и микроядре, а также разные промежуточные варианты. 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Монолитное ядро проще и быстрее работает, так как в памяти всегда находится почти весь код.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Микроядро меньше, сложнее, работает медленнее, однако нередко считается более передовым из-за легкости подключения новых частей кода и устойчивости к сбоям оборудования.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Микроядро, находясь в памяти, организует взаимодействие между другими частями кода операционной системы, которые являются самостоятельными программами.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Современный Linux это гибридное ядро, с корнями в монолитное ядро.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7" name="Google Shape;917;g34d5a48437e_0_9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2250" y="3286650"/>
            <a:ext cx="1107824" cy="162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4a21c86600_0_134"/>
          <p:cNvSpPr txBox="1"/>
          <p:nvPr>
            <p:ph type="title"/>
          </p:nvPr>
        </p:nvSpPr>
        <p:spPr>
          <a:xfrm>
            <a:off x="500550" y="1955849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Экскурс в историю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3" name="Google Shape;923;g34a21c86600_0_134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4a21c86600_0_139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Ранние ОС (1950-1960 годы)</a:t>
            </a:r>
            <a:endParaRPr sz="3000"/>
          </a:p>
        </p:txBody>
      </p:sp>
      <p:sp>
        <p:nvSpPr>
          <p:cNvPr id="929" name="Google Shape;929;g34a21c86600_0_139"/>
          <p:cNvSpPr txBox="1"/>
          <p:nvPr/>
        </p:nvSpPr>
        <p:spPr>
          <a:xfrm>
            <a:off x="611950" y="1269600"/>
            <a:ext cx="39153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начале 1950-х годов компьютеры были огромными машинами, которые использовались в основном для научных расчетов.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Первые операционные системы были простыми и предназначались для управления аппаратным обеспечением.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Нет четкой структуры ядра.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Пользователи часто взаимодействовали с компьютером через пакетную обработку.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0" name="Google Shape;930;g34a21c86600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925" y="1351625"/>
            <a:ext cx="3915226" cy="3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g34a21c86600_0_139"/>
          <p:cNvSpPr txBox="1"/>
          <p:nvPr/>
        </p:nvSpPr>
        <p:spPr>
          <a:xfrm>
            <a:off x="5594850" y="4419750"/>
            <a:ext cx="30783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🔗</a:t>
            </a:r>
            <a:r>
              <a:rPr b="0" i="0" lang="ru" sz="7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Источник</a:t>
            </a:r>
            <a:endParaRPr b="0" i="0" sz="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4d5a48437e_0_1060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Монолитные ядра (1960-1970)</a:t>
            </a:r>
            <a:endParaRPr sz="3000"/>
          </a:p>
        </p:txBody>
      </p:sp>
      <p:sp>
        <p:nvSpPr>
          <p:cNvPr id="937" name="Google Shape;937;g34d5a48437e_0_1060"/>
          <p:cNvSpPr txBox="1"/>
          <p:nvPr/>
        </p:nvSpPr>
        <p:spPr>
          <a:xfrm>
            <a:off x="611950" y="1269600"/>
            <a:ext cx="4801800" cy="3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развитием компьютеров и увеличением их мощности появились более сложные операционные системы.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 время начали развиваться монолитные ядра, которые объединяли все функции ОС в одном большом модуле.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Примером такой системы является UNIX, разработанная в AT&amp;T Bell Labs в 1969 году. UNIX стал основой для многих последующих операционных систем и ввел концепции, такие как файловая система, многозадачность и права доступа.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Unix являлось первой практической реализацией новых идей и открытий 60-70-х годов XX века в области создания операционных систем.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8" name="Google Shape;938;g34d5a48437e_0_10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450" y="1379975"/>
            <a:ext cx="2977175" cy="23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g34d5a48437e_0_1060"/>
          <p:cNvSpPr txBox="1"/>
          <p:nvPr/>
        </p:nvSpPr>
        <p:spPr>
          <a:xfrm>
            <a:off x="5675475" y="3763525"/>
            <a:ext cx="297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Ken (seated) and Dennis (standing) at a PDP-11 in 1972.</a:t>
            </a:r>
            <a:endParaRPr b="1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4d5a48437e_0_1065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Монолитные ядра (1960-1970)</a:t>
            </a:r>
            <a:endParaRPr sz="3000"/>
          </a:p>
        </p:txBody>
      </p:sp>
      <p:sp>
        <p:nvSpPr>
          <p:cNvPr id="945" name="Google Shape;945;g34d5a48437e_0_1065"/>
          <p:cNvSpPr txBox="1"/>
          <p:nvPr/>
        </p:nvSpPr>
        <p:spPr>
          <a:xfrm>
            <a:off x="611950" y="1269600"/>
            <a:ext cx="731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Unix имеет простое монолитное ядро, в котором почти все представляется в виде файлов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Настройки хранятся в текстовых файлах, оборудование также имеет файловый интерфейс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Unix была написана на языке C, и это сделало ее переносимой с одной аппаратной платформы на другую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Unix были впервые реализованы так называемые многозадачность и многопоточность, виртуальная память и многое другое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6" name="Google Shape;946;g34d5a48437e_0_10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055" y="3357750"/>
            <a:ext cx="2969902" cy="121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a1fcc194f6_0_14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Монолитные ядра (1960-1970)</a:t>
            </a:r>
            <a:endParaRPr sz="3000"/>
          </a:p>
        </p:txBody>
      </p:sp>
      <p:sp>
        <p:nvSpPr>
          <p:cNvPr id="952" name="Google Shape;952;g3a1fcc194f6_0_14"/>
          <p:cNvSpPr txBox="1"/>
          <p:nvPr/>
        </p:nvSpPr>
        <p:spPr>
          <a:xfrm>
            <a:off x="611950" y="1269600"/>
            <a:ext cx="731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80-х годах Unix-системы начали множиться и видоизменяться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Некоторые умы вовремя спохватились и создали специальные стандарты, обеспечивающие совместимость систем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значит, что программа, написанная для одной Unix-подобной системы, должна работать в другой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Стандарты назвали POSIX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3" name="Google Shape;953;g3a1fcc194f6_0_14"/>
          <p:cNvPicPr preferRelativeResize="0"/>
          <p:nvPr/>
        </p:nvPicPr>
        <p:blipFill rotWithShape="1">
          <a:blip r:embed="rId3">
            <a:alphaModFix/>
          </a:blip>
          <a:srcRect b="0" l="8058" r="7288" t="0"/>
          <a:stretch/>
        </p:blipFill>
        <p:spPr>
          <a:xfrm>
            <a:off x="3009863" y="3239525"/>
            <a:ext cx="3124276" cy="14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4d5a48437e_0_1070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Микроядра (1980)</a:t>
            </a:r>
            <a:endParaRPr sz="3000"/>
          </a:p>
        </p:txBody>
      </p:sp>
      <p:sp>
        <p:nvSpPr>
          <p:cNvPr id="959" name="Google Shape;959;g34d5a48437e_0_1070"/>
          <p:cNvSpPr txBox="1"/>
          <p:nvPr/>
        </p:nvSpPr>
        <p:spPr>
          <a:xfrm>
            <a:off x="611950" y="1269600"/>
            <a:ext cx="5467500" cy="24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1980-х годах возникла идея микроядер, которые отделяли основные функции ядра от дополнительных сервисов. Это позволяло создавать более модульные и гибкие операционные системы.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Примером микроядра является Minix, которое разработал Эндрю Таненбаум.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Микроядра обеспечивали большую </a:t>
            </a:r>
            <a:r>
              <a:rPr b="1" i="1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стабильность и безопасность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так как многие функции могли выполняться в пользовательском пространстве.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0" name="Google Shape;960;g34d5a48437e_0_10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050" y="1367175"/>
            <a:ext cx="19050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4d5a48437e_0_1076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Гибридные ядра (1990)</a:t>
            </a:r>
            <a:endParaRPr sz="3000"/>
          </a:p>
        </p:txBody>
      </p:sp>
      <p:sp>
        <p:nvSpPr>
          <p:cNvPr id="966" name="Google Shape;966;g34d5a48437e_0_1076"/>
          <p:cNvSpPr txBox="1"/>
          <p:nvPr/>
        </p:nvSpPr>
        <p:spPr>
          <a:xfrm>
            <a:off x="611950" y="1269600"/>
            <a:ext cx="7315500" cy="17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Гибридные ядра, такие как ядро Windows NT и ядро Linux, объединили элементы монолитных,микроядерных и модульных ядер.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Они обеспечивали </a:t>
            </a:r>
            <a:r>
              <a:rPr b="1" i="1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высокую производительность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сохраняя при этом </a:t>
            </a:r>
            <a:r>
              <a:rPr b="1" i="1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модульность и возможность расширения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Linux, созданный Линусом Торвальдсом в 1991 году, стал особенно популярным и стал основой для множества дистрибутивов.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7" name="Google Shape;967;g34d5a48437e_0_10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0012" y="3285876"/>
            <a:ext cx="3283975" cy="1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4d5a48437e_0_1081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Современные ОС (2000+)</a:t>
            </a:r>
            <a:endParaRPr sz="3000"/>
          </a:p>
        </p:txBody>
      </p:sp>
      <p:sp>
        <p:nvSpPr>
          <p:cNvPr id="973" name="Google Shape;973;g34d5a48437e_0_1081"/>
          <p:cNvSpPr txBox="1"/>
          <p:nvPr/>
        </p:nvSpPr>
        <p:spPr>
          <a:xfrm>
            <a:off x="611950" y="1269600"/>
            <a:ext cx="7310700" cy="17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развитием технологий виртуализации и облачных вычислений операционные системы продолжили эволюционировать.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Ядра стали более сложными, поддерживая новые функции, такие как контейнеризация (например, Docker) и управление ресурсами в облаке.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Современные ОС, такие как Windows, macOS и различные дистрибутивы Linux, продолжают развиваться, внедряя новые технологии и улучшая безопасность.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4" name="Google Shape;974;g34d5a48437e_0_10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299" y="3260563"/>
            <a:ext cx="5589299" cy="13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4fd1ede585_5_0"/>
          <p:cNvSpPr txBox="1"/>
          <p:nvPr>
            <p:ph type="title"/>
          </p:nvPr>
        </p:nvSpPr>
        <p:spPr>
          <a:xfrm>
            <a:off x="623400" y="4130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980" name="Google Shape;980;g34fd1ede585_5_0"/>
          <p:cNvSpPr txBox="1"/>
          <p:nvPr/>
        </p:nvSpPr>
        <p:spPr>
          <a:xfrm>
            <a:off x="720000" y="1087450"/>
            <a:ext cx="7125600" cy="3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Пакетная эра (1950–1960-е)</a:t>
            </a:r>
            <a:b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Примитивные ОС для научных расчетов, пакетная обработка, отсутствие интерактивности и структурированного ядра.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UNIX-революция (1960–1970-е)</a:t>
            </a:r>
            <a:b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Монолитное ядро, язык C, файловая система, многозадачность. Стандарт POSIX (1980-е) обеспечил совместимость Unix-систем.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Микроядра (1980-е)</a:t>
            </a:r>
            <a:b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Разделение функций ядра, драйверы в полу-пользовательском пространстве — шаг к безопасности и стабильности.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Гибридные решения (1990-е)</a:t>
            </a:r>
            <a:b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Linux и Windows: баланс монолитной скорости и микроядерной модульности. Открытый код Linux — основа для дистрибутивов.</a:t>
            </a:r>
            <a:endParaRPr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Эпоха облаков (2000+)</a:t>
            </a:r>
            <a:br>
              <a:rPr b="1"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ru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Контейнеризация (Docker), виртуализация, управление облачными ресурсами. Акцент на безопасность, мобильность и IoT-интеграцию.</a:t>
            </a:r>
            <a:endParaRPr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1" name="Google Shape;981;g34fd1ede585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3950" y="3729750"/>
            <a:ext cx="806125" cy="11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4a21c86600_0_177"/>
          <p:cNvSpPr txBox="1"/>
          <p:nvPr>
            <p:ph type="title"/>
          </p:nvPr>
        </p:nvSpPr>
        <p:spPr>
          <a:xfrm>
            <a:off x="500550" y="1955849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Особенности ядра Linux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7" name="Google Shape;987;g34a21c86600_0_177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4d5a48437e_0_1086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Особенности ядра Linux</a:t>
            </a:r>
            <a:endParaRPr sz="3000"/>
          </a:p>
        </p:txBody>
      </p:sp>
      <p:sp>
        <p:nvSpPr>
          <p:cNvPr id="993" name="Google Shape;993;g34d5a48437e_0_1086"/>
          <p:cNvSpPr txBox="1"/>
          <p:nvPr/>
        </p:nvSpPr>
        <p:spPr>
          <a:xfrm>
            <a:off x="611950" y="1269600"/>
            <a:ext cx="7315500" cy="20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Обычные пользователи имеют дело не с чистым Linux, а с дистрибутивами, которые незначительно отличаются между собой, в том числе по компонентам ядра (например, наличию/отсутствию определенных драйверов).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Основополагающим компонентом все-равно остается ядро Linux, исходники которого предоставляет проект kernel.org.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совместный проект, к нему может присоединится каждый программист. Основным руководителем остается Линус Торвальдс.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4d5a48437e_0_1091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Особенности ядра Linux</a:t>
            </a:r>
            <a:endParaRPr sz="3000"/>
          </a:p>
        </p:txBody>
      </p:sp>
      <p:sp>
        <p:nvSpPr>
          <p:cNvPr id="999" name="Google Shape;999;g34d5a48437e_0_1091"/>
          <p:cNvSpPr txBox="1"/>
          <p:nvPr/>
        </p:nvSpPr>
        <p:spPr>
          <a:xfrm>
            <a:off x="611950" y="1269600"/>
            <a:ext cx="7672800" cy="23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технической точки зрения, Linux – это ядро, а не операционная система.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Linux + программы из проекта GNU рождают операционную систему GNU/Linux. Однако ее тоже не существует в чистом виде. 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Разработчики дистрибутивов дорабатывают на свой лад GNU/Linux, после чего получаются различные операционные системы-дистрибутивы.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У каждого дистрибутива есть собственное имя (Ubuntu, Fedora и т. п.).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Однако, так как в основе всех этих систем лежит ядро Linux, все они принадлежат одному семейству Linux-систем.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0" name="Google Shape;1000;g34d5a48437e_0_10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213" y="3638999"/>
            <a:ext cx="3001474" cy="12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4d5a48437e_0_1096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Особенности ядра Linux</a:t>
            </a:r>
            <a:endParaRPr sz="3000"/>
          </a:p>
        </p:txBody>
      </p:sp>
      <p:sp>
        <p:nvSpPr>
          <p:cNvPr id="1006" name="Google Shape;1006;g34d5a48437e_0_1096"/>
          <p:cNvSpPr txBox="1"/>
          <p:nvPr/>
        </p:nvSpPr>
        <p:spPr>
          <a:xfrm>
            <a:off x="611950" y="1269600"/>
            <a:ext cx="7305900" cy="30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Linux начал разрабатывать в 1991 году </a:t>
            </a:r>
            <a:r>
              <a:rPr b="1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Линус Торвальдс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В дальнейшем оно развивалось и совершенствовалось многими людьми.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ыпускается под </a:t>
            </a:r>
            <a:r>
              <a:rPr b="1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лицензией GNU GPL v2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(второй версии).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Linux </a:t>
            </a:r>
            <a:r>
              <a:rPr b="1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Unix-подобно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заимствовало идеи, заложенные в Unix, соответствует стандартам POSIX, по большей части написано на языке С.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Библиотеки GNU С (glibc) выполняет роль оболочки системных вызовов ядра Linux.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1"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</a:t>
            </a:r>
            <a:r>
              <a:rPr b="1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онолитное ядро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о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днако некоторые идеи микроядерной и модульной архитектуры тут также используются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○"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например,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драйверы устройств могут быть представлены в виде модулей и загружаться по требованию, а не при загрузки всего ядра.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4d5a48437e_0_1101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Версии ядра Linux</a:t>
            </a:r>
            <a:endParaRPr sz="3000"/>
          </a:p>
        </p:txBody>
      </p:sp>
      <p:sp>
        <p:nvSpPr>
          <p:cNvPr id="1012" name="Google Shape;1012;g34d5a48437e_0_1101"/>
          <p:cNvSpPr txBox="1"/>
          <p:nvPr/>
        </p:nvSpPr>
        <p:spPr>
          <a:xfrm>
            <a:off x="611950" y="1117200"/>
            <a:ext cx="66354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Версии ядра Linux имеют определённую структуру, которая помогает понять, какие изменения и улучшения были внесены в каждую версию.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Стандартный формат версии ядра выглядит следующим образом: </a:t>
            </a:r>
            <a:r>
              <a:rPr b="1" i="0" lang="ru" sz="1200" u="none" cap="none" strike="noStrike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b="1" i="0" lang="ru" sz="1200" u="none" cap="none" strike="noStrike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1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b="1" i="0" lang="ru" sz="1200" u="none" cap="none" strike="noStrike">
                <a:solidFill>
                  <a:srgbClr val="E36209"/>
                </a:solidFill>
                <a:latin typeface="Roboto"/>
                <a:ea typeface="Roboto"/>
                <a:cs typeface="Roboto"/>
                <a:sym typeface="Roboto"/>
              </a:rPr>
              <a:t>Z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где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g34d5a48437e_0_1101"/>
          <p:cNvSpPr/>
          <p:nvPr/>
        </p:nvSpPr>
        <p:spPr>
          <a:xfrm>
            <a:off x="915250" y="2295450"/>
            <a:ext cx="2338500" cy="2433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g34d5a48437e_0_1101"/>
          <p:cNvSpPr txBox="1"/>
          <p:nvPr/>
        </p:nvSpPr>
        <p:spPr>
          <a:xfrm>
            <a:off x="1008425" y="2403875"/>
            <a:ext cx="2166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6402BA"/>
                </a:solidFill>
                <a:latin typeface="Roboto"/>
                <a:ea typeface="Roboto"/>
                <a:cs typeface="Roboto"/>
                <a:sym typeface="Roboto"/>
              </a:rPr>
              <a:t>X — основной номер версии (major version).</a:t>
            </a:r>
            <a:endParaRPr b="1" i="0" sz="1000" u="none" cap="none" strike="noStrike">
              <a:solidFill>
                <a:srgbClr val="6402B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Изменяется, когда вносятся </a:t>
            </a:r>
            <a:r>
              <a:rPr b="1" i="1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значительные изменения</a:t>
            </a: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в архитектуру ядра или когда добавляются новые функции, которые могут </a:t>
            </a:r>
            <a:r>
              <a:rPr b="1" i="1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повлиять на совместимость</a:t>
            </a: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с предыдущими версиями.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g34d5a48437e_0_1101"/>
          <p:cNvSpPr/>
          <p:nvPr/>
        </p:nvSpPr>
        <p:spPr>
          <a:xfrm>
            <a:off x="3461875" y="2295450"/>
            <a:ext cx="2338500" cy="2433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g34d5a48437e_0_1101"/>
          <p:cNvSpPr txBox="1"/>
          <p:nvPr/>
        </p:nvSpPr>
        <p:spPr>
          <a:xfrm>
            <a:off x="3555050" y="2403875"/>
            <a:ext cx="21666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Y — номер минорной версии (minor version).</a:t>
            </a:r>
            <a:endParaRPr b="1" i="0" sz="1000" u="none" cap="none" strike="noStrike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Изменяется, когда добавляются </a:t>
            </a:r>
            <a:r>
              <a:rPr b="1" i="1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новые функции</a:t>
            </a: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но без значительных изменений в архитектуре.</a:t>
            </a:r>
            <a:endParaRPr sz="10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У</a:t>
            </a: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лучшения производительности, новые драйверы и другие изменения, которые </a:t>
            </a:r>
            <a:r>
              <a:rPr b="1" i="1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 нарушают совместимость</a:t>
            </a: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g34d5a48437e_0_1101"/>
          <p:cNvSpPr/>
          <p:nvPr/>
        </p:nvSpPr>
        <p:spPr>
          <a:xfrm>
            <a:off x="6008500" y="2282675"/>
            <a:ext cx="2338500" cy="244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g34d5a48437e_0_1101"/>
          <p:cNvSpPr txBox="1"/>
          <p:nvPr/>
        </p:nvSpPr>
        <p:spPr>
          <a:xfrm>
            <a:off x="6101675" y="2403875"/>
            <a:ext cx="21666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E36209"/>
                </a:solidFill>
                <a:latin typeface="Roboto"/>
                <a:ea typeface="Roboto"/>
                <a:cs typeface="Roboto"/>
                <a:sym typeface="Roboto"/>
              </a:rPr>
              <a:t>Z — номер патча</a:t>
            </a:r>
            <a:endParaRPr b="1" i="0" sz="1000" u="none" cap="none" strike="noStrike">
              <a:solidFill>
                <a:srgbClr val="E3620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rgbClr val="E36209"/>
                </a:solidFill>
                <a:latin typeface="Roboto"/>
                <a:ea typeface="Roboto"/>
                <a:cs typeface="Roboto"/>
                <a:sym typeface="Roboto"/>
              </a:rPr>
              <a:t>(patch version).</a:t>
            </a:r>
            <a:endParaRPr b="1" i="0" sz="1000" u="none" cap="none" strike="noStrike">
              <a:solidFill>
                <a:srgbClr val="E3620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Изменяется, когда вносятся исправления ошибок, улучшения безопасности или небольшие изменения, которые </a:t>
            </a:r>
            <a:r>
              <a:rPr b="1" i="1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 добавляют новых функций</a:t>
            </a: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обычно исправления, которые делают систему более стабильной и безопасной.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4d5a48437e_0_1106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Примеры версий</a:t>
            </a:r>
            <a:endParaRPr sz="3000"/>
          </a:p>
        </p:txBody>
      </p:sp>
      <p:sp>
        <p:nvSpPr>
          <p:cNvPr id="1024" name="Google Shape;1024;g34d5a48437e_0_1106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7425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g34d5a48437e_0_1106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7154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g34d5a48437e_0_1106"/>
          <p:cNvSpPr txBox="1"/>
          <p:nvPr/>
        </p:nvSpPr>
        <p:spPr>
          <a:xfrm>
            <a:off x="1040225" y="1993025"/>
            <a:ext cx="320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означает, что это основная версия 5, минорная версия 10, и это первая патч-версия. Если бы вышла версия 5.10.1, это означало бы, что были внесены исправления в 5.10.0.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g34d5a48437e_0_1106"/>
          <p:cNvSpPr txBox="1"/>
          <p:nvPr/>
        </p:nvSpPr>
        <p:spPr>
          <a:xfrm>
            <a:off x="4900100" y="2000675"/>
            <a:ext cx="32046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означает, что это основная версия 4, минорная версия 19, и это 208-й патч. Это может указывать на то, что версия 4.19 была активно поддерживаемой и получала множество исправлений.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g34d5a48437e_0_1106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5.10.0:</a:t>
            </a:r>
            <a:endParaRPr b="1" i="0" sz="1700" u="none" cap="none" strike="noStrike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g34d5a48437e_0_1106"/>
          <p:cNvSpPr txBox="1"/>
          <p:nvPr/>
        </p:nvSpPr>
        <p:spPr>
          <a:xfrm>
            <a:off x="4900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z="1700" u="none" cap="none" strike="noStrike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4.19.208:</a:t>
            </a:r>
            <a:endParaRPr b="1" i="0" sz="1700" u="none" cap="none" strike="noStrike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4d5a48437e_0_1128"/>
          <p:cNvSpPr txBox="1"/>
          <p:nvPr>
            <p:ph type="title"/>
          </p:nvPr>
        </p:nvSpPr>
        <p:spPr>
          <a:xfrm>
            <a:off x="573575" y="388000"/>
            <a:ext cx="82104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2900"/>
              <a:t>Дополнительные обозначения</a:t>
            </a:r>
            <a:endParaRPr sz="2900"/>
          </a:p>
        </p:txBody>
      </p:sp>
      <p:sp>
        <p:nvSpPr>
          <p:cNvPr id="1035" name="Google Shape;1035;g34d5a48437e_0_1128"/>
          <p:cNvSpPr txBox="1"/>
          <p:nvPr/>
        </p:nvSpPr>
        <p:spPr>
          <a:xfrm>
            <a:off x="611950" y="1269600"/>
            <a:ext cx="6437400" cy="31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-rcX:</a:t>
            </a:r>
            <a:endParaRPr b="1" i="0" sz="1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обозначение "</a:t>
            </a:r>
            <a:r>
              <a:rPr b="1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release candidate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" (кандидат на выпуск).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Например, версия 5.10-rc1 указывает на первую кандидатную версию для 5.10.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Эти версии предназначены для </a:t>
            </a:r>
            <a:r>
              <a:rPr b="1" i="1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тестирования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b="1" i="1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могут содержать ошибки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-stable:</a:t>
            </a:r>
            <a:endParaRPr b="1" i="0" sz="1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обозначение для </a:t>
            </a:r>
            <a:r>
              <a:rPr b="1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стабильных версий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которые предназначены для использования в производственной среде.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Обычно это версии, которые </a:t>
            </a:r>
            <a:r>
              <a:rPr b="1" i="1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прошли тестирование и считаются надежными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-longterm:</a:t>
            </a:r>
            <a:endParaRPr b="1" i="0" sz="1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обозначение для </a:t>
            </a:r>
            <a:r>
              <a:rPr b="1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долгосрочных версий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которые будут поддерживаться в течение более длительного времени, чем обычные версии.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Они часто используются в </a:t>
            </a:r>
            <a:r>
              <a:rPr b="1" i="1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серверных и встраиваемых системах</a:t>
            </a: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4d5a48437e_0_1117"/>
          <p:cNvSpPr txBox="1"/>
          <p:nvPr>
            <p:ph type="title"/>
          </p:nvPr>
        </p:nvSpPr>
        <p:spPr>
          <a:xfrm>
            <a:off x="638800" y="351150"/>
            <a:ext cx="705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Где можно посмотреть исходный код ядра?</a:t>
            </a:r>
            <a:endParaRPr sz="3000"/>
          </a:p>
        </p:txBody>
      </p:sp>
      <p:sp>
        <p:nvSpPr>
          <p:cNvPr id="1041" name="Google Shape;1041;g34d5a48437e_0_1117"/>
          <p:cNvSpPr txBox="1"/>
          <p:nvPr/>
        </p:nvSpPr>
        <p:spPr>
          <a:xfrm>
            <a:off x="611950" y="1650600"/>
            <a:ext cx="60666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Официальный сайт ядра kernel.org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Способ получения из Git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Способ получения из пакетов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AutoNum type="arabicPeriod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Просмотр исходного кода в Elixir Bootlin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4d5a48437e_0_1231"/>
          <p:cNvSpPr txBox="1"/>
          <p:nvPr>
            <p:ph type="title"/>
          </p:nvPr>
        </p:nvSpPr>
        <p:spPr>
          <a:xfrm>
            <a:off x="638800" y="351150"/>
            <a:ext cx="705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Офф. сайт ядра kernel.org</a:t>
            </a:r>
            <a:endParaRPr sz="3000"/>
          </a:p>
        </p:txBody>
      </p:sp>
      <p:sp>
        <p:nvSpPr>
          <p:cNvPr id="1047" name="Google Shape;1047;g34d5a48437e_0_1231"/>
          <p:cNvSpPr txBox="1"/>
          <p:nvPr/>
        </p:nvSpPr>
        <p:spPr>
          <a:xfrm>
            <a:off x="611950" y="1269600"/>
            <a:ext cx="4637700" cy="17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Вы можете скачать исходный код с официального сайта ядра Linux: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kernel.org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На этом сайте вы найдете последние стабильные версии, а также версии для тестирования и разработки.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8" name="Google Shape;1048;g34d5a48437e_0_1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200" y="600000"/>
            <a:ext cx="2894457" cy="38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4d5a48437e_0_1237"/>
          <p:cNvSpPr txBox="1"/>
          <p:nvPr>
            <p:ph type="title"/>
          </p:nvPr>
        </p:nvSpPr>
        <p:spPr>
          <a:xfrm>
            <a:off x="638800" y="351150"/>
            <a:ext cx="705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Способ получения из Git</a:t>
            </a:r>
            <a:endParaRPr sz="3000"/>
          </a:p>
        </p:txBody>
      </p:sp>
      <p:sp>
        <p:nvSpPr>
          <p:cNvPr id="1054" name="Google Shape;1054;g34d5a48437e_0_1237"/>
          <p:cNvSpPr txBox="1"/>
          <p:nvPr/>
        </p:nvSpPr>
        <p:spPr>
          <a:xfrm>
            <a:off x="611950" y="1269600"/>
            <a:ext cx="7315500" cy="1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Исходный код ядра Linux хранится в системе контроля версий Git. Вы можете клонировать репозиторий с помощью следующей команды: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0000" marR="0" rtl="0" algn="l">
              <a:lnSpc>
                <a:spcPct val="16363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git </a:t>
            </a:r>
            <a:r>
              <a:rPr b="0" i="0" lang="ru" sz="1100" u="none" cap="none" strike="noStrike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clone</a:t>
            </a:r>
            <a:r>
              <a:rPr b="0" i="0" lang="ru" sz="1100" u="none" cap="none" strike="noStrike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https://git.kernel.org/pub/scm/linux/kernel/git/torvalds/linux.git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Это позволит вам получить последнюю версию исходного кода, а также возможность отслеживать изменения и переключаться между различными версиями.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5" name="Google Shape;1055;g34d5a48437e_0_1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298" y="3680700"/>
            <a:ext cx="5665401" cy="81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4d5a48437e_0_1242"/>
          <p:cNvSpPr txBox="1"/>
          <p:nvPr>
            <p:ph type="title"/>
          </p:nvPr>
        </p:nvSpPr>
        <p:spPr>
          <a:xfrm>
            <a:off x="638800" y="351150"/>
            <a:ext cx="705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Способ получения из пакетов</a:t>
            </a:r>
            <a:endParaRPr sz="3000"/>
          </a:p>
        </p:txBody>
      </p:sp>
      <p:sp>
        <p:nvSpPr>
          <p:cNvPr id="1061" name="Google Shape;1061;g34d5a48437e_0_1242"/>
          <p:cNvSpPr txBox="1"/>
          <p:nvPr/>
        </p:nvSpPr>
        <p:spPr>
          <a:xfrm>
            <a:off x="611950" y="1269600"/>
            <a:ext cx="7310700" cy="20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Многие дистрибутивы Linux предоставляют пакеты с исходным кодом ядра. Например: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Ubuntu вы можете установить исходный код с помощью команды: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0000" marR="0" rtl="0" algn="l">
              <a:lnSpc>
                <a:spcPct val="16363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sudo apt-get install linux-source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Fedora: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47675" marR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sudo dnf install kernel-devel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4d5a48437e_0_1247"/>
          <p:cNvSpPr txBox="1"/>
          <p:nvPr>
            <p:ph type="title"/>
          </p:nvPr>
        </p:nvSpPr>
        <p:spPr>
          <a:xfrm>
            <a:off x="638800" y="351150"/>
            <a:ext cx="764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Просмотр исходного кода в Elixir.Bootlin</a:t>
            </a:r>
            <a:endParaRPr sz="3000"/>
          </a:p>
        </p:txBody>
      </p:sp>
      <p:sp>
        <p:nvSpPr>
          <p:cNvPr id="1067" name="Google Shape;1067;g34d5a48437e_0_1247"/>
          <p:cNvSpPr txBox="1"/>
          <p:nvPr/>
        </p:nvSpPr>
        <p:spPr>
          <a:xfrm>
            <a:off x="611950" y="1264150"/>
            <a:ext cx="7672800" cy="13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Elixir.bootlin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— это мощный онлайн-инструмент, который позволяет пользователям просматривать и исследовать исходный код ядра Linux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редоставляет удобный интерфейс для навигации по различным версиям ядра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блегчает поиск нужных файлов и символов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8" name="Google Shape;1068;g34d5a48437e_0_12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075" y="2909475"/>
            <a:ext cx="1685850" cy="16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4d5a48437e_0_1226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Отличие ядра от us приложений</a:t>
            </a:r>
            <a:endParaRPr sz="3000"/>
          </a:p>
        </p:txBody>
      </p:sp>
      <p:sp>
        <p:nvSpPr>
          <p:cNvPr id="1074" name="Google Shape;1074;g34d5a48437e_0_1226"/>
          <p:cNvSpPr txBox="1"/>
          <p:nvPr/>
        </p:nvSpPr>
        <p:spPr>
          <a:xfrm>
            <a:off x="611950" y="1269600"/>
            <a:ext cx="74844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имеет уникальные отличительные особенности по сравнению с обычными пользовательскими приложениями.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Эти о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тличия не всегда приводят к усложнениям при разработке кода ядра, но они делают сам процесс разработки несколько иным.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Некоторые привычные вещи в 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ядре</a:t>
            </a: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немного видоизменены, другие — полностью обновлены.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b="0" i="0" lang="ru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Несмотря на то что часть различий очевидна (все знают, что ядро может делать все, что пожелает), другие различия не так очевидны.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4d5a48437e_0_1678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/>
              <a:t>Отличия</a:t>
            </a:r>
            <a:endParaRPr sz="3000"/>
          </a:p>
        </p:txBody>
      </p:sp>
      <p:sp>
        <p:nvSpPr>
          <p:cNvPr id="1080" name="Google Shape;1080;g34d5a48437e_0_1678"/>
          <p:cNvSpPr txBox="1"/>
          <p:nvPr/>
        </p:nvSpPr>
        <p:spPr>
          <a:xfrm>
            <a:off x="611950" y="1269600"/>
            <a:ext cx="7489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не имеет доступа к библиотеке функций и стандартным заголовкам языка C.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Код ядра написан с использованием компилятора GNU C.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ядре нет такой защиты памяти, как в режиме пользователя.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ядре нельзя просто использовать вычисления с плавающей точкой, как в пользовательских приложениях.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Ядро использует небольшой стек фиксированного размера, поэтому рекурсия в ядре - это зло!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Обработка прерываний в ядре выполняется асинхронно, поэтому реализован режим приоритетного планирования. Поддержка симметричной многопроцессорной обработки (SMP) требует учета параллелизма и использования синхронизации.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200"/>
              <a:buFont typeface="Roboto"/>
              <a:buChar char="●"/>
            </a:pPr>
            <a:r>
              <a:rPr b="0" i="0" lang="ru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Переносимость кода ядра является очень важной.</a:t>
            </a:r>
            <a:endParaRPr b="0" i="0" sz="12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4a21c86600_0_265"/>
          <p:cNvSpPr txBox="1"/>
          <p:nvPr/>
        </p:nvSpPr>
        <p:spPr>
          <a:xfrm>
            <a:off x="721493" y="392796"/>
            <a:ext cx="7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42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To Be Continued…</a:t>
            </a:r>
            <a:endParaRPr b="0" i="0" sz="12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86" name="Google Shape;1086;g34a21c86600_0_265"/>
          <p:cNvSpPr txBox="1"/>
          <p:nvPr/>
        </p:nvSpPr>
        <p:spPr>
          <a:xfrm>
            <a:off x="630250" y="1267900"/>
            <a:ext cx="74034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Опытные пользователи дистрибутивов Linux нередко сами скачивают и устанавливают себе новое ядро. Для этого они сначала распаковывают исходные коды, затем выполняют конфигурацию, потом компилируют, размещают в загрузочном каталоге и изменяют настройки загрузчика.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Конфигурируют ядро с целью включения, отключения или компиляции в виде модуля какого-либо драйвера или функции. Другими словами, "</a:t>
            </a:r>
            <a:r>
              <a:rPr b="0" i="0" lang="ru" sz="1500" u="none" cap="none" strike="noStrike">
                <a:solidFill>
                  <a:srgbClr val="E6B8AF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ядро под себя</a:t>
            </a: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" не будет содержать лишних драйверов для оборудования, которого нет.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4fdcddf037_4_0"/>
          <p:cNvSpPr txBox="1"/>
          <p:nvPr/>
        </p:nvSpPr>
        <p:spPr>
          <a:xfrm>
            <a:off x="721493" y="392796"/>
            <a:ext cx="7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i="0" lang="ru" sz="42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необходимо повторить ?</a:t>
            </a:r>
            <a:endParaRPr b="0" i="0" sz="12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92" name="Google Shape;1092;g34fdcddf037_4_0"/>
          <p:cNvSpPr txBox="1"/>
          <p:nvPr/>
        </p:nvSpPr>
        <p:spPr>
          <a:xfrm>
            <a:off x="630250" y="1267900"/>
            <a:ext cx="74034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AutoNum type="arabicParenR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Makefile, как собирать программы с помощью Makefile-ов, что такое цели в них.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AutoNum type="arabicParenR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Где находится .config ядра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AutoNum type="arabicParenR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Где взять исходники ядра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AutoNum type="arabicParenR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Как устанавливать *.deb пакеты и что такое linux-image linux-headers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AutoNum type="arabicParenR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 такое chroot?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Font typeface="Roboto"/>
              <a:buAutoNum type="arabicParenR"/>
            </a:pPr>
            <a:r>
              <a:rPr b="0" i="0" lang="ru" sz="1500" u="none" cap="none" strike="noStrike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ssh и scp</a:t>
            </a:r>
            <a:endParaRPr b="0" i="0" sz="1500" u="none" cap="none" strike="noStrike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8"/>
          <p:cNvSpPr txBox="1"/>
          <p:nvPr>
            <p:ph type="title"/>
          </p:nvPr>
        </p:nvSpPr>
        <p:spPr>
          <a:xfrm>
            <a:off x="421350" y="17536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Вопросы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98" name="Google Shape;1098;p38"/>
          <p:cNvGrpSpPr/>
          <p:nvPr/>
        </p:nvGrpSpPr>
        <p:grpSpPr>
          <a:xfrm>
            <a:off x="710075" y="3061974"/>
            <a:ext cx="6370821" cy="415500"/>
            <a:chOff x="841300" y="3930749"/>
            <a:chExt cx="6370821" cy="415500"/>
          </a:xfrm>
        </p:grpSpPr>
        <p:sp>
          <p:nvSpPr>
            <p:cNvPr id="1099" name="Google Shape;1099;p38"/>
            <p:cNvSpPr txBox="1"/>
            <p:nvPr/>
          </p:nvSpPr>
          <p:spPr>
            <a:xfrm>
              <a:off x="1345921" y="3930749"/>
              <a:ext cx="192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ru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есть вопросы</a:t>
              </a:r>
              <a:endPara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38"/>
            <p:cNvSpPr txBox="1"/>
            <p:nvPr/>
          </p:nvSpPr>
          <p:spPr>
            <a:xfrm>
              <a:off x="5066221" y="3930749"/>
              <a:ext cx="214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ru" sz="15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вопросов нет</a:t>
              </a:r>
              <a:endPara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1" name="Google Shape;1101;p38"/>
            <p:cNvPicPr preferRelativeResize="0"/>
            <p:nvPr/>
          </p:nvPicPr>
          <p:blipFill rotWithShape="1">
            <a:blip r:embed="rId3">
              <a:alphaModFix/>
            </a:blip>
            <a:srcRect b="33888" l="0" r="0" t="0"/>
            <a:stretch/>
          </p:blipFill>
          <p:spPr>
            <a:xfrm>
              <a:off x="841300" y="3971694"/>
              <a:ext cx="504637" cy="33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38"/>
            <p:cNvPicPr preferRelativeResize="0"/>
            <p:nvPr/>
          </p:nvPicPr>
          <p:blipFill rotWithShape="1">
            <a:blip r:embed="rId3">
              <a:alphaModFix/>
            </a:blip>
            <a:srcRect b="15479" l="0" r="0" t="60251"/>
            <a:stretch/>
          </p:blipFill>
          <p:spPr>
            <a:xfrm>
              <a:off x="4561600" y="4077275"/>
              <a:ext cx="504625" cy="122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3" name="Google Shape;1103;p38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8"/>
          <p:cNvSpPr txBox="1"/>
          <p:nvPr>
            <p:ph type="title"/>
          </p:nvPr>
        </p:nvSpPr>
        <p:spPr>
          <a:xfrm>
            <a:off x="556300" y="1542225"/>
            <a:ext cx="737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Итоги занятия</a:t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9" name="Google Shape;1109;p48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4" name="Google Shape;1114;g34fd1ede585_5_7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{309293F7-E941-4854-ACA0-4D19E8A5E6C3}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Arial"/>
                        <a:buNone/>
                      </a:pPr>
                      <a:r>
                        <a:rPr b="1" lang="ru" sz="29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Достигнутые цели:</a:t>
                      </a:r>
                      <a:endParaRPr b="1" sz="29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t/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5" name="Google Shape;1115;g34fd1ede585_5_7"/>
          <p:cNvSpPr/>
          <p:nvPr/>
        </p:nvSpPr>
        <p:spPr>
          <a:xfrm>
            <a:off x="625261" y="1648900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Познакомились с преподавателями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одногруппниками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g34fd1ede585_5_7"/>
          <p:cNvSpPr/>
          <p:nvPr/>
        </p:nvSpPr>
        <p:spPr>
          <a:xfrm>
            <a:off x="625261" y="2392225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Рассмотрели программу курса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g34fd1ede585_5_7"/>
          <p:cNvSpPr/>
          <p:nvPr/>
        </p:nvSpPr>
        <p:spPr>
          <a:xfrm>
            <a:off x="625261" y="3135550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Поняли, как у нас будет проходить обучение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g34fd1ede585_5_7"/>
          <p:cNvSpPr/>
          <p:nvPr/>
        </p:nvSpPr>
        <p:spPr>
          <a:xfrm>
            <a:off x="625261" y="3878875"/>
            <a:ext cx="41343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Узнали о том что такое ядро Linux и какие у него особенности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g34fd1ede585_5_7"/>
          <p:cNvSpPr txBox="1"/>
          <p:nvPr/>
        </p:nvSpPr>
        <p:spPr>
          <a:xfrm>
            <a:off x="630000" y="1055800"/>
            <a:ext cx="45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z="1600" u="none" cap="none" strike="noStrike">
                <a:solidFill>
                  <a:srgbClr val="40299B"/>
                </a:solidFill>
                <a:latin typeface="Roboto"/>
                <a:ea typeface="Roboto"/>
                <a:cs typeface="Roboto"/>
                <a:sym typeface="Roboto"/>
              </a:rPr>
              <a:t>Отправьте в чат номера достигнутых целей</a:t>
            </a:r>
            <a:endParaRPr b="0" i="0" sz="1400" u="none" cap="none" strike="noStrike">
              <a:solidFill>
                <a:srgbClr val="40299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53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Заполните, пожалуйста,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опрос о занятии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5" name="Google Shape;1125;p53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53"/>
          <p:cNvSpPr txBox="1"/>
          <p:nvPr/>
        </p:nvSpPr>
        <p:spPr>
          <a:xfrm>
            <a:off x="632500" y="3802175"/>
            <a:ext cx="538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 читаем все ваши сообщения </a:t>
            </a:r>
            <a:endParaRPr b="0" i="0" sz="23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берем их в работу 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27" name="Google Shape;112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529" y="4321879"/>
            <a:ext cx="240425" cy="24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0152" y="4300250"/>
            <a:ext cx="283677" cy="2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p54" title="ролик_об_отусе_bl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
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y="5143500" cx="9144000"/>
  <p:notesSz cx="6858000" cy="9144000"/>
  <p:embeddedFontLst>
    <p:embeddedFont>
      <p:font typeface="Roboto"/>
      <p:regular r:id="rId115"/>
      <p:bold r:id="rId116"/>
      <p:italic r:id="rId117"/>
      <p:boldItalic r:id="rId118"/>
    </p:embeddedFont>
    <p:embeddedFont>
      <p:font typeface="Roboto Medium"/>
      <p:regular r:id="rId119"/>
      <p:bold r:id="rId120"/>
      <p:italic r:id="rId121"/>
      <p:boldItalic r:id="rId122"/>
    </p:embeddedFont>
    <p:embeddedFont>
      <p:font typeface="Roboto Mono"/>
      <p:regular r:id="rId123"/>
      <p:bold r:id="rId124"/>
      <p:italic r:id="rId125"/>
      <p:boldItalic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pos="5526">
          <p15:clr>
            <a:srgbClr val="747775"/>
          </p15:clr>
        </p15:guide>
        <p15:guide id="3" pos="4622">
          <p15:clr>
            <a:srgbClr val="747775"/>
          </p15:clr>
        </p15:guide>
        <p15:guide id="4" orient="horz" pos="3025">
          <p15:clr>
            <a:srgbClr val="747775"/>
          </p15:clr>
        </p15:guide>
        <p15:guide id="5" orient="horz" pos="1963">
          <p15:clr>
            <a:srgbClr val="747775"/>
          </p15:clr>
        </p15:guide>
        <p15:guide id="6" orient="horz" pos="3240">
          <p15:clr>
            <a:srgbClr val="747775"/>
          </p15:clr>
        </p15:guide>
        <p15:guide id="7" orient="horz" pos="2494">
          <p15:clr>
            <a:srgbClr val="747775"/>
          </p15:clr>
        </p15:guide>
        <p15:guide id="8" orient="horz" pos="773">
          <p15:clr>
            <a:srgbClr val="747775"/>
          </p15:clr>
        </p15:guide>
        <p15:guide id="9" orient="horz" pos="1382">
          <p15:clr>
            <a:srgbClr val="747775"/>
          </p15:clr>
        </p15:guide>
        <p15:guide id="10" pos="429">
          <p15:clr>
            <a:srgbClr val="747775"/>
          </p15:clr>
        </p15:guide>
      </p15:sldGuideLst>
    </p:ext>
    <p:ext uri="GoogleSlidesCustomDataVersion2">
      <go:slidesCustomData xmlns:go="http://customooxmlschemas.google.com/" r:id="rId127" roundtripDataSignature="AMtx7mgftpsWV/a7zGnkL7e8+sM4v5IR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289B6B-062B-4EB1-B129-6A5830E48B5A}">
  <a:tblStyle styleId="{A6289B6B-062B-4EB1-B129-6A5830E48B5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F61B8FA-940C-4894-92BC-44CDEBE0A47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5526"/>
        <p:guide pos="4622"/>
        <p:guide pos="3025" orient="horz"/>
        <p:guide pos="1963" orient="horz"/>
        <p:guide pos="3240" orient="horz"/>
        <p:guide pos="2494" orient="horz"/>
        <p:guide pos="773" orient="horz"/>
        <p:guide pos="1382" orient="horz"/>
        <p:guide pos="4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7" Type="http://customschemas.google.com/relationships/presentationmetadata" Target="metadata"/><Relationship Id="rId126" Type="http://schemas.openxmlformats.org/officeDocument/2006/relationships/font" Target="fonts/RobotoMono-boldItalic.fntdata"/><Relationship Id="rId26" Type="http://schemas.openxmlformats.org/officeDocument/2006/relationships/slide" Target="slides/slide19.xml"/><Relationship Id="rId121" Type="http://schemas.openxmlformats.org/officeDocument/2006/relationships/font" Target="fonts/RobotoMedium-italic.fntdata"/><Relationship Id="rId25" Type="http://schemas.openxmlformats.org/officeDocument/2006/relationships/slide" Target="slides/slide18.xml"/><Relationship Id="rId120" Type="http://schemas.openxmlformats.org/officeDocument/2006/relationships/font" Target="fonts/RobotoMedium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font" Target="fonts/RobotoMono-italic.fntdata"/><Relationship Id="rId29" Type="http://schemas.openxmlformats.org/officeDocument/2006/relationships/slide" Target="slides/slide22.xml"/><Relationship Id="rId124" Type="http://schemas.openxmlformats.org/officeDocument/2006/relationships/font" Target="fonts/RobotoMono-bold.fntdata"/><Relationship Id="rId123" Type="http://schemas.openxmlformats.org/officeDocument/2006/relationships/font" Target="fonts/RobotoMono-regular.fntdata"/><Relationship Id="rId122" Type="http://schemas.openxmlformats.org/officeDocument/2006/relationships/font" Target="fonts/RobotoMedium-boldItalic.fntdata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font" Target="fonts/Roboto-boldItalic.fntdata"/><Relationship Id="rId117" Type="http://schemas.openxmlformats.org/officeDocument/2006/relationships/font" Target="fonts/Roboto-italic.fntdata"/><Relationship Id="rId116" Type="http://schemas.openxmlformats.org/officeDocument/2006/relationships/font" Target="fonts/Roboto-bold.fntdata"/><Relationship Id="rId115" Type="http://schemas.openxmlformats.org/officeDocument/2006/relationships/font" Target="fonts/Roboto-regular.fntdata"/><Relationship Id="rId119" Type="http://schemas.openxmlformats.org/officeDocument/2006/relationships/font" Target="fonts/RobotoMedium-regular.fntdata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2d929fe7e_0_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52d929fe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2d929fe7e_0_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52d929fe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5d89c95a8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55d89c95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5d89c95a8_0_4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55d89c95a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5d89c95a8_0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55d89c95a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5d89c95a8_0_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55d89c95a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5d89c95a8_0_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55d89c95a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5d89c95a8_0_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55d89c95a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5d89c95a8_0_5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55d89c95a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50cae0443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550cae04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5d89c95a8_0_7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55d89c95a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5d89c95a8_0_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55d89c95a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5d89c95a8_0_9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55d89c95a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5d89c95a8_0_10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55d89c95a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5d89c95a8_0_1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55d89c95a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5d89c95a8_0_1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55d89c95a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5d89c95a8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55d89c95a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5d89c95a8_0_1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55d89c95a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5d89c95a8_0_1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55d89c95a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958beffd5_3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6958beffd5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5d89c95a8_0_14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55d89c95a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5d89c95a8_0_1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55d89c95a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5d89c95a8_0_1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55d89c95a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5d89c95a8_0_1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55d89c95a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5d89c95a8_0_1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55d89c95a8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55d89c95a8_0_19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55d89c95a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5d89c95a8_0_2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55d89c95a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5d89c95a8_0_2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55d89c95a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5d89c95a8_0_2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55d89c95a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5d89c95a8_0_2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55d89c95a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5d89c95a8_0_2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55d89c95a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55d89c95a8_0_2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55d89c95a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5d89c95a8_0_2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55d89c95a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5d89c95a8_0_2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55d89c95a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5d89c95a8_0_2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55d89c95a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55d89c95a8_0_2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55d89c95a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5d89c95a8_0_2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55d89c95a8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55d89c95a8_0_29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55d89c95a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5d89c95a8_0_30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55d89c95a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55d89c95a8_0_3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55d89c95a8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55d89c95a8_0_3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55d89c95a8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55d89c95a8_0_3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55d89c95a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5d89c95a8_0_33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55d89c95a8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55d89c95a8_0_3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55d89c95a8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55d89c95a8_0_3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55d89c95a8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5d89c95a8_0_3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55d89c95a8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55d89c95a8_0_3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55d89c95a8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55d89c95a8_0_3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55d89c95a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55d89c95a8_0_3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55d89c95a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55d89c95a8_0_3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55d89c95a8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5d89c95a8_0_39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55d89c95a8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55d89c95a8_0_40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55d89c95a8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958beffd5_9_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6958beffd5_9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55d89c95a8_0_4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55d89c95a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55d89c95a8_0_4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55d89c95a8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5d89c95a8_0_4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55d89c95a8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6958beffd5_3_14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6958beffd5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6958beffd5_3_1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6958beffd5_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958beffd5_3_15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6958beffd5_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6958beffd5_3_16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6958beffd5_3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55d89c95a8_0_4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55d89c95a8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5d89c95a8_0_4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55d89c95a8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55d89c95a8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55d89c95a8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55d89c95a8_0_4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55d89c95a8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55d89c95a8_0_45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55d89c95a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55d89c95a8_0_4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g355d89c95a8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958beffd5_3_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6958beffd5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55d89c95a8_0_4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55d89c95a8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6958beffd5_9_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6958beffd5_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6958beffd5_3_4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6958beffd5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958beffd5_9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6958beffd5_9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6958beffd5_3_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6958beffd5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958beffd5_3_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36958beffd5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6958beffd5_3_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6958beffd5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6958beffd5_9_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6958beffd5_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6958beffd5_3_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6958beffd5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6958beffd5_3_9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36958beffd5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6958beffd5_3_1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6958beffd5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6958beffd5_3_1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6958beffd5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6958beffd5_3_1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6958beffd5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6958beffd5_3_1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6958beffd5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6958beffd5_3_18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6958beffd5_3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6958beffd5_3_1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g36958beffd5_3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6958beffd5_3_20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36958beffd5_3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6958beffd5_3_2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g36958beffd5_3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6958beffd5_3_2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6958beffd5_3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6958beffd5_3_23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g36958beffd5_3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257de7b96_0_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g36257de7b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5624135979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g35624135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6958beffd5_3_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g36958beffd5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5624135979_0_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356241359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6257de7b96_0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6257de7b9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5624135979_0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g3562413597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6257de7b96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g36257de7b9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6257de7b96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6257de7b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5624135979_0_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g3562413597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6257de7b96_0_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36257de7b9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6257de7b96_0_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g36257de7b9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7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17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" name="Google Shape;14;p117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8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9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" name="Google Shape;19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0" name="Google Shape;2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1" name="Google Shape;21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2" name="Google Shape;22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sp>
        <p:nvSpPr>
          <p:cNvPr id="23" name="Google Shape;23;p119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9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19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0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120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0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120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20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120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1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121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121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121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21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21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22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22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12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3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" name="Google Shape;4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4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" name="Google Shape;50;p124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" name="Google Shape;51;p124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5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25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25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25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25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25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5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2" name="Google Shape;62;p125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25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4" name="Google Shape;64;p125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25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6" name="Google Shape;66;p125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6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26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26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26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26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26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6" name="Google Shape;76;p126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7" name="Google Shape;77;p126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8" name="Google Shape;78;p126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26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7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" name="Google Shape;82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7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27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5" name="Google Shape;85;p127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27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7" name="Google Shape;87;p127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27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27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27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8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8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28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6" name="Google Shape;96;p128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28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128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28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9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9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29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29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29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9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9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0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30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1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" name="Google Shape;113;p131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9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0" name="Google Shape;120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3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53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4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" name="Google Shape;128;p154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156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34" name="Google Shape;134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7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57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9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59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0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7" name="Google Shape;147;p160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8" name="Google Shape;148;p1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49" name="Google Shape;149;p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16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1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6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63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63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63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16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6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0" name="Google Shape;170;p1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10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4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5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20" Type="http://schemas.openxmlformats.org/officeDocument/2006/relationships/hyperlink" Target="https://elixir.bootlin.com/linux/v6.1.130/C/ident/HLIST_HEAD_INIT" TargetMode="External"/><Relationship Id="rId22" Type="http://schemas.openxmlformats.org/officeDocument/2006/relationships/hyperlink" Target="https://elixir.bootlin.com/linux/v6.1.130/C/ident/DECLARE_HASHTABLE" TargetMode="External"/><Relationship Id="rId21" Type="http://schemas.openxmlformats.org/officeDocument/2006/relationships/hyperlink" Target="https://elixir.bootlin.com/linux/v6.1.130/C/ident/DECLARE_HASHTABLE" TargetMode="External"/><Relationship Id="rId24" Type="http://schemas.openxmlformats.org/officeDocument/2006/relationships/hyperlink" Target="https://elixir.bootlin.com/linux/v6.1.130/C/ident/bits" TargetMode="External"/><Relationship Id="rId23" Type="http://schemas.openxmlformats.org/officeDocument/2006/relationships/hyperlink" Target="https://elixir.bootlin.com/linux/v6.1.130/C/ident/bits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elixir.bootlin.com/linux/v6.1.130/C/ident/HLIST_HEAD_INIT" TargetMode="External"/><Relationship Id="rId4" Type="http://schemas.openxmlformats.org/officeDocument/2006/relationships/hyperlink" Target="https://elixir.bootlin.com/linux/v6.1.130/C/ident/HLIST_HEAD_INIT" TargetMode="External"/><Relationship Id="rId9" Type="http://schemas.openxmlformats.org/officeDocument/2006/relationships/hyperlink" Target="https://elixir.bootlin.com/linux/v6.1.130/C/ident/hlist_head" TargetMode="External"/><Relationship Id="rId26" Type="http://schemas.openxmlformats.org/officeDocument/2006/relationships/hyperlink" Target="https://elixir.bootlin.com/linux/v6.1.130/C/ident/hlist_head" TargetMode="External"/><Relationship Id="rId25" Type="http://schemas.openxmlformats.org/officeDocument/2006/relationships/hyperlink" Target="https://elixir.bootlin.com/linux/v6.1.130/C/ident/hlist_head" TargetMode="External"/><Relationship Id="rId27" Type="http://schemas.openxmlformats.org/officeDocument/2006/relationships/hyperlink" Target="https://elixir.bootlin.com/linux/v6.1.130/C/ident/bits" TargetMode="External"/><Relationship Id="rId5" Type="http://schemas.openxmlformats.org/officeDocument/2006/relationships/hyperlink" Target="https://elixir.bootlin.com/linux/v6.1.130/C/ident/first" TargetMode="External"/><Relationship Id="rId6" Type="http://schemas.openxmlformats.org/officeDocument/2006/relationships/hyperlink" Target="https://elixir.bootlin.com/linux/v6.1.130/C/ident/HLIST_HEAD" TargetMode="External"/><Relationship Id="rId7" Type="http://schemas.openxmlformats.org/officeDocument/2006/relationships/hyperlink" Target="https://elixir.bootlin.com/linux/v6.1.130/C/ident/HLIST_HEAD" TargetMode="External"/><Relationship Id="rId8" Type="http://schemas.openxmlformats.org/officeDocument/2006/relationships/hyperlink" Target="https://elixir.bootlin.com/linux/v6.1.130/C/ident/hlist_head" TargetMode="External"/><Relationship Id="rId11" Type="http://schemas.openxmlformats.org/officeDocument/2006/relationships/hyperlink" Target="https://elixir.bootlin.com/linux/v6.1.130/C/ident/DEFINE_HASHTABLE" TargetMode="External"/><Relationship Id="rId10" Type="http://schemas.openxmlformats.org/officeDocument/2006/relationships/hyperlink" Target="https://elixir.bootlin.com/linux/v6.1.130/C/ident/first" TargetMode="External"/><Relationship Id="rId13" Type="http://schemas.openxmlformats.org/officeDocument/2006/relationships/hyperlink" Target="https://elixir.bootlin.com/linux/v6.1.130/C/ident/bits" TargetMode="External"/><Relationship Id="rId12" Type="http://schemas.openxmlformats.org/officeDocument/2006/relationships/hyperlink" Target="https://elixir.bootlin.com/linux/v6.1.130/C/ident/DEFINE_HASHTABLE" TargetMode="External"/><Relationship Id="rId15" Type="http://schemas.openxmlformats.org/officeDocument/2006/relationships/hyperlink" Target="https://elixir.bootlin.com/linux/v6.1.130/C/ident/hlist_head" TargetMode="External"/><Relationship Id="rId14" Type="http://schemas.openxmlformats.org/officeDocument/2006/relationships/hyperlink" Target="https://elixir.bootlin.com/linux/v6.1.130/C/ident/bits" TargetMode="External"/><Relationship Id="rId17" Type="http://schemas.openxmlformats.org/officeDocument/2006/relationships/hyperlink" Target="https://elixir.bootlin.com/linux/v6.1.130/C/ident/bits" TargetMode="External"/><Relationship Id="rId16" Type="http://schemas.openxmlformats.org/officeDocument/2006/relationships/hyperlink" Target="https://elixir.bootlin.com/linux/v6.1.130/C/ident/hlist_head" TargetMode="External"/><Relationship Id="rId19" Type="http://schemas.openxmlformats.org/officeDocument/2006/relationships/hyperlink" Target="https://elixir.bootlin.com/linux/v6.1.130/C/ident/HLIST_HEAD_INIT" TargetMode="External"/><Relationship Id="rId18" Type="http://schemas.openxmlformats.org/officeDocument/2006/relationships/hyperlink" Target="https://elixir.bootlin.com/linux/v6.1.130/C/ident/bits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20" Type="http://schemas.openxmlformats.org/officeDocument/2006/relationships/hyperlink" Target="https://elixir.bootlin.com/linux/v6.1.130/C/ident/__hash_init" TargetMode="External"/><Relationship Id="rId22" Type="http://schemas.openxmlformats.org/officeDocument/2006/relationships/hyperlink" Target="https://elixir.bootlin.com/linux/v6.1.130/C/ident/hashtable" TargetMode="External"/><Relationship Id="rId21" Type="http://schemas.openxmlformats.org/officeDocument/2006/relationships/hyperlink" Target="https://elixir.bootlin.com/linux/v6.1.130/C/ident/__hash_init" TargetMode="External"/><Relationship Id="rId24" Type="http://schemas.openxmlformats.org/officeDocument/2006/relationships/hyperlink" Target="https://elixir.bootlin.com/linux/v6.1.130/C/ident/HASH_SIZE" TargetMode="External"/><Relationship Id="rId23" Type="http://schemas.openxmlformats.org/officeDocument/2006/relationships/hyperlink" Target="https://elixir.bootlin.com/linux/v6.1.130/C/ident/HASH_SIZE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hyperlink" Target="https://elixir.bootlin.com/linux/v6.1.130/C/ident/HASH_SIZE" TargetMode="External"/><Relationship Id="rId4" Type="http://schemas.openxmlformats.org/officeDocument/2006/relationships/hyperlink" Target="https://elixir.bootlin.com/linux/v6.1.130/C/ident/HASH_SIZE" TargetMode="External"/><Relationship Id="rId9" Type="http://schemas.openxmlformats.org/officeDocument/2006/relationships/hyperlink" Target="https://elixir.bootlin.com/linux/v6.1.130/C/ident/hlist_head" TargetMode="External"/><Relationship Id="rId25" Type="http://schemas.openxmlformats.org/officeDocument/2006/relationships/hyperlink" Target="https://elixir.bootlin.com/linux/v6.1.130/C/ident/hashtable" TargetMode="External"/><Relationship Id="rId5" Type="http://schemas.openxmlformats.org/officeDocument/2006/relationships/hyperlink" Target="https://elixir.bootlin.com/linux/v6.1.130/C/ident/ARRAY_SIZE" TargetMode="External"/><Relationship Id="rId6" Type="http://schemas.openxmlformats.org/officeDocument/2006/relationships/hyperlink" Target="https://elixir.bootlin.com/linux/v6.1.130/C/ident/__hash_init" TargetMode="External"/><Relationship Id="rId7" Type="http://schemas.openxmlformats.org/officeDocument/2006/relationships/hyperlink" Target="https://elixir.bootlin.com/linux/v6.1.130/C/ident/__hash_init" TargetMode="External"/><Relationship Id="rId8" Type="http://schemas.openxmlformats.org/officeDocument/2006/relationships/hyperlink" Target="https://elixir.bootlin.com/linux/v6.1.130/C/ident/hlist_head" TargetMode="External"/><Relationship Id="rId11" Type="http://schemas.openxmlformats.org/officeDocument/2006/relationships/hyperlink" Target="https://elixir.bootlin.com/linux/v6.1.130/C/ident/sz" TargetMode="External"/><Relationship Id="rId10" Type="http://schemas.openxmlformats.org/officeDocument/2006/relationships/hyperlink" Target="https://elixir.bootlin.com/linux/v6.1.130/C/ident/ht" TargetMode="External"/><Relationship Id="rId13" Type="http://schemas.openxmlformats.org/officeDocument/2006/relationships/hyperlink" Target="https://elixir.bootlin.com/linux/v6.1.130/C/ident/sz" TargetMode="External"/><Relationship Id="rId12" Type="http://schemas.openxmlformats.org/officeDocument/2006/relationships/hyperlink" Target="https://elixir.bootlin.com/linux/v6.1.130/C/ident/sz" TargetMode="External"/><Relationship Id="rId15" Type="http://schemas.openxmlformats.org/officeDocument/2006/relationships/hyperlink" Target="https://elixir.bootlin.com/linux/v6.1.130/C/ident/INIT_HLIST_HEAD" TargetMode="External"/><Relationship Id="rId14" Type="http://schemas.openxmlformats.org/officeDocument/2006/relationships/hyperlink" Target="https://elixir.bootlin.com/linux/v6.1.130/C/ident/sz" TargetMode="External"/><Relationship Id="rId17" Type="http://schemas.openxmlformats.org/officeDocument/2006/relationships/hyperlink" Target="https://elixir.bootlin.com/linux/v6.1.130/C/ident/hash_init" TargetMode="External"/><Relationship Id="rId16" Type="http://schemas.openxmlformats.org/officeDocument/2006/relationships/hyperlink" Target="https://elixir.bootlin.com/linux/v6.1.130/C/ident/ht" TargetMode="External"/><Relationship Id="rId19" Type="http://schemas.openxmlformats.org/officeDocument/2006/relationships/hyperlink" Target="https://elixir.bootlin.com/linux/v6.1.130/C/ident/hashtable" TargetMode="External"/><Relationship Id="rId18" Type="http://schemas.openxmlformats.org/officeDocument/2006/relationships/hyperlink" Target="https://elixir.bootlin.com/linux/v6.1.130/C/ident/hash_init" TargetMode="Externa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20" Type="http://schemas.openxmlformats.org/officeDocument/2006/relationships/hyperlink" Target="https://elixir.bootlin.com/linux/v6.1.130/C/ident/hash_add" TargetMode="External"/><Relationship Id="rId22" Type="http://schemas.openxmlformats.org/officeDocument/2006/relationships/hyperlink" Target="https://elixir.bootlin.com/linux/v6.1.130/C/ident/hashtable" TargetMode="External"/><Relationship Id="rId21" Type="http://schemas.openxmlformats.org/officeDocument/2006/relationships/hyperlink" Target="https://elixir.bootlin.com/linux/v6.1.130/C/ident/hash_add" TargetMode="External"/><Relationship Id="rId24" Type="http://schemas.openxmlformats.org/officeDocument/2006/relationships/hyperlink" Target="https://elixir.bootlin.com/linux/v6.1.130/C/ident/node" TargetMode="External"/><Relationship Id="rId23" Type="http://schemas.openxmlformats.org/officeDocument/2006/relationships/hyperlink" Target="https://elixir.bootlin.com/linux/v6.1.130/C/ident/node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hyperlink" Target="https://elixir.bootlin.com/linux/v6.1.130/C/ident/HASH_BITS" TargetMode="External"/><Relationship Id="rId4" Type="http://schemas.openxmlformats.org/officeDocument/2006/relationships/hyperlink" Target="https://elixir.bootlin.com/linux/v6.1.130/C/ident/HASH_BITS" TargetMode="External"/><Relationship Id="rId9" Type="http://schemas.openxmlformats.org/officeDocument/2006/relationships/hyperlink" Target="https://elixir.bootlin.com/linux/v6.1.130/C/ident/hash_min" TargetMode="External"/><Relationship Id="rId26" Type="http://schemas.openxmlformats.org/officeDocument/2006/relationships/hyperlink" Target="https://elixir.bootlin.com/linux/v6.1.130/C/ident/key" TargetMode="External"/><Relationship Id="rId25" Type="http://schemas.openxmlformats.org/officeDocument/2006/relationships/hyperlink" Target="https://elixir.bootlin.com/linux/v6.1.130/C/ident/key" TargetMode="External"/><Relationship Id="rId28" Type="http://schemas.openxmlformats.org/officeDocument/2006/relationships/hyperlink" Target="https://elixir.bootlin.com/linux/v6.1.130/C/ident/node" TargetMode="External"/><Relationship Id="rId27" Type="http://schemas.openxmlformats.org/officeDocument/2006/relationships/hyperlink" Target="https://elixir.bootlin.com/linux/v6.1.130/C/ident/hlist_add_head" TargetMode="External"/><Relationship Id="rId5" Type="http://schemas.openxmlformats.org/officeDocument/2006/relationships/hyperlink" Target="https://elixir.bootlin.com/linux/v6.1.130/C/ident/ilog2" TargetMode="External"/><Relationship Id="rId6" Type="http://schemas.openxmlformats.org/officeDocument/2006/relationships/hyperlink" Target="https://elixir.bootlin.com/linux/v6.1.130/C/ident/ilog2" TargetMode="External"/><Relationship Id="rId29" Type="http://schemas.openxmlformats.org/officeDocument/2006/relationships/hyperlink" Target="https://elixir.bootlin.com/linux/v6.1.130/C/ident/hashtable" TargetMode="External"/><Relationship Id="rId7" Type="http://schemas.openxmlformats.org/officeDocument/2006/relationships/hyperlink" Target="https://elixir.bootlin.com/linux/v6.1.130/C/ident/HASH_SIZE" TargetMode="External"/><Relationship Id="rId8" Type="http://schemas.openxmlformats.org/officeDocument/2006/relationships/hyperlink" Target="https://elixir.bootlin.com/linux/v6.1.130/C/ident/hash_min" TargetMode="External"/><Relationship Id="rId31" Type="http://schemas.openxmlformats.org/officeDocument/2006/relationships/hyperlink" Target="https://elixir.bootlin.com/linux/v6.1.130/C/ident/key" TargetMode="External"/><Relationship Id="rId30" Type="http://schemas.openxmlformats.org/officeDocument/2006/relationships/hyperlink" Target="https://elixir.bootlin.com/linux/v6.1.130/C/ident/hash_min" TargetMode="External"/><Relationship Id="rId11" Type="http://schemas.openxmlformats.org/officeDocument/2006/relationships/hyperlink" Target="https://elixir.bootlin.com/linux/v6.1.130/C/ident/bits" TargetMode="External"/><Relationship Id="rId33" Type="http://schemas.openxmlformats.org/officeDocument/2006/relationships/hyperlink" Target="https://elixir.bootlin.com/linux/v6.1.130/C/ident/HASH_BITS" TargetMode="External"/><Relationship Id="rId10" Type="http://schemas.openxmlformats.org/officeDocument/2006/relationships/hyperlink" Target="https://elixir.bootlin.com/linux/v6.1.130/C/ident/bits" TargetMode="External"/><Relationship Id="rId32" Type="http://schemas.openxmlformats.org/officeDocument/2006/relationships/hyperlink" Target="https://elixir.bootlin.com/linux/v6.1.130/C/ident/HASH_BITS" TargetMode="External"/><Relationship Id="rId13" Type="http://schemas.openxmlformats.org/officeDocument/2006/relationships/hyperlink" Target="https://elixir.bootlin.com/linux/v6.1.130/C/ident/hash_32" TargetMode="External"/><Relationship Id="rId12" Type="http://schemas.openxmlformats.org/officeDocument/2006/relationships/hyperlink" Target="https://elixir.bootlin.com/linux/v6.1.130/C/ident/hash_32" TargetMode="External"/><Relationship Id="rId34" Type="http://schemas.openxmlformats.org/officeDocument/2006/relationships/hyperlink" Target="https://elixir.bootlin.com/linux/v6.1.130/C/ident/hashtable" TargetMode="External"/><Relationship Id="rId15" Type="http://schemas.openxmlformats.org/officeDocument/2006/relationships/hyperlink" Target="https://elixir.bootlin.com/linux/v6.1.130/C/ident/bits" TargetMode="External"/><Relationship Id="rId14" Type="http://schemas.openxmlformats.org/officeDocument/2006/relationships/hyperlink" Target="https://elixir.bootlin.com/linux/v6.1.130/C/ident/bits" TargetMode="External"/><Relationship Id="rId17" Type="http://schemas.openxmlformats.org/officeDocument/2006/relationships/hyperlink" Target="https://elixir.bootlin.com/linux/v6.1.130/C/ident/hash_long" TargetMode="External"/><Relationship Id="rId16" Type="http://schemas.openxmlformats.org/officeDocument/2006/relationships/hyperlink" Target="https://elixir.bootlin.com/linux/v6.1.130/C/ident/hash_long" TargetMode="External"/><Relationship Id="rId19" Type="http://schemas.openxmlformats.org/officeDocument/2006/relationships/hyperlink" Target="https://elixir.bootlin.com/linux/v6.1.130/C/ident/bits" TargetMode="External"/><Relationship Id="rId18" Type="http://schemas.openxmlformats.org/officeDocument/2006/relationships/hyperlink" Target="https://elixir.bootlin.com/linux/v6.1.130/C/ident/bits" TargetMode="Externa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20" Type="http://schemas.openxmlformats.org/officeDocument/2006/relationships/hyperlink" Target="https://elixir.bootlin.com/linux/v6.1.130/C/ident/WRITE_ONCE" TargetMode="External"/><Relationship Id="rId22" Type="http://schemas.openxmlformats.org/officeDocument/2006/relationships/hyperlink" Target="https://elixir.bootlin.com/linux/v6.1.130/C/ident/WRITE_ONCE" TargetMode="External"/><Relationship Id="rId21" Type="http://schemas.openxmlformats.org/officeDocument/2006/relationships/hyperlink" Target="https://elixir.bootlin.com/linux/v6.1.130/C/ident/first" TargetMode="External"/><Relationship Id="rId24" Type="http://schemas.openxmlformats.org/officeDocument/2006/relationships/hyperlink" Target="https://elixir.bootlin.com/linux/v6.1.130/C/ident/first" TargetMode="External"/><Relationship Id="rId23" Type="http://schemas.openxmlformats.org/officeDocument/2006/relationships/hyperlink" Target="https://elixir.bootlin.com/linux/v6.1.130/C/ident/pprev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hyperlink" Target="https://elixir.bootlin.com/linux/v6.1.130/C/ident/hlist_add_head" TargetMode="External"/><Relationship Id="rId4" Type="http://schemas.openxmlformats.org/officeDocument/2006/relationships/hyperlink" Target="https://elixir.bootlin.com/linux/v6.1.130/C/ident/hlist_add_head" TargetMode="External"/><Relationship Id="rId9" Type="http://schemas.openxmlformats.org/officeDocument/2006/relationships/hyperlink" Target="https://elixir.bootlin.com/linux/v6.1.130/C/ident/hlist_node" TargetMode="External"/><Relationship Id="rId5" Type="http://schemas.openxmlformats.org/officeDocument/2006/relationships/hyperlink" Target="https://elixir.bootlin.com/linux/v6.1.130/C/ident/hlist_node" TargetMode="External"/><Relationship Id="rId6" Type="http://schemas.openxmlformats.org/officeDocument/2006/relationships/hyperlink" Target="https://elixir.bootlin.com/linux/v6.1.130/C/ident/hlist_node" TargetMode="External"/><Relationship Id="rId7" Type="http://schemas.openxmlformats.org/officeDocument/2006/relationships/hyperlink" Target="https://elixir.bootlin.com/linux/v6.1.130/C/ident/hlist_head" TargetMode="External"/><Relationship Id="rId8" Type="http://schemas.openxmlformats.org/officeDocument/2006/relationships/hyperlink" Target="https://elixir.bootlin.com/linux/v6.1.130/C/ident/hlist_head" TargetMode="External"/><Relationship Id="rId11" Type="http://schemas.openxmlformats.org/officeDocument/2006/relationships/hyperlink" Target="https://elixir.bootlin.com/linux/v6.1.130/C/ident/first" TargetMode="External"/><Relationship Id="rId10" Type="http://schemas.openxmlformats.org/officeDocument/2006/relationships/hyperlink" Target="https://elixir.bootlin.com/linux/v6.1.130/C/ident/hlist_node" TargetMode="External"/><Relationship Id="rId13" Type="http://schemas.openxmlformats.org/officeDocument/2006/relationships/hyperlink" Target="https://elixir.bootlin.com/linux/v6.1.130/C/ident/WRITE_ONCE" TargetMode="External"/><Relationship Id="rId12" Type="http://schemas.openxmlformats.org/officeDocument/2006/relationships/hyperlink" Target="https://elixir.bootlin.com/linux/v6.1.130/C/ident/first" TargetMode="External"/><Relationship Id="rId15" Type="http://schemas.openxmlformats.org/officeDocument/2006/relationships/hyperlink" Target="https://elixir.bootlin.com/linux/v6.1.130/C/ident/first" TargetMode="External"/><Relationship Id="rId14" Type="http://schemas.openxmlformats.org/officeDocument/2006/relationships/hyperlink" Target="https://elixir.bootlin.com/linux/v6.1.130/C/ident/first" TargetMode="External"/><Relationship Id="rId17" Type="http://schemas.openxmlformats.org/officeDocument/2006/relationships/hyperlink" Target="https://elixir.bootlin.com/linux/v6.1.130/C/ident/WRITE_ONCE" TargetMode="External"/><Relationship Id="rId16" Type="http://schemas.openxmlformats.org/officeDocument/2006/relationships/hyperlink" Target="https://elixir.bootlin.com/linux/v6.1.130/C/ident/first" TargetMode="External"/><Relationship Id="rId19" Type="http://schemas.openxmlformats.org/officeDocument/2006/relationships/hyperlink" Target="https://elixir.bootlin.com/linux/v6.1.130/C/ident/pprev" TargetMode="External"/><Relationship Id="rId18" Type="http://schemas.openxmlformats.org/officeDocument/2006/relationships/hyperlink" Target="https://elixir.bootlin.com/linux/v6.1.130/C/ident/first" TargetMode="Externa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7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hyperlink" Target="https://elixir.bootlin.com/linux/v6.1.130/C/ident/kmem_cache" TargetMode="External"/><Relationship Id="rId4" Type="http://schemas.openxmlformats.org/officeDocument/2006/relationships/hyperlink" Target="https://elixir.bootlin.com/linux/v6.1.130/C/ident/kmem_cache" TargetMode="External"/><Relationship Id="rId5" Type="http://schemas.openxmlformats.org/officeDocument/2006/relationships/hyperlink" Target="https://elixir.bootlin.com/linux/v6.1.130/C/ident/posix_timers_cache" TargetMode="External"/><Relationship Id="rId6" Type="http://schemas.openxmlformats.org/officeDocument/2006/relationships/hyperlink" Target="https://elixir.bootlin.com/linux/v6.1.130/C/ident/DEFINE_HASHTABLE" TargetMode="External"/><Relationship Id="rId7" Type="http://schemas.openxmlformats.org/officeDocument/2006/relationships/hyperlink" Target="https://elixir.bootlin.com/linux/v6.1.130/C/ident/DEFINE_HASHTABLE" TargetMode="Externa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"/>
          <p:cNvSpPr txBox="1"/>
          <p:nvPr>
            <p:ph type="title"/>
          </p:nvPr>
        </p:nvSpPr>
        <p:spPr>
          <a:xfrm>
            <a:off x="500550" y="654786"/>
            <a:ext cx="85206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lt1"/>
                </a:solidFill>
              </a:rPr>
              <a:t>0x09 </a:t>
            </a:r>
            <a:r>
              <a:rPr lang="ru" sz="4000">
                <a:solidFill>
                  <a:schemeClr val="lt1"/>
                </a:solidFill>
              </a:rPr>
              <a:t>Алгоритмы в ядре Linux. Бинарный поиск. Поиск с помощью двоичных деревьев. Хэширование.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0" y="273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"/>
          <p:cNvSpPr txBox="1"/>
          <p:nvPr/>
        </p:nvSpPr>
        <p:spPr>
          <a:xfrm>
            <a:off x="886050" y="4127375"/>
            <a:ext cx="240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Разработка ядра Linux</a:t>
            </a:r>
            <a:endParaRPr b="0" i="0" sz="1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0" name="Google Shape;180;p1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"/>
          <p:cNvSpPr txBox="1"/>
          <p:nvPr>
            <p:ph type="title"/>
          </p:nvPr>
        </p:nvSpPr>
        <p:spPr>
          <a:xfrm>
            <a:off x="1604550" y="953124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 sz="2100">
                <a:solidFill>
                  <a:schemeClr val="dk1"/>
                </a:solidFill>
              </a:rPr>
              <a:t>Проверить, идет ли запись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86" name="Google Shape;186;p2"/>
          <p:cNvSpPr txBox="1"/>
          <p:nvPr>
            <p:ph type="title"/>
          </p:nvPr>
        </p:nvSpPr>
        <p:spPr>
          <a:xfrm>
            <a:off x="716325" y="1805199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87" name="Google Shape;18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87" y="3919475"/>
            <a:ext cx="545712" cy="5457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2"/>
          <p:cNvGrpSpPr/>
          <p:nvPr/>
        </p:nvGrpSpPr>
        <p:grpSpPr>
          <a:xfrm>
            <a:off x="825575" y="1022425"/>
            <a:ext cx="778985" cy="369300"/>
            <a:chOff x="825575" y="1022425"/>
            <a:chExt cx="778985" cy="369300"/>
          </a:xfrm>
        </p:grpSpPr>
        <p:sp>
          <p:nvSpPr>
            <p:cNvPr id="189" name="Google Shape;189;p2"/>
            <p:cNvSpPr/>
            <p:nvPr/>
          </p:nvSpPr>
          <p:spPr>
            <a:xfrm>
              <a:off x="825575" y="1037550"/>
              <a:ext cx="714900" cy="317700"/>
            </a:xfrm>
            <a:prstGeom prst="roundRect">
              <a:avLst>
                <a:gd fmla="val 16667" name="adj"/>
              </a:avLst>
            </a:prstGeom>
            <a:solidFill>
              <a:srgbClr val="3F2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987760" y="1022425"/>
              <a:ext cx="61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ru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</a:t>
              </a:r>
              <a:endParaRPr b="0" i="0" sz="1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934700" y="1168375"/>
              <a:ext cx="85800" cy="77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>
            <p:ph type="title"/>
          </p:nvPr>
        </p:nvSpPr>
        <p:spPr>
          <a:xfrm>
            <a:off x="511400" y="4291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ru" sz="3200"/>
              <a:t>Правила вебинара</a:t>
            </a:r>
            <a:endParaRPr b="1" sz="3200"/>
          </a:p>
        </p:txBody>
      </p:sp>
      <p:sp>
        <p:nvSpPr>
          <p:cNvPr id="197" name="Google Shape;197;p4"/>
          <p:cNvSpPr txBox="1"/>
          <p:nvPr/>
        </p:nvSpPr>
        <p:spPr>
          <a:xfrm>
            <a:off x="1654525" y="1252250"/>
            <a:ext cx="2475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1654525" y="2926494"/>
            <a:ext cx="323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(или голосом в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 секции 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вопросов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1654525" y="3713359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1654525" y="1991275"/>
            <a:ext cx="247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#</a:t>
            </a:r>
            <a:r>
              <a:rPr b="1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канал группы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645" y="2205277"/>
            <a:ext cx="394991" cy="39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67" y="3077372"/>
            <a:ext cx="394992" cy="39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767" y="1378750"/>
            <a:ext cx="394992" cy="39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650" y="3804540"/>
            <a:ext cx="433225" cy="4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10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{A6289B6B-062B-4EB1-B129-6A5830E48B5A}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ru" sz="3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Цели вебинара</a:t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t/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0"/>
          <p:cNvSpPr/>
          <p:nvPr/>
        </p:nvSpPr>
        <p:spPr>
          <a:xfrm>
            <a:off x="553325" y="208257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Узнать или повторить изученные алгоритмы: бинарный поиск, сортировка кучей, хэширование.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53300" y="2825888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Узнать API для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бинарного поиска, сортировки, хэширования в ядре Linux.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53300" y="356922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Посмотреть примеры использования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алгоритмов в</a:t>
            </a: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ядре Linux.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620475" y="912475"/>
            <a:ext cx="378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448675" y="912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Сортировка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14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/>
          <p:nvPr/>
        </p:nvSpPr>
        <p:spPr>
          <a:xfrm>
            <a:off x="823806" y="1676800"/>
            <a:ext cx="616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Какие сортировки вы знаете ?</a:t>
            </a:r>
            <a:endParaRPr b="1" i="0" sz="3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225" y="2980325"/>
            <a:ext cx="1226876" cy="18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2d929fe7e_0_9"/>
          <p:cNvSpPr txBox="1"/>
          <p:nvPr/>
        </p:nvSpPr>
        <p:spPr>
          <a:xfrm>
            <a:off x="721500" y="54522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2" name="Google Shape;232;g352d929fe7e_0_9"/>
          <p:cNvSpPr txBox="1"/>
          <p:nvPr/>
        </p:nvSpPr>
        <p:spPr>
          <a:xfrm>
            <a:off x="721500" y="1405775"/>
            <a:ext cx="74034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Алгоритм сортировки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 это последовательность операций, которая позволяет упорядочить элементы в массиве или списке по определённому признаку. Например, элементы могут располагаться по возрастанию или убыванию. </a:t>
            </a:r>
            <a:endParaRPr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2d929fe7e_0_15"/>
          <p:cNvSpPr txBox="1"/>
          <p:nvPr/>
        </p:nvSpPr>
        <p:spPr>
          <a:xfrm>
            <a:off x="721500" y="540400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Критерии оценки алгоритмов сортировки: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8" name="Google Shape;238;g352d929fe7e_0_15"/>
          <p:cNvSpPr txBox="1"/>
          <p:nvPr/>
        </p:nvSpPr>
        <p:spPr>
          <a:xfrm>
            <a:off x="681050" y="2024875"/>
            <a:ext cx="77010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алгоритма (временная и пространственная)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 (сохраняет ли порядок равных элементов)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простота реализации и понимания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эффективность на различных объемах данных.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5d89c95a8_0_6"/>
          <p:cNvSpPr txBox="1"/>
          <p:nvPr/>
        </p:nvSpPr>
        <p:spPr>
          <a:xfrm>
            <a:off x="721500" y="53557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Bubble Sort.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4" name="Google Shape;244;g355d89c95a8_0_6"/>
          <p:cNvSpPr txBox="1"/>
          <p:nvPr/>
        </p:nvSpPr>
        <p:spPr>
          <a:xfrm>
            <a:off x="721500" y="1405775"/>
            <a:ext cx="74034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Пузырьковая сортировка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простой алгоритм сортировки, который многократно проходит по массиву, сравнивая соседние элементы и меняя их местами, если они находятся в неправильном порядке. Процесс повторяется, пока массив не будет отсортирован.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g355d89c95a8_0_6" title="Sorting_bubblesort_anim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963" y="2379575"/>
            <a:ext cx="413647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5d89c95a8_0_49"/>
          <p:cNvSpPr txBox="1"/>
          <p:nvPr/>
        </p:nvSpPr>
        <p:spPr>
          <a:xfrm>
            <a:off x="721500" y="545224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Критерии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51" name="Google Shape;251;g355d89c95a8_0_49"/>
          <p:cNvSpPr txBox="1"/>
          <p:nvPr/>
        </p:nvSpPr>
        <p:spPr>
          <a:xfrm>
            <a:off x="721500" y="1375300"/>
            <a:ext cx="7403400" cy="3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алгоритма: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Временная сложность: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O(n²)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худшем и среднем случае,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лучшем случае (если массив уже отсортирован).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Пространственная сложность: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(сортировка выполняется на месте).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Устойчивая (сохраняет порядок равных элементов).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Простота реализации и понимания: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Очень проста в реализации и понимании, что делает ее хорошим выбором для обучения.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Эффективность на различных объемах данных: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Неэффективна для больших массивов из-за квадратичной сложности.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5d89c95a8_0_13"/>
          <p:cNvSpPr txBox="1"/>
          <p:nvPr/>
        </p:nvSpPr>
        <p:spPr>
          <a:xfrm>
            <a:off x="721500" y="550050"/>
            <a:ext cx="770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сортировки на ASCII - арте</a:t>
            </a:r>
            <a:endParaRPr b="0" i="0" sz="17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57" name="Google Shape;257;g355d89c95a8_0_13"/>
          <p:cNvSpPr txBox="1"/>
          <p:nvPr/>
        </p:nvSpPr>
        <p:spPr>
          <a:xfrm>
            <a:off x="721500" y="1065275"/>
            <a:ext cx="74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g355d89c95a8_0_13"/>
          <p:cNvSpPr txBox="1"/>
          <p:nvPr/>
        </p:nvSpPr>
        <p:spPr>
          <a:xfrm>
            <a:off x="721500" y="1555525"/>
            <a:ext cx="74034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Исходный массив: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[6, 0, 3, 5]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Проход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[6, 0, 3, 5]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22863A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6, 3, 5]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(обмен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и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6, 3, 5]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22863A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6, 5]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(обмен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и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6, 5]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22863A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(обмен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и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Состояние после прохода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Проход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22863A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(без обмена)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22863A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(без обмена)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Состояние после прохода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Проход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22863A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&gt; 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(без обмена)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Итоговый отсортированный массив: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[0, 3, 5, 6]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5d89c95a8_0_19"/>
          <p:cNvSpPr txBox="1"/>
          <p:nvPr/>
        </p:nvSpPr>
        <p:spPr>
          <a:xfrm>
            <a:off x="721500" y="540400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кода на си.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4" name="Google Shape;264;g355d89c95a8_0_19"/>
          <p:cNvSpPr txBox="1"/>
          <p:nvPr/>
        </p:nvSpPr>
        <p:spPr>
          <a:xfrm>
            <a:off x="721500" y="1398725"/>
            <a:ext cx="66159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arr,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j)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temp = arr[i];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arr[i] = arr[j];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arr[j] = temp;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arr[],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n)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&lt; n -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++i)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Last i elements are already in place, so the loop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will only num n - i - 1 times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j =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j &lt; n - i -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++j)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(arr[j] &gt; arr[j +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swap(arr, j, j +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5d89c95a8_0_31"/>
          <p:cNvSpPr txBox="1"/>
          <p:nvPr/>
        </p:nvSpPr>
        <p:spPr>
          <a:xfrm>
            <a:off x="721500" y="550049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Quicksort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0" name="Google Shape;270;g355d89c95a8_0_31"/>
          <p:cNvSpPr txBox="1"/>
          <p:nvPr/>
        </p:nvSpPr>
        <p:spPr>
          <a:xfrm>
            <a:off x="721500" y="1517775"/>
            <a:ext cx="7402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Быстрая сортировка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эффективный алгоритм сортировки, который использует метод "разделяй и властвуй". Он выбирает опорный элемент и разделяет массив на две части: элементы меньше опорного и элементы больше опорного. Затем рекурсивно сортирует обе части.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g355d89c95a8_0_31" title="Sorting_quicksort_anim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750" y="2456425"/>
            <a:ext cx="4194775" cy="26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5d89c95a8_0_42"/>
          <p:cNvSpPr txBox="1"/>
          <p:nvPr/>
        </p:nvSpPr>
        <p:spPr>
          <a:xfrm>
            <a:off x="721500" y="545224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Критерии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7" name="Google Shape;277;g355d89c95a8_0_42"/>
          <p:cNvSpPr txBox="1"/>
          <p:nvPr/>
        </p:nvSpPr>
        <p:spPr>
          <a:xfrm>
            <a:off x="721500" y="1333275"/>
            <a:ext cx="7389300" cy="3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алгоритма: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Временная сложность: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среднем и лучшем случае,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O(n²)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худшем случае (при неудачном выборе опорного элемента).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Пространственная сложность: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среднем случае (для хранения стековых вызовов).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Неустойчивая (порядок равных элементов может измениться).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Простота реализации и понимания: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Более сложна в реализации по сравнению с пузырьковой сортировкой, но все еще достаточно понятна.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Эффективность на различных объемах данных: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Очень эффективна для больших массивов, особенно если правильно выбирать опорный элемент.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5d89c95a8_0_58"/>
          <p:cNvSpPr txBox="1"/>
          <p:nvPr/>
        </p:nvSpPr>
        <p:spPr>
          <a:xfrm>
            <a:off x="721493" y="1791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кода на си.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3" name="Google Shape;283;g355d89c95a8_0_58"/>
          <p:cNvSpPr txBox="1"/>
          <p:nvPr/>
        </p:nvSpPr>
        <p:spPr>
          <a:xfrm>
            <a:off x="721500" y="848825"/>
            <a:ext cx="59544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partition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arr[],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low,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high)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pivot = arr[high];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выбираем последний элемент в качестве опорного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 = (low -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индекс меньшего элемента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j = low; j &lt; high; j++)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текущий элемент меньше или равен опорному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(arr[j] &lt;= pivot)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i++;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увеличиваем индекс меньшего элемента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swap(&amp;arr[i], &amp;arr[j]);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меняем местами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swap(&amp;arr[i +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], &amp;arr[high]);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ставим опорный элемент на правильное место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+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quickSort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arr[],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low,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high)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(low &lt; high)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находим индекс опорного элемента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pi = partition(arr, low, high);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рекурсивно сортируем элементы до и после опорного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quickSort(arr, low, pi -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quickSort(arr, pi +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high);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50cae0443_0_6"/>
          <p:cNvSpPr txBox="1"/>
          <p:nvPr/>
        </p:nvSpPr>
        <p:spPr>
          <a:xfrm>
            <a:off x="721500" y="545225"/>
            <a:ext cx="770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9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sz="19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9" name="Google Shape;289;g3550cae0443_0_6"/>
          <p:cNvSpPr txBox="1"/>
          <p:nvPr/>
        </p:nvSpPr>
        <p:spPr>
          <a:xfrm>
            <a:off x="721500" y="1521550"/>
            <a:ext cx="7374900" cy="2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Выбор опорного элемента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Опорный элемент выбирается из массива. В данном примере это последний элемент, 5.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Массив перед началом сортировки: {10, 7, 8, 9, 1, 5}.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Состояние массива: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10, 7, 8, 9, 1, 5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^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pivot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5d89c95a8_0_70"/>
          <p:cNvSpPr txBox="1"/>
          <p:nvPr/>
        </p:nvSpPr>
        <p:spPr>
          <a:xfrm>
            <a:off x="721500" y="540400"/>
            <a:ext cx="770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8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sz="18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5" name="Google Shape;295;g355d89c95a8_0_70"/>
          <p:cNvSpPr txBox="1"/>
          <p:nvPr/>
        </p:nvSpPr>
        <p:spPr>
          <a:xfrm>
            <a:off x="721500" y="1411375"/>
            <a:ext cx="73749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Разбиение массива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Начинается процесс разбиения. Индекс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инициализируется как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а 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проходит от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high - 1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Если текущий элемент меньше или равен опорному, индекс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увеличивается, и элементы на позициях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меняются местами.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5d89c95a8_0_78"/>
          <p:cNvSpPr txBox="1"/>
          <p:nvPr/>
        </p:nvSpPr>
        <p:spPr>
          <a:xfrm>
            <a:off x="721500" y="545225"/>
            <a:ext cx="770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9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sz="19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1" name="Google Shape;301;g355d89c95a8_0_78"/>
          <p:cNvSpPr txBox="1"/>
          <p:nvPr/>
        </p:nvSpPr>
        <p:spPr>
          <a:xfrm>
            <a:off x="721500" y="1271525"/>
            <a:ext cx="8153100" cy="3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Состояние массива после первой итерации: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[1, 7, 8, 9, 10, 5]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завершения цикла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меняем опорный элемент с элементом на позиции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+ 1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(то есть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arr[1]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Состояние массива после разбиения: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1, 5, 8, 9, 10, 7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^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pivot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 опорного элемента теперь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5d89c95a8_0_92"/>
          <p:cNvSpPr txBox="1"/>
          <p:nvPr/>
        </p:nvSpPr>
        <p:spPr>
          <a:xfrm>
            <a:off x="721500" y="554875"/>
            <a:ext cx="770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9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sz="19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7" name="Google Shape;307;g355d89c95a8_0_92"/>
          <p:cNvSpPr txBox="1"/>
          <p:nvPr/>
        </p:nvSpPr>
        <p:spPr>
          <a:xfrm>
            <a:off x="721500" y="1371750"/>
            <a:ext cx="7374900" cy="19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Рекурсивная сортировка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вызываем quickSort для подмассивов: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подмассив: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quickSort(arr, 0, 0)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(массив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{1}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уже отсортирован).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Правый подмассив: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quickSort(arr, 2, 5)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5d89c95a8_0_100"/>
          <p:cNvSpPr txBox="1"/>
          <p:nvPr/>
        </p:nvSpPr>
        <p:spPr>
          <a:xfrm>
            <a:off x="721500" y="540398"/>
            <a:ext cx="770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sz="17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13" name="Google Shape;313;g355d89c95a8_0_100"/>
          <p:cNvSpPr txBox="1"/>
          <p:nvPr/>
        </p:nvSpPr>
        <p:spPr>
          <a:xfrm>
            <a:off x="721500" y="1742825"/>
            <a:ext cx="3082800" cy="1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Разбиение: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SzPts val="1400"/>
              <a:buChar char="●"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</a:rPr>
              <a:t>j = 2: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0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 &gt; 7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ничего не меняем.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</a:rPr>
              <a:t>j = 3: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0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 &gt; 7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ничего не меняем.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</a:rPr>
              <a:t>j = 4: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0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 &gt; 7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ничего не меняем.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g355d89c95a8_0_100"/>
          <p:cNvSpPr txBox="1"/>
          <p:nvPr/>
        </p:nvSpPr>
        <p:spPr>
          <a:xfrm>
            <a:off x="4331950" y="1742825"/>
            <a:ext cx="4152300" cy="24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завершения цикла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меняем опорный элемент с элементом на позиции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+ 1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Состояние массива после разбиения: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1, 5, 7, 9, 10, 8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^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pivot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 опорного элемента теперь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5d89c95a8_0_110"/>
          <p:cNvSpPr txBox="1"/>
          <p:nvPr/>
        </p:nvSpPr>
        <p:spPr>
          <a:xfrm>
            <a:off x="721493" y="431021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20" name="Google Shape;320;g355d89c95a8_0_110"/>
          <p:cNvSpPr txBox="1"/>
          <p:nvPr/>
        </p:nvSpPr>
        <p:spPr>
          <a:xfrm>
            <a:off x="721500" y="1033225"/>
            <a:ext cx="8101500" cy="3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Рекурсивная сортировка подмассивов</a:t>
            </a:r>
            <a:endParaRPr b="1"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подмассив: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quickSort(arr, 2, 1)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(пустой, завершение).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Правый подмассив: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quickSort(arr, 3, 5)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Сортировка правого подмассива</a:t>
            </a:r>
            <a:endParaRPr b="1"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Массив: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{9, 10, 8}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Опорный элемент: 8.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Состояние массива: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1, 5, 7, 9, 10, 8</a:t>
            </a:r>
            <a:r>
              <a:rPr lang="ru" sz="8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^</a:t>
            </a:r>
            <a:endParaRPr sz="8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|</a:t>
            </a:r>
            <a:endParaRPr sz="8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pivot (</a:t>
            </a:r>
            <a:r>
              <a:rPr lang="ru" sz="8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8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5d89c95a8_0_119"/>
          <p:cNvSpPr txBox="1"/>
          <p:nvPr/>
        </p:nvSpPr>
        <p:spPr>
          <a:xfrm>
            <a:off x="721493" y="431021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26" name="Google Shape;326;g355d89c95a8_0_119"/>
          <p:cNvSpPr txBox="1"/>
          <p:nvPr/>
        </p:nvSpPr>
        <p:spPr>
          <a:xfrm>
            <a:off x="721500" y="1033225"/>
            <a:ext cx="8101500" cy="3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Разбиение: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j = 3: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 &gt; 8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ничего не меняем.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j = 4: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 &gt; 8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ничего не меняем.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завершения цикла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меняем опорный элемент с элементом на позиции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 + 1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Состояние массива после разбиения: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1, 5, 7, 8, 10, 9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^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|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pivot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 опорного элемента теперь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5d89c95a8_0_125"/>
          <p:cNvSpPr txBox="1"/>
          <p:nvPr/>
        </p:nvSpPr>
        <p:spPr>
          <a:xfrm>
            <a:off x="721493" y="507221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Подробный процесс сортировки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32" name="Google Shape;332;g355d89c95a8_0_125"/>
          <p:cNvSpPr txBox="1"/>
          <p:nvPr/>
        </p:nvSpPr>
        <p:spPr>
          <a:xfrm>
            <a:off x="721500" y="1261825"/>
            <a:ext cx="81015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у нас есть два подмассива: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подмассив: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quickSort(arr, 3, 2)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(пустой, завершение).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Правый подмассив: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quickSort(arr, 4, 5)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(массив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{10, 9}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т.д.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5d89c95a8_0_131"/>
          <p:cNvSpPr txBox="1"/>
          <p:nvPr/>
        </p:nvSpPr>
        <p:spPr>
          <a:xfrm>
            <a:off x="721493" y="583421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38" name="Google Shape;338;g355d89c95a8_0_131"/>
          <p:cNvSpPr txBox="1"/>
          <p:nvPr/>
        </p:nvSpPr>
        <p:spPr>
          <a:xfrm>
            <a:off x="721500" y="1338025"/>
            <a:ext cx="7374900" cy="11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всех рекурсивных вызовов и разбиений массив будет отсортирован. Конечный отсортированный массив: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1, 5, 7, 8, 9, 10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5d89c95a8_0_137"/>
          <p:cNvSpPr txBox="1"/>
          <p:nvPr/>
        </p:nvSpPr>
        <p:spPr>
          <a:xfrm>
            <a:off x="721500" y="151350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Heapsort.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44" name="Google Shape;344;g355d89c95a8_0_137"/>
          <p:cNvSpPr txBox="1"/>
          <p:nvPr/>
        </p:nvSpPr>
        <p:spPr>
          <a:xfrm>
            <a:off x="681050" y="715825"/>
            <a:ext cx="7429800" cy="2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Сортировка кучей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алгоритм сортировки, который использует структуру данных "куча". Куча — это специальное дерево, в котором каждый родительский узел больше (или меньше) своих дочерних узлов. В случае сортировки кучей мы используем максимальную кучу, где каждый родительский узел больше своих дочерних узлов.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Алгоритм состоит из двух основных этапов: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Построение максимальной кучи из неотсортированного массива.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Извлечение элементов из кучи и перестановка их в конец массива, чтобы получить отсортированный массив.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g355d89c95a8_0_137" title="Sorting_heapsort_anim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00" y="3056850"/>
            <a:ext cx="5090350" cy="2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36958beffd5_3_1" title="Heapsort-example.gif"/>
          <p:cNvPicPr preferRelativeResize="0"/>
          <p:nvPr/>
        </p:nvPicPr>
        <p:blipFill rotWithShape="1">
          <a:blip r:embed="rId3">
            <a:alphaModFix/>
          </a:blip>
          <a:srcRect b="-2069" l="0" r="0" t="2070"/>
          <a:stretch/>
        </p:blipFill>
        <p:spPr>
          <a:xfrm>
            <a:off x="1650000" y="1002400"/>
            <a:ext cx="5074650" cy="348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6958beffd5_3_1"/>
          <p:cNvSpPr txBox="1"/>
          <p:nvPr/>
        </p:nvSpPr>
        <p:spPr>
          <a:xfrm>
            <a:off x="721500" y="151350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сортировки кучей: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5d89c95a8_0_146"/>
          <p:cNvSpPr txBox="1"/>
          <p:nvPr/>
        </p:nvSpPr>
        <p:spPr>
          <a:xfrm>
            <a:off x="721500" y="545225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Критерии</a:t>
            </a:r>
            <a:endParaRPr b="0" i="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7" name="Google Shape;357;g355d89c95a8_0_146"/>
          <p:cNvSpPr txBox="1"/>
          <p:nvPr/>
        </p:nvSpPr>
        <p:spPr>
          <a:xfrm>
            <a:off x="721500" y="1318075"/>
            <a:ext cx="7384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Временная сложность: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во всех случаях. Это связано с тем, что построение кучи занимает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а извлечение каждого элемента из кучи занимает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O(log 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Пространственная сложность: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O(1)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(сортировка выполняется на месте, не требует дополнительной памяти).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Неустойчивая (порядок равных элементов может измениться).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Простота реализации и понимания: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Сложнее в реализации, чем пузырьковая сортировка, но понятна при изучении структуры данных "куча". Понимание работы кучи может потребовать дополнительных усилий.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Эффективность на различных объемах данных: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Эффективна для больших массивов и не требует дополнительной памяти, что делает ее хорошим выбором для сортировки больших объемов данных.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5d89c95a8_0_153"/>
          <p:cNvSpPr txBox="1"/>
          <p:nvPr/>
        </p:nvSpPr>
        <p:spPr>
          <a:xfrm>
            <a:off x="721493" y="4077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 кода на си.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3" name="Google Shape;363;g355d89c95a8_0_153"/>
          <p:cNvSpPr txBox="1"/>
          <p:nvPr/>
        </p:nvSpPr>
        <p:spPr>
          <a:xfrm>
            <a:off x="449225" y="1106875"/>
            <a:ext cx="4433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arr[],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i) 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largest = i;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Инициализируем корень как наибольший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left =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i +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Левый дочерний элемент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right =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i +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Правый дочерний элемент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левый дочерний элемент больше корня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(left &lt; n &amp;&amp; arr[left] &gt; arr[largest])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largest = left;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правый дочерний элемент больше наибольшего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(right &lt; n &amp;&amp; arr[right] &gt; arr[largest])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largest = right;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наибольший не корень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(largest != i) {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temp = arr[i];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arr[i] = arr[largest];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arr[largest] = temp;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0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Рекурсивно просеиваем затронутое поддерево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0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(arr, n, largest);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/>
          </a:p>
        </p:txBody>
      </p:sp>
      <p:sp>
        <p:nvSpPr>
          <p:cNvPr id="364" name="Google Shape;364;g355d89c95a8_0_153"/>
          <p:cNvSpPr txBox="1"/>
          <p:nvPr/>
        </p:nvSpPr>
        <p:spPr>
          <a:xfrm>
            <a:off x="5042650" y="1038950"/>
            <a:ext cx="33798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heapSort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arr[],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n) 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Строим кучу (перегруппируем массив)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 = n /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&gt;=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i--)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(arr, n, i);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Извлекаем элементы из кучи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 = n -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&gt;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i--)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Перемещаем текущий корень в конец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temp = arr[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arr[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= arr[i];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arr[i] = temp;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Вызываем heapify на уменьшенной куче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1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(arr, i,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5d89c95a8_0_163"/>
          <p:cNvSpPr txBox="1"/>
          <p:nvPr/>
        </p:nvSpPr>
        <p:spPr>
          <a:xfrm>
            <a:off x="721500" y="54040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1: Построение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0" name="Google Shape;370;g355d89c95a8_0_163"/>
          <p:cNvSpPr txBox="1"/>
          <p:nvPr/>
        </p:nvSpPr>
        <p:spPr>
          <a:xfrm>
            <a:off x="721500" y="1467625"/>
            <a:ext cx="7379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Мы начинаем с построения максимальной кучи. Для этого мы вызываем функцию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каждого узла, начиная с последнего узла, который имеет дочерние узлы (индексы от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n/2 - 1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Построение кучи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(значение </a:t>
            </a: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кучи: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1" name="Google Shape;371;g355d89c95a8_0_163"/>
          <p:cNvSpPr txBox="1"/>
          <p:nvPr/>
        </p:nvSpPr>
        <p:spPr>
          <a:xfrm>
            <a:off x="721500" y="3429888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12(0)</a:t>
            </a:r>
            <a:endParaRPr sz="11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/   \</a:t>
            </a:r>
            <a:endParaRPr sz="11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11(1)    13(2)</a:t>
            </a:r>
            <a:endParaRPr sz="11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/   \     /</a:t>
            </a:r>
            <a:endParaRPr sz="11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5(3) 6(4) 7(5)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5d89c95a8_0_179"/>
          <p:cNvSpPr txBox="1"/>
          <p:nvPr/>
        </p:nvSpPr>
        <p:spPr>
          <a:xfrm>
            <a:off x="721500" y="54522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1: Построение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7" name="Google Shape;377;g355d89c95a8_0_179"/>
          <p:cNvSpPr txBox="1"/>
          <p:nvPr/>
        </p:nvSpPr>
        <p:spPr>
          <a:xfrm>
            <a:off x="721500" y="1308175"/>
            <a:ext cx="73749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дочерний элемент (индекс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и правый дочерний элемент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вне массива).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больше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поэтому ничего не меняем.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Куча остается: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{12, 11, 13, 5, 6, 7}</a:t>
            </a:r>
            <a:endParaRPr sz="900">
              <a:solidFill>
                <a:srgbClr val="E74C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 1 (значение 11)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кучи: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12(0)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/   \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11(1)    13(2)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   \      /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5(3) 6(4) 7(5)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5d89c95a8_0_191"/>
          <p:cNvSpPr txBox="1"/>
          <p:nvPr/>
        </p:nvSpPr>
        <p:spPr>
          <a:xfrm>
            <a:off x="721500" y="540400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1: Построение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3" name="Google Shape;383;g355d89c95a8_0_191"/>
          <p:cNvSpPr txBox="1"/>
          <p:nvPr/>
        </p:nvSpPr>
        <p:spPr>
          <a:xfrm>
            <a:off x="721500" y="1435875"/>
            <a:ext cx="73893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дочерний элемент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и правый дочерний элемент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больше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поэтому ничего не меняем.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Куча остается: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{12, 11, 13, 5, 6, 7}</a:t>
            </a:r>
            <a:endParaRPr sz="900">
              <a:solidFill>
                <a:srgbClr val="E74C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Индекс 0 (значение 12)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кучи: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12(0)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/   \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11(1)   13(2)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   \      /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5(3) 6(4) 7(5)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737D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5d89c95a8_0_199"/>
          <p:cNvSpPr txBox="1"/>
          <p:nvPr/>
        </p:nvSpPr>
        <p:spPr>
          <a:xfrm>
            <a:off x="721493" y="4077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1: Построение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g355d89c95a8_0_199"/>
          <p:cNvSpPr txBox="1"/>
          <p:nvPr/>
        </p:nvSpPr>
        <p:spPr>
          <a:xfrm>
            <a:off x="721500" y="1038950"/>
            <a:ext cx="8094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дочерний элемент (индекс 1, значение 11) и правый дочерний элемент (индекс 2, значение 13).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13 больше 12, поэтому мы меняем 12 и 13 местами.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кучи после изменения: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13(0)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/   \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11(1)   12(2)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   \      /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5(3) 6(4) 7(5)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вызываем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дочерний элемент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и правый дочерний элемент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вне массива).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больше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поэтому ничего не меняем.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Куча после завершения построения: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{13, 11, 12, 5, 6, 7}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5d89c95a8_0_208"/>
          <p:cNvSpPr txBox="1"/>
          <p:nvPr/>
        </p:nvSpPr>
        <p:spPr>
          <a:xfrm>
            <a:off x="721500" y="53557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2 сортировки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5" name="Google Shape;395;g355d89c95a8_0_208"/>
          <p:cNvSpPr txBox="1"/>
          <p:nvPr/>
        </p:nvSpPr>
        <p:spPr>
          <a:xfrm>
            <a:off x="721500" y="1419950"/>
            <a:ext cx="73797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Мы начинаем извлекать максимальный элемент (корень) из кучи и помещаем его в конец массива. В данном случае, извлекаем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меняем его местами с последним элементом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и затем восстанавливаем структуру кучи, вызывая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корня.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5d89c95a8_0_216"/>
          <p:cNvSpPr txBox="1"/>
          <p:nvPr/>
        </p:nvSpPr>
        <p:spPr>
          <a:xfrm>
            <a:off x="721493" y="4077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2 сортировки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1" name="Google Shape;401;g355d89c95a8_0_216"/>
          <p:cNvSpPr txBox="1"/>
          <p:nvPr/>
        </p:nvSpPr>
        <p:spPr>
          <a:xfrm>
            <a:off x="721500" y="1038950"/>
            <a:ext cx="7379700" cy="3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Первый элемент (извлечение 13):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Меняем местами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(корень) и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(последний элемент).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Массив: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{7, 11, 12, 5, 6, 13}</a:t>
            </a:r>
            <a:endParaRPr sz="800">
              <a:solidFill>
                <a:srgbClr val="E74C3C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Вызываем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корня (индекс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дочерний элемент (индекс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и правый дочерний элемент (индекс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больше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меняем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ru" sz="8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местами.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кучи: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12(0)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/     \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11(1)     7(2)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   \       /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5(3) 6(4)  13(5)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5d89c95a8_0_224"/>
          <p:cNvSpPr txBox="1"/>
          <p:nvPr/>
        </p:nvSpPr>
        <p:spPr>
          <a:xfrm>
            <a:off x="721500" y="53557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Шаг 2 сортировки кучи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7" name="Google Shape;407;g355d89c95a8_0_224"/>
          <p:cNvSpPr txBox="1"/>
          <p:nvPr/>
        </p:nvSpPr>
        <p:spPr>
          <a:xfrm>
            <a:off x="721500" y="1419950"/>
            <a:ext cx="7384500" cy="3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вызываем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heapify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(индекс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Левый дочерний элемент (индекс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значение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и правый дочерний элемент (индекс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вне массива).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меньше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меняем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местами.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кучи: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12(0)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/   \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11(1)   13(2)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/   \  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5(3) 6(4) 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т.д.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55d89c95a8_0_230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Cортировкa в ядре Linux.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3" name="Google Shape;413;g355d89c95a8_0_230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5d89c95a8_0_237"/>
          <p:cNvSpPr txBox="1"/>
          <p:nvPr/>
        </p:nvSpPr>
        <p:spPr>
          <a:xfrm>
            <a:off x="721500" y="458375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Основные компоненты функции сортировки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19" name="Google Shape;419;g355d89c95a8_0_237"/>
          <p:cNvSpPr txBox="1"/>
          <p:nvPr/>
        </p:nvSpPr>
        <p:spPr>
          <a:xfrm>
            <a:off x="721500" y="1930000"/>
            <a:ext cx="73845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Алгоритм: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Используется алгоритм heapsort, который имеет временную сложность O(n log n) как в среднем, так и в худшем случае. Это делает его подходящим для использования в ядре, где важна предсказуемость производительности.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Функции сравнения и обмена: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сортировки принимает указатели на функции сравнения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cmp_func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и обмена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swap_func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 Это позволяет пользователю определять, как сравнивать и обменивать элементы, что делает сортировку универсальной для различных типов данных.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5d89c95a8_0_247"/>
          <p:cNvSpPr txBox="1"/>
          <p:nvPr/>
        </p:nvSpPr>
        <p:spPr>
          <a:xfrm>
            <a:off x="721500" y="448725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Основные компоненты функции сортировки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25" name="Google Shape;425;g355d89c95a8_0_247"/>
          <p:cNvSpPr txBox="1"/>
          <p:nvPr/>
        </p:nvSpPr>
        <p:spPr>
          <a:xfrm>
            <a:off x="721500" y="2006200"/>
            <a:ext cx="73797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данных: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коде используется структура wrapper, которая содержит указатели на функции сравнения и обмена. Это позволяет передавать дополнительные параметры в функции.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5d89c95a8_0_252"/>
          <p:cNvSpPr txBox="1"/>
          <p:nvPr/>
        </p:nvSpPr>
        <p:spPr>
          <a:xfrm>
            <a:off x="721500" y="453550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Подготовка к вызову функции сортировки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g355d89c95a8_0_252"/>
          <p:cNvSpPr txBox="1"/>
          <p:nvPr/>
        </p:nvSpPr>
        <p:spPr>
          <a:xfrm>
            <a:off x="721500" y="1819625"/>
            <a:ext cx="73749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base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Указатель на массив данных, который нужно отсортировать.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num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Количество элементов в массиве.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size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Размер каждого элемента в байтах.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cmp_func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Указатель на функцию сравнения, которая должна возвращать отрицательное значение, если первый элемент меньше второго, ноль, если они равны, и положительное значение, если первый элемент больше второго.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swap_func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Указатель на функцию обмена, которая определяет, как обменивать элементы. Если не требуется специальный обмен, можно передать NULL.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5d89c95a8_0_264"/>
          <p:cNvSpPr txBox="1"/>
          <p:nvPr>
            <p:ph type="title"/>
          </p:nvPr>
        </p:nvSpPr>
        <p:spPr>
          <a:xfrm>
            <a:off x="521925" y="17101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Пример модуля с сортировкой.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7" name="Google Shape;437;g355d89c95a8_0_264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55d89c95a8_0_269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Точка входа в модуль.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g355d89c95a8_0_269"/>
          <p:cNvSpPr txBox="1"/>
          <p:nvPr/>
        </p:nvSpPr>
        <p:spPr>
          <a:xfrm>
            <a:off x="721500" y="801100"/>
            <a:ext cx="71628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__init </a:t>
            </a:r>
            <a:r>
              <a:rPr lang="ru" sz="10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my_module_init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"start\n"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init_arr();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"===========\n"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"Before sorting:\n"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&lt; NR_VAL; ++i)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"val = %u\n"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arr[i].val);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"===========\n"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sort((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*)arr, NR_VAL,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my_struct), fn_cmp_arr,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fn_swap_arr);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"After sorting:\n"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init_list();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pr_list();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pr_info(</a:t>
            </a:r>
            <a:r>
              <a:rPr lang="ru" sz="10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"===========\n"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55d89c95a8_0_278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структуры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g355d89c95a8_0_278"/>
          <p:cNvSpPr txBox="1"/>
          <p:nvPr/>
        </p:nvSpPr>
        <p:spPr>
          <a:xfrm>
            <a:off x="721500" y="875650"/>
            <a:ext cx="6615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u32 val;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12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NR_VAL 100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NR_VAL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(my_list)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init_arr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12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&lt; NR_VAL; ++i) {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get_random_bytes(&amp;arr[i].val,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(u32));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arr[i].val = arr[i].val % </a:t>
            </a:r>
            <a:r>
              <a:rPr lang="ru" sz="12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55d89c95a8_0_286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swap и cmp функции.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g355d89c95a8_0_286"/>
          <p:cNvSpPr txBox="1"/>
          <p:nvPr/>
        </p:nvSpPr>
        <p:spPr>
          <a:xfrm>
            <a:off x="721500" y="817050"/>
            <a:ext cx="3000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fn_swap_arr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*a,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*b,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size)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u32 tmp;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struct_a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struct_b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struct_a = 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struct_b = 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*)b;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tmp = struct_b-&gt;val;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struct_b-&gt;val = struct_a-&gt;val;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struct_a-&gt;val = tmp;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fn_cmp_arr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*a,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*b)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struct_a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struct_b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struct_a = 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struct_b = 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*)b;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struct_a-&gt;val - struct_b-&gt;val;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5d89c95a8_0_294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функция иниц. списка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g355d89c95a8_0_294"/>
          <p:cNvSpPr txBox="1"/>
          <p:nvPr/>
        </p:nvSpPr>
        <p:spPr>
          <a:xfrm>
            <a:off x="721500" y="9009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init_list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&lt; NR_VAL; ++i)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list_add_tail(&amp;arr[i].node, &amp;my_list);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55d89c95a8_0_302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Бинарный поиск.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7" name="Google Shape;467;g355d89c95a8_0_302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55d89c95a8_0_308"/>
          <p:cNvSpPr txBox="1"/>
          <p:nvPr/>
        </p:nvSpPr>
        <p:spPr>
          <a:xfrm>
            <a:off x="721500" y="295450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3" name="Google Shape;473;g355d89c95a8_0_308"/>
          <p:cNvSpPr txBox="1"/>
          <p:nvPr/>
        </p:nvSpPr>
        <p:spPr>
          <a:xfrm>
            <a:off x="681050" y="1041575"/>
            <a:ext cx="738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Бинарный поиск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эффективный алгоритм для поиска элемента в отсортированном массиве. Он работает по принципу "разделяй и властвуй", что позволяет значительно сократить количество проверок по сравнению с линейным поиском.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4" name="Google Shape;474;g355d89c95a8_0_308" title="a-visual-guide-to-binary-search-v0-7khf6vd42ojd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900" y="2057075"/>
            <a:ext cx="5954799" cy="28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5d89c95a8_0_314"/>
          <p:cNvSpPr txBox="1"/>
          <p:nvPr/>
        </p:nvSpPr>
        <p:spPr>
          <a:xfrm>
            <a:off x="721500" y="53557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бинарный поиск.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0" name="Google Shape;480;g355d89c95a8_0_314"/>
          <p:cNvSpPr txBox="1"/>
          <p:nvPr/>
        </p:nvSpPr>
        <p:spPr>
          <a:xfrm>
            <a:off x="721500" y="1505825"/>
            <a:ext cx="7374900" cy="2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Определение значения элемента в середине структуры данных. Полученное значение сравнивается с ключом.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ключ меньше значения середины, то поиск осуществляется в первой половине элементов, иначе — во второй.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Поиск сводится к тому, что вновь определяется значение серединного элемента в выбранной половине и сравнивается с ключом.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Процесс продолжается до тех пор, пока не будет найден элемент со значением ключа или не станет пустым интервал для поиска.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55d89c95a8_0_326"/>
          <p:cNvSpPr txBox="1"/>
          <p:nvPr>
            <p:ph type="title"/>
          </p:nvPr>
        </p:nvSpPr>
        <p:spPr>
          <a:xfrm>
            <a:off x="521925" y="17101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API для бинарного поиска в ядре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6" name="Google Shape;486;g355d89c95a8_0_326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5d89c95a8_0_332"/>
          <p:cNvSpPr txBox="1"/>
          <p:nvPr/>
        </p:nvSpPr>
        <p:spPr>
          <a:xfrm>
            <a:off x="721493" y="1397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Функция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bsearch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2" name="Google Shape;492;g355d89c95a8_0_332"/>
          <p:cNvSpPr txBox="1"/>
          <p:nvPr/>
        </p:nvSpPr>
        <p:spPr>
          <a:xfrm>
            <a:off x="721500" y="816425"/>
            <a:ext cx="7571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__always_inline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*__inline_bsearch(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*key,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*base,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num,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size,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cmp_func_t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cmp)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*pivot;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(num &gt;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pivot = base + (num &gt;&gt;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* size;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result = cmp(key, pivot);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(result ==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*)pivot;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(result &gt;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base = pivot + size;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num--;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num &gt;&gt;=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extern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10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bsearch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*key,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*base,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num,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size, </a:t>
            </a:r>
            <a:r>
              <a:rPr lang="ru" sz="10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cmp_func_t</a:t>
            </a:r>
            <a:r>
              <a:rPr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cmp)</a:t>
            </a:r>
            <a:r>
              <a:rPr lang="ru" sz="10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55d89c95a8_0_340"/>
          <p:cNvSpPr txBox="1"/>
          <p:nvPr/>
        </p:nvSpPr>
        <p:spPr>
          <a:xfrm>
            <a:off x="721500" y="53557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Параметры функции: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8" name="Google Shape;498;g355d89c95a8_0_340"/>
          <p:cNvSpPr txBox="1"/>
          <p:nvPr/>
        </p:nvSpPr>
        <p:spPr>
          <a:xfrm>
            <a:off x="721500" y="1502850"/>
            <a:ext cx="75714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key: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Это элемент, который мы ищем.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base: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Указатель на начало массива, в котором мы ищем.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num: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Количество элементов в массиве.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size: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Размер каждого элемента в массиве (например, 4 байта для int).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cmp: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Функция сравнения, которая определяет порядок элементов.</a:t>
            </a:r>
            <a:endParaRPr sz="900">
              <a:solidFill>
                <a:srgbClr val="D73A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55d89c95a8_0_347"/>
          <p:cNvSpPr txBox="1"/>
          <p:nvPr/>
        </p:nvSpPr>
        <p:spPr>
          <a:xfrm>
            <a:off x="721500" y="535575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Объяснение кода: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4" name="Google Shape;504;g355d89c95a8_0_347"/>
          <p:cNvSpPr txBox="1"/>
          <p:nvPr/>
        </p:nvSpPr>
        <p:spPr>
          <a:xfrm>
            <a:off x="721500" y="1399075"/>
            <a:ext cx="7925100" cy="29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Объявление переменных: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*pivot;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pivot: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Указатель на элемент, который мы рассматриваем в текущий момент.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Переменная для хранения результата сравнения.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Цикл поиска: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(num &gt;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Этот цикл продолжается, пока есть элементы для поиска.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55d89c95a8_0_356"/>
          <p:cNvSpPr txBox="1"/>
          <p:nvPr/>
        </p:nvSpPr>
        <p:spPr>
          <a:xfrm>
            <a:off x="721500" y="540400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Объяснение кода: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0" name="Google Shape;510;g355d89c95a8_0_356"/>
          <p:cNvSpPr txBox="1"/>
          <p:nvPr/>
        </p:nvSpPr>
        <p:spPr>
          <a:xfrm>
            <a:off x="721500" y="1480200"/>
            <a:ext cx="80868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Определение среднего элемента: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pivot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 base + (num &gt;&gt;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* size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 &gt;&gt; 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деление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(сдвиг вправо на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бит).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base + (num &gt;&gt; 1) * size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вычисляет адрес среднего элемента в массиве.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Сравнение: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result = cmp(key, pivot);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Здесь мы вызываем функцию сравнения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cmp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чтобы сравнить искомый элемент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 элементом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pivot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55d89c95a8_0_364"/>
          <p:cNvSpPr txBox="1"/>
          <p:nvPr/>
        </p:nvSpPr>
        <p:spPr>
          <a:xfrm>
            <a:off x="721500" y="388000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Объяснение кода: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6" name="Google Shape;516;g355d89c95a8_0_364"/>
          <p:cNvSpPr txBox="1"/>
          <p:nvPr/>
        </p:nvSpPr>
        <p:spPr>
          <a:xfrm>
            <a:off x="721500" y="1171400"/>
            <a:ext cx="73749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Проверка результата сравнения: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(result ==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*)pivot;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равен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это значит, что мы нашли искомый элемент, и возвращаем указатель на него.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Обновление границ поиска: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(result &gt;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base = pivot + size;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num--;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num &gt;&gt;=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больше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это значит, что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больше, чем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pivot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и мы продолжаем поиск в правой половине массива. Мы обновляем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base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 следующий элемент после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pivot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 уменьшаем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В любом случае, мы делим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чтобы продолжить поиск в оставшейся половине.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55d89c95a8_0_372"/>
          <p:cNvSpPr txBox="1"/>
          <p:nvPr>
            <p:ph type="title"/>
          </p:nvPr>
        </p:nvSpPr>
        <p:spPr>
          <a:xfrm>
            <a:off x="521925" y="847074"/>
            <a:ext cx="8520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Пример модуля с использованием бинарного поиска.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2" name="Google Shape;522;g355d89c95a8_0_372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5d89c95a8_0_378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массива.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8" name="Google Shape;528;g355d89c95a8_0_378"/>
          <p:cNvSpPr txBox="1"/>
          <p:nvPr/>
        </p:nvSpPr>
        <p:spPr>
          <a:xfrm>
            <a:off x="721500" y="824125"/>
            <a:ext cx="3000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u32 val;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NR_VAL 1000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NR_VAL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(my_list)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init_arr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11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i &lt; NR_VAL; ++i) 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get_random_bytes(&amp;arr[i].val,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(u32));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arr[i].val = arr[i].val % NR_VAL;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5d89c95a8_0_386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Функция cmp и swap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4" name="Google Shape;534;g355d89c95a8_0_386"/>
          <p:cNvSpPr txBox="1"/>
          <p:nvPr/>
        </p:nvSpPr>
        <p:spPr>
          <a:xfrm>
            <a:off x="721500" y="875650"/>
            <a:ext cx="6274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fn_swap_arr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*a,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*b,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size)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u32 tmp;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struct_a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struct_b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struct_a =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*)a;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struct_b =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*)b;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tmp = struct_b-&gt;val;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struct_b-&gt;val = struct_a-&gt;val;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struct_a-&gt;val = tmp;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fn_cmp_arr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*a,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*b)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struct_a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ru" sz="11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struct_b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struct_a =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*)a;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struct_b =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 *)b;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1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)(struct_a-&gt;val - struct_b-&gt;val);</a:t>
            </a:r>
            <a:endParaRPr sz="11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55d89c95a8_0_394"/>
          <p:cNvSpPr txBox="1"/>
          <p:nvPr/>
        </p:nvSpPr>
        <p:spPr>
          <a:xfrm>
            <a:off x="721493" y="102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Функция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поиска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40" name="Google Shape;540;g355d89c95a8_0_394"/>
          <p:cNvSpPr txBox="1"/>
          <p:nvPr/>
        </p:nvSpPr>
        <p:spPr>
          <a:xfrm>
            <a:off x="721500" y="934525"/>
            <a:ext cx="6615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srh_in_arr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my_struct *target)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my_struct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result = </a:t>
            </a:r>
            <a:r>
              <a:rPr lang="ru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result = bsearch(target, arr, NR_VAL, 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my_struct),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fn_cmp_arr);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(!result)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pr_info(</a:t>
            </a:r>
            <a:r>
              <a:rPr lang="ru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"result is NULL\n"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result != </a:t>
            </a:r>
            <a:r>
              <a:rPr lang="ru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5d89c95a8_0_402"/>
          <p:cNvSpPr txBox="1"/>
          <p:nvPr>
            <p:ph type="title"/>
          </p:nvPr>
        </p:nvSpPr>
        <p:spPr>
          <a:xfrm>
            <a:off x="521925" y="12280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Применение бинарного поиска в ядре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6" name="Google Shape;546;g355d89c95a8_0_402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958beffd5_9_2"/>
          <p:cNvSpPr txBox="1"/>
          <p:nvPr/>
        </p:nvSpPr>
        <p:spPr>
          <a:xfrm>
            <a:off x="721493" y="102946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Функция поиска EXPORT_SYMBOL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2" name="Google Shape;552;g36958beffd5_9_2"/>
          <p:cNvSpPr txBox="1"/>
          <p:nvPr/>
        </p:nvSpPr>
        <p:spPr>
          <a:xfrm>
            <a:off x="696900" y="1439963"/>
            <a:ext cx="77502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Функция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lookup_exported_symbol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предназначена для поиска экспортированного символа (например, имени функции или переменной) в определённом диапазоне массива структур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kernel_symbol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Этот массив содержит все символы, которые ядро Linux экспортирует для использования модулями ядра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73A4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3" name="Google Shape;553;g36958beffd5_9_2"/>
          <p:cNvSpPr txBox="1"/>
          <p:nvPr/>
        </p:nvSpPr>
        <p:spPr>
          <a:xfrm>
            <a:off x="721500" y="2296225"/>
            <a:ext cx="7491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 Lookup exported symbol in given range of kernel_symbols */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kernel_symbol *</a:t>
            </a:r>
            <a:r>
              <a:rPr lang="ru" sz="12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lookup_exported_symbol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*name,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kernel_symbol *start,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kernel_symbol *stop)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bsearch(name, start, stop - start,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kernel_symbol), cmp_name);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5d89c95a8_0_408"/>
          <p:cNvSpPr txBox="1"/>
          <p:nvPr>
            <p:ph type="title"/>
          </p:nvPr>
        </p:nvSpPr>
        <p:spPr>
          <a:xfrm>
            <a:off x="521925" y="15328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Хэширование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9" name="Google Shape;559;g355d89c95a8_0_408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55d89c95a8_0_414"/>
          <p:cNvSpPr txBox="1"/>
          <p:nvPr/>
        </p:nvSpPr>
        <p:spPr>
          <a:xfrm>
            <a:off x="721493" y="483946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хэширование и его основные принципы.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g355d89c95a8_0_414"/>
          <p:cNvSpPr txBox="1"/>
          <p:nvPr/>
        </p:nvSpPr>
        <p:spPr>
          <a:xfrm>
            <a:off x="721500" y="1810575"/>
            <a:ext cx="73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Хэширование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процесс преобразования данных в фиксированный размер, называемый хэш-значением, с помощью хэш-функции. В ядре Linux хэш-таблицы используются для быстрого поиска и хранения данных, обеспечивая эффективный доступ к элементам по ключу.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g355d89c95a8_0_414"/>
          <p:cNvSpPr txBox="1"/>
          <p:nvPr/>
        </p:nvSpPr>
        <p:spPr>
          <a:xfrm>
            <a:off x="721500" y="2878075"/>
            <a:ext cx="7384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Хэш-функция: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Это функция, которая принимает входные данные (ключ) и возвращает фиксированное значение (хэш). Хорошая хэш-функция должна минимизировать количество коллизий, то есть случаев, когда разные ключи приводят к одному и тому же хэш-значению.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Коллизии: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Это ситуации, когда два разных ключа имеют одинаковый хэш. Коллизии могут негативно влиять на производительность хэш-таблицы, так как они требуют дополнительных шагов для разрешения конфликта.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55d89c95a8_0_426"/>
          <p:cNvSpPr txBox="1"/>
          <p:nvPr/>
        </p:nvSpPr>
        <p:spPr>
          <a:xfrm>
            <a:off x="681050" y="523625"/>
            <a:ext cx="7420200" cy="3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хэш-таблицы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Хэш-таблица состоит из массива, где каждый элемент может содержать одну или несколько записей. Индекс в массиве вычисляется с помощью хэш-функции, применяемой к ключу.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 возникновении коллизии данные могут быть организованы в виде связного списка или другого подхода, чтобы сохранить все записи с одинаковым хэш-значением.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Эффективность хэширования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идеальных условиях доступ к элементам хэш-таблицы осуществляется с эффективностью O(1), что означает, что время доступа не зависит от количества элементов в таблице.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Однако, если хэш-функция неэффективна и приводит к большому количеству коллизий, эффективность может ухудшиться до O(N), где N — количество элементов в таблице.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g355d89c95a8_0_426"/>
          <p:cNvSpPr txBox="1"/>
          <p:nvPr/>
        </p:nvSpPr>
        <p:spPr>
          <a:xfrm>
            <a:off x="721500" y="2420875"/>
            <a:ext cx="827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6958beffd5_3_144"/>
          <p:cNvSpPr txBox="1"/>
          <p:nvPr/>
        </p:nvSpPr>
        <p:spPr>
          <a:xfrm>
            <a:off x="721493" y="269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key?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g36958beffd5_3_144"/>
          <p:cNvSpPr txBox="1"/>
          <p:nvPr/>
        </p:nvSpPr>
        <p:spPr>
          <a:xfrm>
            <a:off x="721500" y="991475"/>
            <a:ext cx="7384500" cy="25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это числовое значение, по которому вы хотите индексировать и хранить элементы в хэш-таблице.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Обычно это уникальный идентификатор, по которому вы планируете искать элемент.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Например, это может быть: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Идентификатор процесса (PID).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Адрес памяти.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Хэш от строки (например, имя пользователя).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Любой другой уникальный или почти уникальный числовой ключ.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958beffd5_3_152"/>
          <p:cNvSpPr txBox="1"/>
          <p:nvPr/>
        </p:nvSpPr>
        <p:spPr>
          <a:xfrm>
            <a:off x="721493" y="269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Зачем нужен key?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g36958beffd5_3_152"/>
          <p:cNvSpPr txBox="1"/>
          <p:nvPr/>
        </p:nvSpPr>
        <p:spPr>
          <a:xfrm>
            <a:off x="721500" y="991475"/>
            <a:ext cx="7384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Хэш-таблица — это структура данных, которая позволяет быстро находить элементы по ключу.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определить, в какую корзину положить элемент, нужно вычислить индекс корзины.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этого берётся хэш-значение ключа и усечённое по количеству корзин (мощности таблицы).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исходное значение, из которого вычисляется этот индекс.</a:t>
            </a:r>
            <a:endParaRPr sz="10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85" name="Google Shape;585;g36958beffd5_3_152" title="450px-hash_table_5_0_1_1_1_1_1_ll-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675" y="2326075"/>
            <a:ext cx="4238400" cy="253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6958beffd5_3_159"/>
          <p:cNvSpPr txBox="1"/>
          <p:nvPr/>
        </p:nvSpPr>
        <p:spPr>
          <a:xfrm>
            <a:off x="721493" y="269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g36958beffd5_3_159"/>
          <p:cNvSpPr txBox="1"/>
          <p:nvPr/>
        </p:nvSpPr>
        <p:spPr>
          <a:xfrm>
            <a:off x="721500" y="991475"/>
            <a:ext cx="7384500" cy="4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Хэш-таблица (массив из 5 корзин):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Index: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sz="900">
              <a:solidFill>
                <a:srgbClr val="032F62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v       v       v       v       v</a:t>
            </a:r>
            <a:endParaRPr sz="900">
              <a:solidFill>
                <a:srgbClr val="032F62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[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D:40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 [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B:20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[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E:50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sz="900">
              <a:solidFill>
                <a:srgbClr val="032F62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v                       v</a:t>
            </a:r>
            <a:endParaRPr sz="900">
              <a:solidFill>
                <a:srgbClr val="032F62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[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A:10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                 [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C:30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Объяснение вставки: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Новый элемент всегда добавляется в начало списка корзины.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Например, при вставке "D:40" в корзину 1, он становится первым элементом, а предыдущий первый элемент "A:10" смещается дальше.</a:t>
            </a:r>
            <a:endParaRPr sz="10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958beffd5_3_166"/>
          <p:cNvSpPr txBox="1"/>
          <p:nvPr/>
        </p:nvSpPr>
        <p:spPr>
          <a:xfrm>
            <a:off x="721493" y="269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Поиск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g36958beffd5_3_166"/>
          <p:cNvSpPr txBox="1"/>
          <p:nvPr/>
        </p:nvSpPr>
        <p:spPr>
          <a:xfrm>
            <a:off x="721500" y="991475"/>
            <a:ext cx="73845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1)Вычисляем индекс корзины по ключу.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2)Перебираем элементы в списке корзины.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3)Сравниваем ключи, пока не найдём нужный или не дойдём до конца.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55d89c95a8_0_433"/>
          <p:cNvSpPr txBox="1"/>
          <p:nvPr/>
        </p:nvSpPr>
        <p:spPr>
          <a:xfrm>
            <a:off x="721493" y="560146"/>
            <a:ext cx="770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Примеры хэш-функций и их свойства.</a:t>
            </a:r>
            <a:endParaRPr b="1" sz="3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g355d89c95a8_0_433"/>
          <p:cNvSpPr txBox="1"/>
          <p:nvPr/>
        </p:nvSpPr>
        <p:spPr>
          <a:xfrm>
            <a:off x="721500" y="1442700"/>
            <a:ext cx="73797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MD5 (Message-Digest Algorithm 5)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Широко используемая хэш-функция, которая генерирует 128-битный (16 байт) хэш.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Свойства: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Быстрая вычисляемость.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Уязвима к коллизиям (существуют известные методы для нахождения коллизий).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рекомендуется для криптографических приложений.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55d89c95a8_0_441"/>
          <p:cNvSpPr txBox="1"/>
          <p:nvPr/>
        </p:nvSpPr>
        <p:spPr>
          <a:xfrm>
            <a:off x="721500" y="1437875"/>
            <a:ext cx="73845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SHA-1 (Secure Hash Algorithm 1)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Хэш-функция, создающая 160-битный (20 байт) хэш.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Свойства: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Более безопасна, чем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MD5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но также уязвима к коллизиям.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Использовалась в различных протоколах безопасности, но сейчас считается устаревшей.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g355d89c95a8_0_441"/>
          <p:cNvSpPr txBox="1"/>
          <p:nvPr/>
        </p:nvSpPr>
        <p:spPr>
          <a:xfrm>
            <a:off x="721493" y="560146"/>
            <a:ext cx="770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Примеры хэш-функций и их свойства.</a:t>
            </a:r>
            <a:endParaRPr b="1" sz="3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5d89c95a8_0_447"/>
          <p:cNvSpPr txBox="1"/>
          <p:nvPr/>
        </p:nvSpPr>
        <p:spPr>
          <a:xfrm>
            <a:off x="721500" y="1442700"/>
            <a:ext cx="73845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SHA-256 (Secure Hash Algorithm 256)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Описание: Часть семейства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SHA-2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генерирует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256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-битный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байта) хэш.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Свойства: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Высокий уровень безопасности.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 к коллизиям и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преобразованию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Широко используется в криптографии и блокчейне (например, в Bitcoin).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g355d89c95a8_0_447"/>
          <p:cNvSpPr txBox="1"/>
          <p:nvPr/>
        </p:nvSpPr>
        <p:spPr>
          <a:xfrm>
            <a:off x="721493" y="560146"/>
            <a:ext cx="770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Примеры хэш-функций и их свойства.</a:t>
            </a:r>
            <a:endParaRPr b="1" sz="3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55d89c95a8_0_453"/>
          <p:cNvSpPr txBox="1"/>
          <p:nvPr/>
        </p:nvSpPr>
        <p:spPr>
          <a:xfrm>
            <a:off x="721500" y="1437875"/>
            <a:ext cx="73797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SHA-3 (Secure Hash Algorithm 3)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Последовательность хэш-функций, основанная на конструкции Keccak, поддерживает различные длины хэша (224, 256, 384, 512 бит).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Свойства: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Высокая степень безопасности.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 к коллизиям и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преобразованию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Разработана как альтернатива SHA-2.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g355d89c95a8_0_453"/>
          <p:cNvSpPr txBox="1"/>
          <p:nvPr/>
        </p:nvSpPr>
        <p:spPr>
          <a:xfrm>
            <a:off x="721500" y="535575"/>
            <a:ext cx="770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Примеры хэш-функций и их свойства.</a:t>
            </a:r>
            <a:endParaRPr b="1" sz="3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55d89c95a8_0_459"/>
          <p:cNvSpPr txBox="1"/>
          <p:nvPr/>
        </p:nvSpPr>
        <p:spPr>
          <a:xfrm>
            <a:off x="721500" y="1437875"/>
            <a:ext cx="73797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CityHash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Хэш-функция, разработанная Google, оптимизированная для быстрого вычисления хэшей строк.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Свойства: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Высокая скорость вычисления.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Хорошая распределенность хэшей.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предназначена для криптографических целей.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g355d89c95a8_0_459"/>
          <p:cNvSpPr txBox="1"/>
          <p:nvPr/>
        </p:nvSpPr>
        <p:spPr>
          <a:xfrm>
            <a:off x="721493" y="560146"/>
            <a:ext cx="770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Примеры хэш-функций и их свойства.</a:t>
            </a:r>
            <a:endParaRPr b="1" sz="3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55d89c95a8_0_465"/>
          <p:cNvSpPr txBox="1"/>
          <p:nvPr/>
        </p:nvSpPr>
        <p:spPr>
          <a:xfrm>
            <a:off x="721500" y="540400"/>
            <a:ext cx="770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Основные свойства хэш-функций</a:t>
            </a: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g355d89c95a8_0_465"/>
          <p:cNvSpPr txBox="1"/>
          <p:nvPr/>
        </p:nvSpPr>
        <p:spPr>
          <a:xfrm>
            <a:off x="721500" y="1375925"/>
            <a:ext cx="7374900" cy="3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Детерминированность: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Для одного и того же входного значения хэш-функция всегда должна возвращать одно и то же хэш-значение.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Быстрота вычисления: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Хэш-функция должна быть быстрой в вычислении, чтобы обеспечить эффективный доступ к данным.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 к коллизиям: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Должна быть сложной задачей найти два различных входных значения, которые дают одинаковый хэш.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 к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преобразованию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Должно быть сложно восстановить исходные данные по хэш-значению.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Устойчивость к вторичному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преобразованию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Должно быть сложно найти входное значение, которое соответствует заданному хэш-значению.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Распределенность: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Хэш-значения должны быть равномерно распределены по всему пространству возможных значений, чтобы минимизировать количество коллизий.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6958beffd5_3_29"/>
          <p:cNvSpPr txBox="1"/>
          <p:nvPr>
            <p:ph type="title"/>
          </p:nvPr>
        </p:nvSpPr>
        <p:spPr>
          <a:xfrm>
            <a:off x="521925" y="1228075"/>
            <a:ext cx="7063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hash table в ядре Linux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9" name="Google Shape;639;g36958beffd5_3_29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55d89c95a8_0_472"/>
          <p:cNvSpPr txBox="1"/>
          <p:nvPr/>
        </p:nvSpPr>
        <p:spPr>
          <a:xfrm>
            <a:off x="721493" y="483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Хэш таблицы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g355d89c95a8_0_472"/>
          <p:cNvSpPr txBox="1"/>
          <p:nvPr/>
        </p:nvSpPr>
        <p:spPr>
          <a:xfrm>
            <a:off x="721500" y="1270875"/>
            <a:ext cx="77010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ядре Linux для реализации хэш-таблиц часто используется структура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вместе с заголовком списка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Каждый "корзина" (bucket) хэш-таблицы — это заголовок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указывающий на цепочку элементов, связанных через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Такая структура позволяет эффективно хранить коллизии, когда несколько ключей попадают в одну корзину.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6" name="Google Shape;646;g355d89c95a8_0_472"/>
          <p:cNvSpPr txBox="1"/>
          <p:nvPr/>
        </p:nvSpPr>
        <p:spPr>
          <a:xfrm>
            <a:off x="721500" y="2506500"/>
            <a:ext cx="7403400" cy="178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32F62">
                <a:alpha val="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3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*next;</a:t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3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**pprev;</a:t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hlist_head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3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*first;</a:t>
            </a:r>
            <a:endParaRPr sz="13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g36958beffd5_9_23" title="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975" y="246850"/>
            <a:ext cx="5304043" cy="46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6958beffd5_3_4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структур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g36958beffd5_3_43"/>
          <p:cNvSpPr txBox="1"/>
          <p:nvPr/>
        </p:nvSpPr>
        <p:spPr>
          <a:xfrm>
            <a:off x="721500" y="905963"/>
            <a:ext cx="77010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элемент списка с указателем на следующий элемент и указателем на указатель предыдущего (для быстрой вставки/удаления).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голова списка, указывающая на первый элемент.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g36958beffd5_3_43"/>
          <p:cNvSpPr txBox="1"/>
          <p:nvPr/>
        </p:nvSpPr>
        <p:spPr>
          <a:xfrm>
            <a:off x="421050" y="1911300"/>
            <a:ext cx="8301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hlist_head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+-----------+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| first →  +---------+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+-----------+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    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+--------------+       +--------------+         +---------------+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| hlist_node |0      | hlist_node |1        | hlist_node |2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|  next →    +----&gt; |  next →    +-----&gt; |   next         |   </a:t>
            </a:r>
            <a:r>
              <a:rPr lang="ru">
                <a:solidFill>
                  <a:schemeClr val="dk1"/>
                </a:solidFill>
              </a:rPr>
              <a:t>------</a:t>
            </a:r>
            <a:r>
              <a:rPr lang="ru"/>
              <a:t>--&gt;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|  pprev –    +       |  pprev –    +         |  pprev  –   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+--------------+       +--------------+         +--------------+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     ^                   	    ^            	        	              ^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         	  |                  	    |   	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pprev=&amp;hlist_head.first    pprev=&amp;node0.next          pprev=&amp;node1.next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g36958beffd5_9_18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581075"/>
            <a:ext cx="8419574" cy="38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6958beffd5_3_5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Зачем поле pprev на практике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g36958beffd5_3_53"/>
          <p:cNvSpPr txBox="1"/>
          <p:nvPr/>
        </p:nvSpPr>
        <p:spPr>
          <a:xfrm>
            <a:off x="681050" y="2719225"/>
            <a:ext cx="7248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Здесь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*node2.pprev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это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node1.next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и мы переписываем его, чтобы пропустить удаляемый узел.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Благодаря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pprev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не нужно искать предыдущий элемент, чтобы изменить его указатель.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g36958beffd5_3_53"/>
          <p:cNvSpPr txBox="1"/>
          <p:nvPr/>
        </p:nvSpPr>
        <p:spPr>
          <a:xfrm>
            <a:off x="721500" y="1077275"/>
            <a:ext cx="7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нужно удалить, например,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node2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то можно сделать: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1" name="Google Shape;671;g36958beffd5_3_53"/>
          <p:cNvSpPr txBox="1"/>
          <p:nvPr/>
        </p:nvSpPr>
        <p:spPr>
          <a:xfrm>
            <a:off x="681050" y="1446563"/>
            <a:ext cx="7701000" cy="94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*node2.pprev = node2.next;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(node2.next)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   node2.next-&gt;pprev = node2.pprev;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6958beffd5_3_6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77" name="Google Shape;677;g36958beffd5_3_63"/>
          <p:cNvGraphicFramePr/>
          <p:nvPr/>
        </p:nvGraphicFramePr>
        <p:xfrm>
          <a:off x="721488" y="122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{9F61B8FA-940C-4894-92BC-44CDEBE0A472}</a:tableStyleId>
              </a:tblPr>
              <a:tblGrid>
                <a:gridCol w="1794825"/>
                <a:gridCol w="2794550"/>
                <a:gridCol w="22986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Способ инициализации</a:t>
                      </a:r>
                      <a:endParaRPr b="1"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Определение функции / макроса</a:t>
                      </a:r>
                      <a:endParaRPr b="1"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Пример кода</a:t>
                      </a:r>
                      <a:endParaRPr b="1"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Статическая инициализация</a:t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DEFINE_HASHTABLE(name, bits)</a:t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DEFINE_HASHTABLE(my_hash_table, 8);</a:t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Явная инициализация корзин</a:t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hash_init(hashtable) (внутри вызывает __hash_init)</a:t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404040"/>
                          </a:solidFill>
                          <a:highlight>
                            <a:srgbClr val="FCFCFC"/>
                          </a:highlight>
                        </a:rPr>
                        <a:t>hash_init(my_hash_table);</a:t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rgbClr val="404040"/>
                        </a:solidFill>
                        <a:highlight>
                          <a:srgbClr val="FCFCFC"/>
                        </a:highlight>
                      </a:endParaRPr>
                    </a:p>
                  </a:txBody>
                  <a:tcPr marT="76200" marB="76200" marR="152400" marL="152400" anchor="ctr">
                    <a:lnL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E1E4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6958beffd5_3_72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DEFINE_HASHTABLE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g36958beffd5_3_72"/>
          <p:cNvSpPr txBox="1"/>
          <p:nvPr/>
        </p:nvSpPr>
        <p:spPr>
          <a:xfrm>
            <a:off x="721500" y="849475"/>
            <a:ext cx="7602600" cy="267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HLIST_HEAD_INIT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{ .</a:t>
            </a:r>
            <a:r>
              <a:rPr b="1" lang="ru" sz="12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first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= NULL }</a:t>
            </a:r>
            <a:endParaRPr sz="1200">
              <a:solidFill>
                <a:schemeClr val="dk1"/>
              </a:solidFill>
              <a:highlight>
                <a:srgbClr val="F8EDC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EDC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HLIST_HEAD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(name) struct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hlist_head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name = {  .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first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NULL }</a:t>
            </a:r>
            <a:endParaRPr sz="12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2"/>
              </a:rPr>
              <a:t>DEFINE_HASHTABLE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(name,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4"/>
              </a:rPr>
              <a:t>bits</a:t>
            </a:r>
            <a:r>
              <a:rPr lang="ru" sz="1200">
                <a:solidFill>
                  <a:srgbClr val="5577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)						\</a:t>
            </a:r>
            <a:endParaRPr sz="1200">
              <a:solidFill>
                <a:schemeClr val="dk1"/>
              </a:solidFill>
              <a:highlight>
                <a:srgbClr val="F8EDC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EDC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struct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6"/>
              </a:rPr>
              <a:t>hlist_head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name[1 &lt;&lt; (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7"/>
              </a:rPr>
              <a:t>bits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 =					\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{ [0 ... ((1 &lt;&lt; (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8"/>
              </a:rPr>
              <a:t>bits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- 1)] =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0"/>
              </a:rPr>
              <a:t>HLIST_HEAD_INIT</a:t>
            </a:r>
            <a:r>
              <a:rPr lang="ru" sz="12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2"/>
              </a:rPr>
              <a:t>DECLARE_HASHTABLE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4"/>
              </a:rPr>
              <a:t>bits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                                 	\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struct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6"/>
              </a:rPr>
              <a:t>hlist_head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name[1 &lt;&lt; 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7"/>
              </a:rPr>
              <a:t>bits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sz="12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4" name="Google Shape;684;g36958beffd5_3_72"/>
          <p:cNvSpPr txBox="1"/>
          <p:nvPr/>
        </p:nvSpPr>
        <p:spPr>
          <a:xfrm>
            <a:off x="681050" y="3468050"/>
            <a:ext cx="7543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акрос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DEFINE_HASHTABLE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ядре Linux используется для создания и статической инициализации хэш-таблицы. Она определяет массив корзин (каждая корзина — это структура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размер которого равен степени двойки, заданной параметром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bits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Каждая корзина инициализируется значением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HLIST_HEAD_INIT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то есть пустым списком.</a:t>
            </a:r>
            <a:endParaRPr sz="16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g36958beffd5_9_2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5814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6958beffd5_3_85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36958beffd5_3_85"/>
          <p:cNvSpPr txBox="1"/>
          <p:nvPr/>
        </p:nvSpPr>
        <p:spPr>
          <a:xfrm>
            <a:off x="721500" y="982300"/>
            <a:ext cx="7619100" cy="34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DEFINE_HASHTABLE(my_hash_table, </a:t>
            </a:r>
            <a:r>
              <a:rPr lang="ru" sz="105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05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6" name="Google Shape;696;g36958beffd5_3_85"/>
          <p:cNvSpPr txBox="1"/>
          <p:nvPr/>
        </p:nvSpPr>
        <p:spPr>
          <a:xfrm>
            <a:off x="721500" y="2880850"/>
            <a:ext cx="754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6958beffd5_3_85"/>
          <p:cNvSpPr txBox="1"/>
          <p:nvPr/>
        </p:nvSpPr>
        <p:spPr>
          <a:xfrm>
            <a:off x="721500" y="1933575"/>
            <a:ext cx="7619100" cy="166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969896"/>
                </a:solidFill>
                <a:latin typeface="Roboto Mono"/>
                <a:ea typeface="Roboto Mono"/>
                <a:cs typeface="Roboto Mono"/>
                <a:sym typeface="Roboto Mono"/>
              </a:rPr>
              <a:t>/* Подстановка bits = 8 */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81A2BE"/>
                </a:solidFill>
                <a:latin typeface="Roboto Mono"/>
                <a:ea typeface="Roboto Mono"/>
                <a:cs typeface="Roboto Mono"/>
                <a:sym typeface="Roboto Mono"/>
              </a:rPr>
              <a:t>hlist_head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my_hash_table[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&lt;&lt; 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] = 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   { [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... ((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&lt;&lt; 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) - 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)] = HLIST_HEAD_INIT };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969896"/>
                </a:solidFill>
                <a:latin typeface="Roboto Mono"/>
                <a:ea typeface="Roboto Mono"/>
                <a:cs typeface="Roboto Mono"/>
                <a:sym typeface="Roboto Mono"/>
              </a:rPr>
              <a:t>/* Эквивалентно */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81A2BE"/>
                </a:solidFill>
                <a:latin typeface="Roboto Mono"/>
                <a:ea typeface="Roboto Mono"/>
                <a:cs typeface="Roboto Mono"/>
                <a:sym typeface="Roboto Mono"/>
              </a:rPr>
              <a:t>hlist_head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my_hash_table[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] = 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   { [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... 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255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] = HLIST_HEAD_INIT };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98" name="Google Shape;698;g36958beffd5_3_85"/>
          <p:cNvSpPr txBox="1"/>
          <p:nvPr/>
        </p:nvSpPr>
        <p:spPr>
          <a:xfrm>
            <a:off x="721500" y="3748775"/>
            <a:ext cx="683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есть создаётся массив из 256 элементов типа </a:t>
            </a:r>
            <a:r>
              <a:rPr lang="ru" sz="9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struct 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каждый из которых инициализирован макросом </a:t>
            </a:r>
            <a:r>
              <a:rPr lang="ru" sz="9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HLIST_HEAD_INIT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пустым списком.</a:t>
            </a:r>
            <a:endParaRPr/>
          </a:p>
        </p:txBody>
      </p:sp>
      <p:sp>
        <p:nvSpPr>
          <p:cNvPr id="699" name="Google Shape;699;g36958beffd5_3_85"/>
          <p:cNvSpPr txBox="1"/>
          <p:nvPr/>
        </p:nvSpPr>
        <p:spPr>
          <a:xfrm>
            <a:off x="724650" y="1446400"/>
            <a:ext cx="758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Подставим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bits = 8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прямо в макрос: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6958beffd5_3_98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hash_init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g36958beffd5_3_98"/>
          <p:cNvSpPr txBox="1"/>
          <p:nvPr/>
        </p:nvSpPr>
        <p:spPr>
          <a:xfrm>
            <a:off x="721500" y="982300"/>
            <a:ext cx="7619100" cy="223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HASH_SIZE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(name) (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ARRAY_SIZE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(name))</a:t>
            </a:r>
            <a:endParaRPr sz="1000">
              <a:solidFill>
                <a:srgbClr val="0088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88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3333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__hash_init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hlist_head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ht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3333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3333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2"/>
              </a:rPr>
              <a:t>sz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000">
                <a:solidFill>
                  <a:srgbClr val="3333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3333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00D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4"/>
              </a:rPr>
              <a:t>sz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5"/>
              </a:rPr>
              <a:t>INIT_HLIST_HEAD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6"/>
              </a:rPr>
              <a:t>ht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66666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8"/>
              </a:rPr>
              <a:t>hash_init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9"/>
              </a:rPr>
              <a:t>hashtable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1"/>
              </a:rPr>
              <a:t>__hash_init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2"/>
              </a:rPr>
              <a:t>hashtable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4"/>
              </a:rPr>
              <a:t>HASH_SIZE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5"/>
              </a:rPr>
              <a:t>hashtable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6" name="Google Shape;706;g36958beffd5_3_98"/>
          <p:cNvSpPr txBox="1"/>
          <p:nvPr/>
        </p:nvSpPr>
        <p:spPr>
          <a:xfrm>
            <a:off x="800250" y="3349075"/>
            <a:ext cx="754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hash_init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это макрос, который инициализирует хэш-таблицу, представленную как массив корзин типа </a:t>
            </a:r>
            <a:r>
              <a:rPr lang="ru" sz="9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struct 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Он вызывает внутреннюю функцию </a:t>
            </a:r>
            <a:r>
              <a:rPr lang="ru" sz="9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__hash_init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передавая ей указатель на массив корзин и его размер.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6958beffd5_3_11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Когда нужен hash_init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g36958beffd5_3_113"/>
          <p:cNvSpPr txBox="1"/>
          <p:nvPr/>
        </p:nvSpPr>
        <p:spPr>
          <a:xfrm>
            <a:off x="721500" y="982300"/>
            <a:ext cx="761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3" name="Google Shape;713;g36958beffd5_3_113"/>
          <p:cNvSpPr txBox="1"/>
          <p:nvPr/>
        </p:nvSpPr>
        <p:spPr>
          <a:xfrm>
            <a:off x="681050" y="2036725"/>
            <a:ext cx="7543500" cy="17124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DECLARE_HASHTABLE(my_hash_table,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i="1" lang="ru" sz="1100">
                <a:solidFill>
                  <a:srgbClr val="969896"/>
                </a:solidFill>
                <a:latin typeface="Courier New"/>
                <a:ea typeface="Courier New"/>
                <a:cs typeface="Courier New"/>
                <a:sym typeface="Courier New"/>
              </a:rPr>
              <a:t>// Просто объявление массива корзин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init_table(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hash_init(my_hash_table);  </a:t>
            </a:r>
            <a:r>
              <a:rPr i="1" lang="ru" sz="1100">
                <a:solidFill>
                  <a:srgbClr val="969896"/>
                </a:solidFill>
                <a:latin typeface="Courier New"/>
                <a:ea typeface="Courier New"/>
                <a:cs typeface="Courier New"/>
                <a:sym typeface="Courier New"/>
              </a:rPr>
              <a:t>// Инициализация корзин (установка first = NULL)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g36958beffd5_3_113"/>
          <p:cNvSpPr txBox="1"/>
          <p:nvPr/>
        </p:nvSpPr>
        <p:spPr>
          <a:xfrm>
            <a:off x="436950" y="982300"/>
            <a:ext cx="8270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хэш-таблица объявлена через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DECLARE_HASHTABLE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(то есть просто выделен массив корзин без инициализации), или выделена динамически (например, через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kmalloc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то нужно вызвать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hash_init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чтобы инициализировать каждую корзину.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Или если по каким-то причинам нужно переинициализировать уже существующую таблицу.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958beffd5_3_12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hash_add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36958beffd5_3_123"/>
          <p:cNvSpPr txBox="1"/>
          <p:nvPr/>
        </p:nvSpPr>
        <p:spPr>
          <a:xfrm>
            <a:off x="721500" y="982300"/>
            <a:ext cx="761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1" name="Google Shape;721;g36958beffd5_3_123"/>
          <p:cNvSpPr txBox="1"/>
          <p:nvPr/>
        </p:nvSpPr>
        <p:spPr>
          <a:xfrm>
            <a:off x="721500" y="1076200"/>
            <a:ext cx="7543500" cy="36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HASH_BITS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(name)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ilog2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1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HASH_SIZE</a:t>
            </a:r>
            <a:r>
              <a:rPr lang="ru" sz="11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(name))</a:t>
            </a:r>
            <a:endParaRPr sz="11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Use hash_32 when possible to allow for fast 32bit hashing in 64bit kernels. */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hash_min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(val,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1"/>
              </a:rPr>
              <a:t>bits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							\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(sizeof(val) &lt;= 4 ?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3"/>
              </a:rPr>
              <a:t>hash_32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(val,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5"/>
              </a:rPr>
              <a:t>bits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: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7"/>
              </a:rPr>
              <a:t>hash_long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(val,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9"/>
              </a:rPr>
              <a:t>bits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rgbClr val="5577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70809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hash_add - add an object to a hashtable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@hashtable: hashtable to add to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@node: the &amp;struct hlist_node of the object to be added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@key: the key of the object to be added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1"/>
              </a:rPr>
              <a:t>hash_add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2"/>
              </a:rPr>
              <a:t>hashtable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4"/>
              </a:rPr>
              <a:t>node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6"/>
              </a:rPr>
              <a:t>key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						\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7"/>
              </a:rPr>
              <a:t>hlist_add_head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8"/>
              </a:rPr>
              <a:t>node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9"/>
              </a:rPr>
              <a:t>hashtable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0"/>
              </a:rPr>
              <a:t>hash_min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1"/>
              </a:rPr>
              <a:t>key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3"/>
              </a:rPr>
              <a:t>HASH_BITS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4"/>
              </a:rPr>
              <a:t>hashtable</a:t>
            </a:r>
            <a:r>
              <a:rPr lang="ru" sz="1000">
                <a:solidFill>
                  <a:srgbClr val="5577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))])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6958beffd5_3_133"/>
          <p:cNvSpPr txBox="1"/>
          <p:nvPr/>
        </p:nvSpPr>
        <p:spPr>
          <a:xfrm>
            <a:off x="721500" y="2137525"/>
            <a:ext cx="7543500" cy="81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969896"/>
                </a:solidFill>
                <a:latin typeface="Roboto Mono"/>
                <a:ea typeface="Roboto Mono"/>
                <a:cs typeface="Roboto Mono"/>
                <a:sym typeface="Roboto Mono"/>
              </a:rPr>
              <a:t>// Пусть ARRAY_SIZE(my_hash_table) == 256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HASH_BITS(my_hash_table) == ilog2(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) == 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g36958beffd5_3_13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HASH_BITS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g36958beffd5_3_133"/>
          <p:cNvSpPr txBox="1"/>
          <p:nvPr/>
        </p:nvSpPr>
        <p:spPr>
          <a:xfrm>
            <a:off x="629100" y="920800"/>
            <a:ext cx="78039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Макрос </a:t>
            </a:r>
            <a:r>
              <a:rPr lang="ru" sz="9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HASH_BITS(name)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используется для вычисления количества бит, необходимых для индексирования корзин хэш-таблицы.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у вас хэш-таблица с 256 корзинами: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g36958beffd5_3_133"/>
          <p:cNvSpPr txBox="1"/>
          <p:nvPr/>
        </p:nvSpPr>
        <p:spPr>
          <a:xfrm>
            <a:off x="629100" y="3065950"/>
            <a:ext cx="76191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Потому что: </a:t>
            </a:r>
            <a:r>
              <a:rPr lang="ru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2^8=256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Значение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HASH_BITS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будет равно 8.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6958beffd5_3_172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HASH_32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g36958beffd5_3_172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g36958beffd5_3_172"/>
          <p:cNvSpPr txBox="1"/>
          <p:nvPr/>
        </p:nvSpPr>
        <p:spPr>
          <a:xfrm>
            <a:off x="629100" y="3065950"/>
            <a:ext cx="7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737" name="Google Shape;737;g36958beffd5_3_172"/>
          <p:cNvSpPr txBox="1"/>
          <p:nvPr/>
        </p:nvSpPr>
        <p:spPr>
          <a:xfrm>
            <a:off x="629100" y="1003600"/>
            <a:ext cx="80511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inline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u32 hash_32(u32 val,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unsigned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bits)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ru" sz="1200">
                <a:solidFill>
                  <a:srgbClr val="969896"/>
                </a:solidFill>
                <a:latin typeface="Roboto Mono"/>
                <a:ea typeface="Roboto Mono"/>
                <a:cs typeface="Roboto Mono"/>
                <a:sym typeface="Roboto Mono"/>
              </a:rPr>
              <a:t>/* High bits are more random, so use them. */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__hash_32(val) &gt;&gt; (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32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- bits);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g36958beffd5_3_172"/>
          <p:cNvSpPr txBox="1"/>
          <p:nvPr/>
        </p:nvSpPr>
        <p:spPr>
          <a:xfrm>
            <a:off x="591475" y="2265925"/>
            <a:ext cx="7185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Вызывает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__hash_32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для перемешивания бит ключа.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Затем берёт старшие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bits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бит результата, сдвигая вправо на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(32 - bits)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 позволяет получить индекс корзины в хэш-таблице размером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2^bits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958beffd5_3_183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_ _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HASH_32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g36958beffd5_3_183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36958beffd5_3_183"/>
          <p:cNvSpPr txBox="1"/>
          <p:nvPr/>
        </p:nvSpPr>
        <p:spPr>
          <a:xfrm>
            <a:off x="629100" y="3065950"/>
            <a:ext cx="7619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Принимает 32-битное число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Умножает его на константу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GOLDEN_RATIO_32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число, связанное с золотым сечением (примерно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0x61C88647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1640531527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десятичной системе).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 умножение "перемешивает" биты значения, чтобы хэш был более равномерно распределён.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Возвращает 32-битный результат.</a:t>
            </a:r>
            <a:endParaRPr/>
          </a:p>
        </p:txBody>
      </p:sp>
      <p:sp>
        <p:nvSpPr>
          <p:cNvPr id="746" name="Google Shape;746;g36958beffd5_3_183"/>
          <p:cNvSpPr txBox="1"/>
          <p:nvPr/>
        </p:nvSpPr>
        <p:spPr>
          <a:xfrm>
            <a:off x="896550" y="1612100"/>
            <a:ext cx="7701000" cy="123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inline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u32 __hash_32_generic(u32 val)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val * GOLDEN_RATIO_32;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g36958beffd5_3_183"/>
          <p:cNvSpPr txBox="1"/>
          <p:nvPr/>
        </p:nvSpPr>
        <p:spPr>
          <a:xfrm>
            <a:off x="896550" y="1007600"/>
            <a:ext cx="683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Функция </a:t>
            </a:r>
            <a: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__hash_32_generic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6958beffd5_3_191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g36958beffd5_3_191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g36958beffd5_3_191"/>
          <p:cNvSpPr txBox="1"/>
          <p:nvPr/>
        </p:nvSpPr>
        <p:spPr>
          <a:xfrm>
            <a:off x="629100" y="3065950"/>
            <a:ext cx="7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755" name="Google Shape;755;g36958beffd5_3_191"/>
          <p:cNvSpPr txBox="1"/>
          <p:nvPr/>
        </p:nvSpPr>
        <p:spPr>
          <a:xfrm>
            <a:off x="629100" y="1003600"/>
            <a:ext cx="8051100" cy="3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*В</a:t>
            </a:r>
            <a:r>
              <a:rPr b="1" lang="ru" sz="1700">
                <a:solidFill>
                  <a:schemeClr val="dk1"/>
                </a:solidFill>
              </a:rPr>
              <a:t>ычисления для </a:t>
            </a:r>
            <a: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val = 10</a:t>
            </a:r>
            <a:r>
              <a:rPr b="1" lang="ru" sz="1700">
                <a:solidFill>
                  <a:schemeClr val="dk1"/>
                </a:solidFill>
              </a:rPr>
              <a:t> и </a:t>
            </a:r>
            <a: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bits = 8</a:t>
            </a:r>
            <a:b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1)</a:t>
            </a:r>
            <a:r>
              <a:rPr b="1" lang="ru" sz="1700">
                <a:solidFill>
                  <a:schemeClr val="dk1"/>
                </a:solidFill>
              </a:rPr>
              <a:t>вычисляем </a:t>
            </a:r>
            <a:r>
              <a:rPr b="1" lang="ru" sz="15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__hash_32_generic</a:t>
            </a:r>
            <a:endParaRPr sz="12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GOLDEN_RATIO_32 = 1640531527</a:t>
            </a:r>
            <a:endParaRPr sz="1200">
              <a:solidFill>
                <a:srgbClr val="274E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__hash_32_generic(10) = 10 * 1640531527 = 16405315270</a:t>
            </a:r>
            <a:endParaRPr sz="1200">
              <a:solidFill>
                <a:srgbClr val="274E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Поскольку результат — 32-битное число, происходит переполнение, и остаются младшие 32 бита результата.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Вычислим остаток по модулю 2^32 (4294967296):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16405315270 % 4294967296 = ?</a:t>
            </a:r>
            <a:endParaRPr sz="1200">
              <a:solidFill>
                <a:srgbClr val="274E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16405315270 / 4294967296 ≈ 3.819</a:t>
            </a:r>
            <a:endParaRPr sz="1200">
              <a:solidFill>
                <a:srgbClr val="274E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Остаток = 16405315270 - 3 * 4294967296 = 16405315270 - 12884901888 = 3510413382</a:t>
            </a:r>
            <a:endParaRPr sz="1200">
              <a:solidFill>
                <a:srgbClr val="274E1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шестнадцатеричном виде: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0xD1E7E6B6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6958beffd5_3_200"/>
          <p:cNvSpPr txBox="1"/>
          <p:nvPr/>
        </p:nvSpPr>
        <p:spPr>
          <a:xfrm>
            <a:off x="721493" y="2182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g36958beffd5_3_200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g36958beffd5_3_200"/>
          <p:cNvSpPr txBox="1"/>
          <p:nvPr/>
        </p:nvSpPr>
        <p:spPr>
          <a:xfrm>
            <a:off x="629100" y="1003600"/>
            <a:ext cx="8051100" cy="21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chemeClr val="dk1"/>
                </a:solidFill>
              </a:rPr>
              <a:t>Шаг 2: сдвигаем вправо на (32 - bits) = 24 бита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3510413382 &gt;&gt; 24 = ?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0xD1E7E6B6 &gt;&gt; 24 = 0xD1 = 209 (десятичное)</a:t>
            </a:r>
            <a:endParaRPr b="1" sz="2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ключа </a:t>
            </a:r>
            <a:r>
              <a:rPr lang="ru" sz="15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таблицы с 256 корзинами (</a:t>
            </a:r>
            <a:r>
              <a:rPr lang="ru" sz="15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bits = 8</a:t>
            </a: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индекс корзины будет 209.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Значит элемент с ключом 10 попадёт в корзину с индексом 209.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6958beffd5_3_208"/>
          <p:cNvSpPr txBox="1"/>
          <p:nvPr/>
        </p:nvSpPr>
        <p:spPr>
          <a:xfrm>
            <a:off x="721493" y="632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Продолжим hash_add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g36958beffd5_3_208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g36958beffd5_3_208"/>
          <p:cNvSpPr txBox="1"/>
          <p:nvPr/>
        </p:nvSpPr>
        <p:spPr>
          <a:xfrm>
            <a:off x="629100" y="3065950"/>
            <a:ext cx="7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770" name="Google Shape;770;g36958beffd5_3_208"/>
          <p:cNvSpPr txBox="1"/>
          <p:nvPr/>
        </p:nvSpPr>
        <p:spPr>
          <a:xfrm>
            <a:off x="629100" y="694500"/>
            <a:ext cx="8051100" cy="237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8800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8800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333399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hlist_add_head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008800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hlist_node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1000">
                <a:solidFill>
                  <a:schemeClr val="dk1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8800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hlist_head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1000">
                <a:solidFill>
                  <a:schemeClr val="dk1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8EDC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hlist_node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1"/>
              </a:rPr>
              <a:t>first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2"/>
              </a:rPr>
              <a:t>first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3"/>
              </a:rPr>
              <a:t>WRITE_ONCE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5"/>
              </a:rPr>
              <a:t>first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6"/>
              </a:rPr>
              <a:t>first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7"/>
              </a:rPr>
              <a:t>WRITE_ONCE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8"/>
              </a:rPr>
              <a:t>first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9"/>
              </a:rPr>
              <a:t>pprev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0"/>
              </a:rPr>
              <a:t>WRITE_ONCE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1"/>
              </a:rPr>
              <a:t>first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2"/>
              </a:rPr>
              <a:t>WRITE_ONCE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3"/>
              </a:rPr>
              <a:t>pprev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24"/>
              </a:rPr>
              <a:t>first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771" name="Google Shape;771;g36958beffd5_3_208"/>
          <p:cNvSpPr txBox="1"/>
          <p:nvPr/>
        </p:nvSpPr>
        <p:spPr>
          <a:xfrm>
            <a:off x="721500" y="3173175"/>
            <a:ext cx="8523300" cy="16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Сигнатура функции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inline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hlist_add_head(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81A2BE"/>
                </a:solidFill>
                <a:latin typeface="Roboto Mono"/>
                <a:ea typeface="Roboto Mono"/>
                <a:cs typeface="Roboto Mono"/>
                <a:sym typeface="Roboto Mono"/>
              </a:rPr>
              <a:t>hlist_node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*n, </a:t>
            </a: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81A2BE"/>
                </a:solidFill>
                <a:latin typeface="Roboto Mono"/>
                <a:ea typeface="Roboto Mono"/>
                <a:cs typeface="Roboto Mono"/>
                <a:sym typeface="Roboto Mono"/>
              </a:rPr>
              <a:t>hlist_head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*h)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указатель на новый элемент (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struct hlist_node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который нужно добавить.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указатель на голову списка (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struct 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в который добавляем элемент.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6958beffd5_3_219"/>
          <p:cNvSpPr txBox="1"/>
          <p:nvPr/>
        </p:nvSpPr>
        <p:spPr>
          <a:xfrm>
            <a:off x="721493" y="632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hash_add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g36958beffd5_3_219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g36958beffd5_3_219"/>
          <p:cNvSpPr txBox="1"/>
          <p:nvPr/>
        </p:nvSpPr>
        <p:spPr>
          <a:xfrm>
            <a:off x="629100" y="3065950"/>
            <a:ext cx="7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779" name="Google Shape;779;g36958beffd5_3_219"/>
          <p:cNvSpPr txBox="1"/>
          <p:nvPr/>
        </p:nvSpPr>
        <p:spPr>
          <a:xfrm>
            <a:off x="629100" y="694500"/>
            <a:ext cx="805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780" name="Google Shape;780;g36958beffd5_3_219"/>
          <p:cNvSpPr txBox="1"/>
          <p:nvPr/>
        </p:nvSpPr>
        <p:spPr>
          <a:xfrm>
            <a:off x="339900" y="673500"/>
            <a:ext cx="84642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struct hlist_node *first = h-&gt;first;</a:t>
            </a:r>
            <a:endParaRPr sz="13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Сохраняем текущий первый элемент списка в переменную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first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список пустой,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first == NULL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WRITE_ONCE(n-&gt;next, first);</a:t>
            </a:r>
            <a:endParaRPr sz="13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Устанавливаем у нового элемента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указатель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на текущий первый элемент.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Теперь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будет указывать на того, кто был первым.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(first)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WRITE_ONCE(first-&gt;pprev, &amp;n-&gt;next);</a:t>
            </a:r>
            <a:endParaRPr sz="13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список не пустой (есть первый элемент), обновляем у него поле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pprev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pprev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это указатель на указатель, который указывает на поле, которое ссылается на этот элемент.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Здесь мы говорим: теперь предыдущий элемент для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first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это указатель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у нового элемента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 важно для корректного удаления элемента без обхода списка.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6958beffd5_3_232"/>
          <p:cNvSpPr txBox="1"/>
          <p:nvPr/>
        </p:nvSpPr>
        <p:spPr>
          <a:xfrm>
            <a:off x="721493" y="6329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hash_add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g36958beffd5_3_232"/>
          <p:cNvSpPr txBox="1"/>
          <p:nvPr/>
        </p:nvSpPr>
        <p:spPr>
          <a:xfrm>
            <a:off x="629100" y="920800"/>
            <a:ext cx="78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g36958beffd5_3_232"/>
          <p:cNvSpPr txBox="1"/>
          <p:nvPr/>
        </p:nvSpPr>
        <p:spPr>
          <a:xfrm>
            <a:off x="629100" y="3065950"/>
            <a:ext cx="7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788" name="Google Shape;788;g36958beffd5_3_232"/>
          <p:cNvSpPr txBox="1"/>
          <p:nvPr/>
        </p:nvSpPr>
        <p:spPr>
          <a:xfrm>
            <a:off x="629100" y="694500"/>
            <a:ext cx="805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789" name="Google Shape;789;g36958beffd5_3_232"/>
          <p:cNvSpPr txBox="1"/>
          <p:nvPr/>
        </p:nvSpPr>
        <p:spPr>
          <a:xfrm>
            <a:off x="339900" y="673500"/>
            <a:ext cx="8464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WRITE_ONCE(h-&gt;first, n);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Обновляем голову списка: теперь первым элементом становится </a:t>
            </a:r>
            <a:r>
              <a:rPr lang="ru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WRITE_ONCE(n-&gt;pprev, &amp;h-&gt;first);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Устанавливаем у нового элемента </a:t>
            </a:r>
            <a:r>
              <a:rPr lang="ru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pprev</a:t>
            </a: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указывающий на указатель </a:t>
            </a:r>
            <a:r>
              <a:rPr lang="ru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first</a:t>
            </a: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голове списка.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 значит, что чтобы изменить ссылку на </a:t>
            </a:r>
            <a:r>
              <a:rPr lang="ru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нужно изменить поле </a:t>
            </a:r>
            <a:r>
              <a:rPr lang="ru" sz="18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h-&gt;first</a:t>
            </a:r>
            <a:r>
              <a:rPr lang="r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B294B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6257de7b96_0_5"/>
          <p:cNvSpPr txBox="1"/>
          <p:nvPr/>
        </p:nvSpPr>
        <p:spPr>
          <a:xfrm>
            <a:off x="721493" y="63296"/>
            <a:ext cx="770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Др. важные функции(обход, удаление, поиск)</a:t>
            </a:r>
            <a:endParaRPr b="1" sz="2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g36257de7b96_0_5"/>
          <p:cNvSpPr txBox="1"/>
          <p:nvPr/>
        </p:nvSpPr>
        <p:spPr>
          <a:xfrm>
            <a:off x="629100" y="3065950"/>
            <a:ext cx="76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graphicFrame>
        <p:nvGraphicFramePr>
          <p:cNvPr id="796" name="Google Shape;796;g36257de7b96_0_5"/>
          <p:cNvGraphicFramePr/>
          <p:nvPr/>
        </p:nvGraphicFramePr>
        <p:xfrm>
          <a:off x="258875" y="58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{9F61B8FA-940C-4894-92BC-44CDEBE0A472}</a:tableStyleId>
              </a:tblPr>
              <a:tblGrid>
                <a:gridCol w="2067325"/>
                <a:gridCol w="1954325"/>
                <a:gridCol w="4326650"/>
              </a:tblGrid>
              <a:tr h="410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ru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Операция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ru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Макрос / Функция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ru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Добавление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150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hash_add</a:t>
                      </a:r>
                      <a:endParaRPr sz="1150">
                        <a:solidFill>
                          <a:srgbClr val="18803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Добавляет элемент в хэш-таблицу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Поиск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hash_for_each_possible</a:t>
                      </a:r>
                      <a:endParaRPr sz="1050">
                        <a:solidFill>
                          <a:srgbClr val="18803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Перебирает элементы в корзине по ключу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Обход всех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hash_for_each</a:t>
                      </a:r>
                      <a:endParaRPr sz="1050">
                        <a:solidFill>
                          <a:srgbClr val="18803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Перебирает все элементы во всех корзинах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Удаление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hash_del</a:t>
                      </a:r>
                      <a:endParaRPr sz="1050">
                        <a:solidFill>
                          <a:srgbClr val="18803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Удаляет элемент из таблицы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Безопасное удаление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hash_for_each_safe</a:t>
                      </a:r>
                      <a:endParaRPr sz="1050">
                        <a:solidFill>
                          <a:srgbClr val="18803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ru" sz="105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Безопасный обход с возможностью удаления</a:t>
                      </a:r>
                      <a:endParaRPr sz="10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5624135979_0_0"/>
          <p:cNvSpPr txBox="1"/>
          <p:nvPr>
            <p:ph type="title"/>
          </p:nvPr>
        </p:nvSpPr>
        <p:spPr>
          <a:xfrm>
            <a:off x="521925" y="1228075"/>
            <a:ext cx="70632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Пример модуля ядра с хэшированием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2" name="Google Shape;802;g35624135979_0_0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6958beffd5_3_24"/>
          <p:cNvSpPr txBox="1"/>
          <p:nvPr/>
        </p:nvSpPr>
        <p:spPr>
          <a:xfrm>
            <a:off x="721493" y="483946"/>
            <a:ext cx="7701000" cy="3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хэш таблиц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ы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Макрос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DEFINE_HASHTABLE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создаёт статически определённый массив корзин размером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2^NR_BITS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(в твоём случае — 8 корзин).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Каждая корзина инициализируется пустым списком (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hlist_head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Эта инициализация происходит автоматически при загрузке модуля, поэтому явный вызов функции инициализации не требуется.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g36958beffd5_3_24"/>
          <p:cNvSpPr txBox="1"/>
          <p:nvPr/>
        </p:nvSpPr>
        <p:spPr>
          <a:xfrm>
            <a:off x="721500" y="1519075"/>
            <a:ext cx="7378800" cy="52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NR_BITS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DEFINE_HASHTABLE(htable, NR_BITS);</a:t>
            </a:r>
            <a:endParaRPr sz="19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5624135979_0_10"/>
          <p:cNvSpPr txBox="1"/>
          <p:nvPr/>
        </p:nvSpPr>
        <p:spPr>
          <a:xfrm>
            <a:off x="721493" y="483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Вставка объектов в таблицу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g35624135979_0_10"/>
          <p:cNvSpPr txBox="1"/>
          <p:nvPr/>
        </p:nvSpPr>
        <p:spPr>
          <a:xfrm>
            <a:off x="721500" y="1246325"/>
            <a:ext cx="715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5" name="Google Shape;815;g35624135979_0_10"/>
          <p:cNvSpPr txBox="1"/>
          <p:nvPr/>
        </p:nvSpPr>
        <p:spPr>
          <a:xfrm>
            <a:off x="721500" y="1227150"/>
            <a:ext cx="3000000" cy="340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add_objects(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id;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*name;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} objs[] = 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{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"obj1"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{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"obj2"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{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"obj3"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{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"obj9"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};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(i = </a:t>
            </a:r>
            <a:r>
              <a:rPr lang="ru" sz="1100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ARRAY_SIZE(objs); i++)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add_object(objs[i].id, objs[i].name);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816" name="Google Shape;816;g35624135979_0_10"/>
          <p:cNvSpPr txBox="1"/>
          <p:nvPr/>
        </p:nvSpPr>
        <p:spPr>
          <a:xfrm>
            <a:off x="4626975" y="1227150"/>
            <a:ext cx="3000000" cy="3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Функция: </a:t>
            </a:r>
            <a: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add_object</a:t>
            </a:r>
            <a:r>
              <a:rPr b="1" lang="ru" sz="1700">
                <a:solidFill>
                  <a:schemeClr val="dk1"/>
                </a:solidFill>
              </a:rPr>
              <a:t> и </a:t>
            </a:r>
            <a: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add_objects</a:t>
            </a:r>
            <a:endParaRPr b="1" sz="15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add_object(int id, const char *name)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выделяет память под новый объект (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struct object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инициализирует поля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затем добавляет объект в хэш-таблицу с помощью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hash_add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add_objects()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содержит массив с параметрами объектов (id и имя) и в цикле вызывает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add_object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для каждого элемента.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6257de7b96_0_18"/>
          <p:cNvSpPr txBox="1"/>
          <p:nvPr/>
        </p:nvSpPr>
        <p:spPr>
          <a:xfrm>
            <a:off x="721493" y="483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Вставка объектов в таблицу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g36257de7b96_0_18"/>
          <p:cNvSpPr txBox="1"/>
          <p:nvPr/>
        </p:nvSpPr>
        <p:spPr>
          <a:xfrm>
            <a:off x="721500" y="1246325"/>
            <a:ext cx="715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3" name="Google Shape;823;g36257de7b96_0_18"/>
          <p:cNvSpPr txBox="1"/>
          <p:nvPr/>
        </p:nvSpPr>
        <p:spPr>
          <a:xfrm>
            <a:off x="721500" y="1227150"/>
            <a:ext cx="3000000" cy="350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add_object(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id, 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*name)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*obj;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obj = kmalloc(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(*obj), GFP_KERNEL);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(!obj)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obj-&gt;id = id;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snprintf(obj-&gt;name, </a:t>
            </a:r>
            <a:r>
              <a:rPr lang="ru" sz="12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(obj-&gt;name), </a:t>
            </a:r>
            <a:r>
              <a:rPr lang="ru" sz="12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"%s"</a:t>
            </a: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 name);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hash_add(htable, &amp;obj-&gt;node, obj-&gt;id);</a:t>
            </a:r>
            <a:endParaRPr sz="12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B294B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4" name="Google Shape;824;g36257de7b96_0_18"/>
          <p:cNvSpPr txBox="1"/>
          <p:nvPr/>
        </p:nvSpPr>
        <p:spPr>
          <a:xfrm>
            <a:off x="4634300" y="1149300"/>
            <a:ext cx="3000000" cy="3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Как это работает:</a:t>
            </a:r>
            <a:endParaRPr b="1" sz="18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Используется макрос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hash_add(htable, &amp;obj-&gt;node, obj-&gt;id)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который вычисляет корзину по хэшированию ключа </a:t>
            </a:r>
            <a:r>
              <a:rPr lang="ru" sz="11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obj-&gt;id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вставляет новый элемент в начало списка этой корзины.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Таким образом, объекты распределяются по корзинам хэш-таблицы для быстрого доступа.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5624135979_0_18"/>
          <p:cNvSpPr txBox="1"/>
          <p:nvPr/>
        </p:nvSpPr>
        <p:spPr>
          <a:xfrm>
            <a:off x="721493" y="483946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Поиск записи в таблице.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g35624135979_0_18"/>
          <p:cNvSpPr txBox="1"/>
          <p:nvPr/>
        </p:nvSpPr>
        <p:spPr>
          <a:xfrm>
            <a:off x="721500" y="1292350"/>
            <a:ext cx="6615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1" name="Google Shape;831;g35624135979_0_18"/>
          <p:cNvSpPr txBox="1"/>
          <p:nvPr/>
        </p:nvSpPr>
        <p:spPr>
          <a:xfrm>
            <a:off x="5136150" y="1292350"/>
            <a:ext cx="3527400" cy="3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Функция: </a:t>
            </a:r>
            <a:r>
              <a:rPr b="1" lang="ru" sz="15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print_object_by_key(int key)</a:t>
            </a:r>
            <a:endParaRPr b="1" sz="15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Использует макрос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hash_for_each_possible(htable, obj, node, key)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который перебирает все элементы в корзине, соответствующей хэшу ключа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каждого элемента сравнивается поле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obj-&gt;id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с искомым ключом.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найден совпадающий объект, выводится его имя через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pr_info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объект с ключом не найден, выводится соответствующее сообщение.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g35624135979_0_18"/>
          <p:cNvSpPr txBox="1"/>
          <p:nvPr/>
        </p:nvSpPr>
        <p:spPr>
          <a:xfrm>
            <a:off x="577725" y="1382650"/>
            <a:ext cx="4226400" cy="323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print_object_by_key(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key)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*obj;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hash_for_each_possible(htable, obj, node, key) 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(obj-&gt;id == key) {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	pr_info(</a:t>
            </a:r>
            <a:r>
              <a:rPr lang="ru" sz="11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"Found object with key=%d: name=%s\n"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	       key, obj-&gt;name);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lang="ru" sz="11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}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pr_info(</a:t>
            </a:r>
            <a:r>
              <a:rPr lang="ru" sz="1100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"Object with key=%d not found\n"</a:t>
            </a: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, key);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76200" marR="76200" rtl="0" algn="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6257de7b96_0_38"/>
          <p:cNvSpPr txBox="1"/>
          <p:nvPr/>
        </p:nvSpPr>
        <p:spPr>
          <a:xfrm>
            <a:off x="721493" y="483946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Поиск записи в таблице.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g36257de7b96_0_38"/>
          <p:cNvSpPr txBox="1"/>
          <p:nvPr/>
        </p:nvSpPr>
        <p:spPr>
          <a:xfrm>
            <a:off x="721500" y="1292350"/>
            <a:ext cx="6615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39" name="Google Shape;839;g36257de7b96_0_38"/>
          <p:cNvSpPr txBox="1"/>
          <p:nvPr/>
        </p:nvSpPr>
        <p:spPr>
          <a:xfrm>
            <a:off x="721500" y="1292350"/>
            <a:ext cx="6281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Как это работает</a:t>
            </a:r>
            <a:endParaRPr b="1" sz="17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Благодаря хэшированию поиск ограничивается только одной корзиной, что значительно ускоряет операцию по сравнению с перебором всей таблицы.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корзине может быть несколько элементов из-за коллизий, поэтому перебор обязателен.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6257de7b96_0_0"/>
          <p:cNvSpPr txBox="1"/>
          <p:nvPr/>
        </p:nvSpPr>
        <p:spPr>
          <a:xfrm>
            <a:off x="721493" y="483946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Освобождение памяти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g36257de7b96_0_0"/>
          <p:cNvSpPr txBox="1"/>
          <p:nvPr/>
        </p:nvSpPr>
        <p:spPr>
          <a:xfrm>
            <a:off x="721500" y="1292350"/>
            <a:ext cx="6615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46" name="Google Shape;846;g36257de7b96_0_0"/>
          <p:cNvSpPr txBox="1"/>
          <p:nvPr/>
        </p:nvSpPr>
        <p:spPr>
          <a:xfrm>
            <a:off x="681050" y="1378800"/>
            <a:ext cx="3894300" cy="318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5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free_all_objects(</a:t>
            </a:r>
            <a:r>
              <a:rPr lang="ru" sz="15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5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bkt;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5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5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*obj;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500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500">
                <a:solidFill>
                  <a:srgbClr val="81A2BE"/>
                </a:solidFill>
                <a:latin typeface="Courier New"/>
                <a:ea typeface="Courier New"/>
                <a:cs typeface="Courier New"/>
                <a:sym typeface="Courier New"/>
              </a:rPr>
              <a:t>hlist_node</a:t>
            </a: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*tmp;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hash_for_each_safe(htable, bkt, tmp, obj, node) {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hash_del(&amp;obj-&gt;node);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	kfree(obj);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500"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/>
          </a:p>
        </p:txBody>
      </p:sp>
      <p:sp>
        <p:nvSpPr>
          <p:cNvPr id="847" name="Google Shape;847;g36257de7b96_0_0"/>
          <p:cNvSpPr txBox="1"/>
          <p:nvPr/>
        </p:nvSpPr>
        <p:spPr>
          <a:xfrm>
            <a:off x="4730675" y="1361700"/>
            <a:ext cx="413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900">
                <a:solidFill>
                  <a:schemeClr val="dk1"/>
                </a:solidFill>
              </a:rPr>
              <a:t>Функция: </a:t>
            </a:r>
            <a:r>
              <a:rPr b="1" lang="ru" sz="17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free_all_objects()</a:t>
            </a:r>
            <a:endParaRPr b="1" sz="17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Использует макрос </a:t>
            </a:r>
            <a:r>
              <a:rPr lang="ru" sz="12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hash_for_each_safe(htable, bkt, tmp, obj, node)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который безопасно перебирает все элементы во всех корзинах.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каждого элемента: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Удаляет его из хэш-таблицы с помощью </a:t>
            </a:r>
            <a:r>
              <a:rPr lang="ru" sz="12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hash_del(&amp;obj-&gt;node)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Освобождает память, выделенную под объект, вызовом </a:t>
            </a:r>
            <a:r>
              <a:rPr lang="ru" sz="12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kfree(obj)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5624135979_0_26"/>
          <p:cNvSpPr txBox="1"/>
          <p:nvPr>
            <p:ph type="title"/>
          </p:nvPr>
        </p:nvSpPr>
        <p:spPr>
          <a:xfrm>
            <a:off x="521925" y="8470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Применение хэширования в ядре Linux.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3" name="Google Shape;853;g35624135979_0_26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6257de7b96_0_54"/>
          <p:cNvSpPr txBox="1"/>
          <p:nvPr/>
        </p:nvSpPr>
        <p:spPr>
          <a:xfrm>
            <a:off x="721493" y="483946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infiniband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g36257de7b96_0_54"/>
          <p:cNvSpPr txBox="1"/>
          <p:nvPr/>
        </p:nvSpPr>
        <p:spPr>
          <a:xfrm>
            <a:off x="721500" y="1292350"/>
            <a:ext cx="6615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60" name="Google Shape;860;g36257de7b96_0_54"/>
          <p:cNvSpPr txBox="1"/>
          <p:nvPr/>
        </p:nvSpPr>
        <p:spPr>
          <a:xfrm>
            <a:off x="721500" y="1292350"/>
            <a:ext cx="68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драйвере InfiniBand хэш-таблица, объявленная как: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g36257de7b96_0_54"/>
          <p:cNvSpPr txBox="1"/>
          <p:nvPr/>
        </p:nvSpPr>
        <p:spPr>
          <a:xfrm>
            <a:off x="721500" y="2966550"/>
            <a:ext cx="83832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Зачем нужна эта хэш-таблица?</a:t>
            </a:r>
            <a:endParaRPr b="1" sz="17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Быстрый поиск по net_device: В InfiniBand драйвере часто требуется быстро найти связанный с сетевым интерфейсом объект InfiniBand (например, для управления портом или устройством). Хэш-таблица позволяет за O(1) время получить нужный объект, используя указатель на net_device как ключ.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g36257de7b96_0_54"/>
          <p:cNvSpPr txBox="1"/>
          <p:nvPr/>
        </p:nvSpPr>
        <p:spPr>
          <a:xfrm>
            <a:off x="721500" y="2280900"/>
            <a:ext cx="6899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используется для эффективного сопоставления сетевых интерфейсов (net_device) с внутренними структурами данных InfiniBand, например, с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ib_port_data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ib_device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863" name="Google Shape;863;g36257de7b96_0_54"/>
          <p:cNvSpPr txBox="1"/>
          <p:nvPr/>
        </p:nvSpPr>
        <p:spPr>
          <a:xfrm>
            <a:off x="721500" y="1786625"/>
            <a:ext cx="66159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B294BB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 DECLARE_HASHTABLE(ndev_hash, </a:t>
            </a:r>
            <a:r>
              <a:rPr lang="ru" sz="1200">
                <a:solidFill>
                  <a:srgbClr val="DE935F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1200">
                <a:solidFill>
                  <a:srgbClr val="C5C8C6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solidFill>
                <a:srgbClr val="C5C8C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6257de7b96_0_86"/>
          <p:cNvSpPr txBox="1"/>
          <p:nvPr/>
        </p:nvSpPr>
        <p:spPr>
          <a:xfrm>
            <a:off x="721493" y="1546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posix-timer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g36257de7b96_0_86"/>
          <p:cNvSpPr txBox="1"/>
          <p:nvPr/>
        </p:nvSpPr>
        <p:spPr>
          <a:xfrm>
            <a:off x="721500" y="1292350"/>
            <a:ext cx="6615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70" name="Google Shape;870;g36257de7b96_0_86"/>
          <p:cNvSpPr txBox="1"/>
          <p:nvPr/>
        </p:nvSpPr>
        <p:spPr>
          <a:xfrm>
            <a:off x="721500" y="822850"/>
            <a:ext cx="6899700" cy="141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Lets keep our timers in a slab cache :-)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70809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88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kmem_cache</a:t>
            </a:r>
            <a:r>
              <a:rPr lang="ru" sz="1000">
                <a:solidFill>
                  <a:srgbClr val="BBBBB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ru" sz="10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posix_timers_cache</a:t>
            </a:r>
            <a:r>
              <a:rPr lang="ru" sz="1000">
                <a:solidFill>
                  <a:srgbClr val="66666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08800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u" sz="1000">
                <a:solidFill>
                  <a:schemeClr val="hlink"/>
                </a:solidFill>
                <a:highlight>
                  <a:srgbClr val="F8EDC3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DEFINE_HASHTABLE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chemeClr val="dk1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posix_timers_hashtable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000">
                <a:solidFill>
                  <a:srgbClr val="BBBBBB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0000DD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ru" sz="1000">
                <a:solidFill>
                  <a:srgbClr val="666666"/>
                </a:solidFill>
                <a:highlight>
                  <a:srgbClr val="F8EDC3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g36257de7b96_0_86"/>
          <p:cNvSpPr txBox="1"/>
          <p:nvPr/>
        </p:nvSpPr>
        <p:spPr>
          <a:xfrm>
            <a:off x="721500" y="2966550"/>
            <a:ext cx="838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g36257de7b96_0_86"/>
          <p:cNvSpPr txBox="1"/>
          <p:nvPr/>
        </p:nvSpPr>
        <p:spPr>
          <a:xfrm>
            <a:off x="721500" y="2275850"/>
            <a:ext cx="76617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Объявляется хэш-таблица с 512 корзинами (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2^9 = 512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ней хранятся объекты таймеров, распределённые по корзинам для быстрого поиска.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Ключом для хэширования обычно служит уникальный идентификатор таймера (например, дескриптор или ID).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создании нового POSIX таймера выделяется объект из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posix_timers_cache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Таймер добавляется в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posix_timers_hashtable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с помощью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hash_add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чтобы его можно было быстро найти при срабатывании.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удалении таймера он удаляется из хэш-таблицы и возвращается в slab-кэш.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7"/>
          <p:cNvSpPr txBox="1"/>
          <p:nvPr>
            <p:ph type="title"/>
          </p:nvPr>
        </p:nvSpPr>
        <p:spPr>
          <a:xfrm>
            <a:off x="511975" y="1532325"/>
            <a:ext cx="7379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600">
                <a:solidFill>
                  <a:schemeClr val="lt1"/>
                </a:solidFill>
              </a:rPr>
              <a:t>Вопросы</a:t>
            </a:r>
            <a:endParaRPr sz="41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77"/>
          <p:cNvSpPr txBox="1"/>
          <p:nvPr/>
        </p:nvSpPr>
        <p:spPr>
          <a:xfrm>
            <a:off x="1130896" y="2790499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77"/>
          <p:cNvSpPr txBox="1"/>
          <p:nvPr/>
        </p:nvSpPr>
        <p:spPr>
          <a:xfrm>
            <a:off x="4851196" y="2790499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0" name="Google Shape;880;p77"/>
          <p:cNvPicPr preferRelativeResize="0"/>
          <p:nvPr/>
        </p:nvPicPr>
        <p:blipFill rotWithShape="1">
          <a:blip r:embed="rId3">
            <a:alphaModFix/>
          </a:blip>
          <a:srcRect b="33888" l="0" r="0" t="0"/>
          <a:stretch/>
        </p:blipFill>
        <p:spPr>
          <a:xfrm>
            <a:off x="626275" y="2831444"/>
            <a:ext cx="504637" cy="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7"/>
          <p:cNvPicPr preferRelativeResize="0"/>
          <p:nvPr/>
        </p:nvPicPr>
        <p:blipFill rotWithShape="1">
          <a:blip r:embed="rId3">
            <a:alphaModFix/>
          </a:blip>
          <a:srcRect b="15479" l="0" r="0" t="60251"/>
          <a:stretch/>
        </p:blipFill>
        <p:spPr>
          <a:xfrm>
            <a:off x="4346575" y="2937025"/>
            <a:ext cx="504625" cy="12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7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90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Заполните, пожалуйста,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опрос о занятии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8" name="Google Shape;888;p90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90"/>
          <p:cNvSpPr txBox="1"/>
          <p:nvPr/>
        </p:nvSpPr>
        <p:spPr>
          <a:xfrm>
            <a:off x="556300" y="3802175"/>
            <a:ext cx="538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 читаем все ваши сообщения </a:t>
            </a:r>
            <a:endParaRPr b="0" i="0" sz="23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берем их в работу 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90" name="Google Shape;890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529" y="4321879"/>
            <a:ext cx="240425" cy="24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91" title="ролик_об_отусе_bl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